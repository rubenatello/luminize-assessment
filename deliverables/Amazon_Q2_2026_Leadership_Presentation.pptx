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9ccc597e0a6436b" /><Relationship Type="http://schemas.openxmlformats.org/officeDocument/2006/relationships/extended-properties" Target="/docProps/app.xml" Id="R8bdef90bd0a34a5e" /><Relationship Type="http://schemas.openxmlformats.org/officeDocument/2006/relationships/officeDocument" Target="/ppt/presentation.xml" Id="Rd0fcf849b15747ab" /></Relationships>
</file>

<file path=ppt/presentation.xml><?xml version="1.0" encoding="utf-8"?>
<p:presentation xmlns:p="http://schemas.openxmlformats.org/presentationml/2006/main">
  <p:sldMasterIdLst>
    <p:sldMasterId xmlns:r="http://schemas.openxmlformats.org/officeDocument/2006/relationships" id="2147483648" r:id="R8faa2b5bedc841eb"/>
  </p:sldMasterIdLst>
  <p:notesMasterIdLst>
    <p:notesMasterId xmlns:r="http://schemas.openxmlformats.org/officeDocument/2006/relationships" r:id="R9359f8f47fe54a91"/>
  </p:notesMasterIdLst>
  <p:sldIdLst>
    <p:sldId xmlns:r="http://schemas.openxmlformats.org/officeDocument/2006/relationships" id="256" r:id="R5310ee9f68b441f6"/>
    <p:sldId xmlns:r="http://schemas.openxmlformats.org/officeDocument/2006/relationships" id="257" r:id="R37ec93f6e4354ec7"/>
    <p:sldId xmlns:r="http://schemas.openxmlformats.org/officeDocument/2006/relationships" id="258" r:id="R3ecf7deb491340cd"/>
    <p:sldId xmlns:r="http://schemas.openxmlformats.org/officeDocument/2006/relationships" id="259" r:id="R981dcab6be0d4f4d"/>
    <p:sldId xmlns:r="http://schemas.openxmlformats.org/officeDocument/2006/relationships" id="260" r:id="Rf6f34c5e08074e0a"/>
    <p:sldId xmlns:r="http://schemas.openxmlformats.org/officeDocument/2006/relationships" id="261" r:id="R8b7679ec3abd41be"/>
    <p:sldId xmlns:r="http://schemas.openxmlformats.org/officeDocument/2006/relationships" id="262" r:id="R930ff45194c74ba8"/>
    <p:sldId xmlns:r="http://schemas.openxmlformats.org/officeDocument/2006/relationships" id="263" r:id="R696d6dd909bb4a41"/>
    <p:sldId xmlns:r="http://schemas.openxmlformats.org/officeDocument/2006/relationships" id="264" r:id="Rf11a42f8dd6b48da"/>
    <p:sldId xmlns:r="http://schemas.openxmlformats.org/officeDocument/2006/relationships" id="265" r:id="Raf2095dd40ad4c7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43c587b7691437b" /><Relationship Type="http://schemas.openxmlformats.org/officeDocument/2006/relationships/slideMaster" Target="/ppt/slideMasters/slideMaster1.xml" Id="R8faa2b5bedc841eb" /><Relationship Type="http://schemas.openxmlformats.org/officeDocument/2006/relationships/notesMaster" Target="/ppt/notesMasters/notesMaster1.xml" Id="R9359f8f47fe54a91" /><Relationship Type="http://schemas.openxmlformats.org/officeDocument/2006/relationships/presProps" Target="/ppt/presProps.xml" Id="R4dcbb5979d4148db" /><Relationship Type="http://schemas.openxmlformats.org/officeDocument/2006/relationships/tableStyles" Target="/ppt/tableStyles.xml" Id="R78c14b0d6f904a22" /><Relationship Type="http://schemas.openxmlformats.org/officeDocument/2006/relationships/slide" Target="/ppt/slides/slide1.xml" Id="R5310ee9f68b441f6" /><Relationship Type="http://schemas.openxmlformats.org/officeDocument/2006/relationships/slide" Target="/ppt/slides/slide2.xml" Id="R37ec93f6e4354ec7" /><Relationship Type="http://schemas.openxmlformats.org/officeDocument/2006/relationships/slide" Target="/ppt/slides/slide3.xml" Id="R3ecf7deb491340cd" /><Relationship Type="http://schemas.openxmlformats.org/officeDocument/2006/relationships/slide" Target="/ppt/slides/slide4.xml" Id="R981dcab6be0d4f4d" /><Relationship Type="http://schemas.openxmlformats.org/officeDocument/2006/relationships/slide" Target="/ppt/slides/slide5.xml" Id="Rf6f34c5e08074e0a" /><Relationship Type="http://schemas.openxmlformats.org/officeDocument/2006/relationships/slide" Target="/ppt/slides/slide6.xml" Id="R8b7679ec3abd41be" /><Relationship Type="http://schemas.openxmlformats.org/officeDocument/2006/relationships/slide" Target="/ppt/slides/slide7.xml" Id="R930ff45194c74ba8" /><Relationship Type="http://schemas.openxmlformats.org/officeDocument/2006/relationships/slide" Target="/ppt/slides/slide8.xml" Id="R696d6dd909bb4a41" /><Relationship Type="http://schemas.openxmlformats.org/officeDocument/2006/relationships/slide" Target="/ppt/slides/slide9.xml" Id="Rf11a42f8dd6b48da" /><Relationship Type="http://schemas.openxmlformats.org/officeDocument/2006/relationships/slide" Target="/ppt/slides/slide10.xml" Id="Raf2095dd40ad4c7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f335797415e4e6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f7a69a0f204073" /><Relationship Type="http://schemas.openxmlformats.org/officeDocument/2006/relationships/notesMaster" Target="/ppt/notesMasters/notesMaster1.xml" Id="Ra8c9e502c00840cc" /></Relationships>
</file>

<file path=ppt/notesSlides/_rels/notesSlide2.xml.rels>&#65279;<?xml version="1.0" encoding="utf-8"?><Relationships xmlns="http://schemas.openxmlformats.org/package/2006/relationships"><Relationship Type="http://schemas.openxmlformats.org/officeDocument/2006/relationships/slide" Target="/ppt/slides/slide2.xml" Id="R8db0ae5031c74610" /><Relationship Type="http://schemas.openxmlformats.org/officeDocument/2006/relationships/notesMaster" Target="/ppt/notesMasters/notesMaster1.xml" Id="R34615542620d4fdf" /></Relationships>
</file>

<file path=ppt/notesSlides/_rels/notesSlide3.xml.rels>&#65279;<?xml version="1.0" encoding="utf-8"?><Relationships xmlns="http://schemas.openxmlformats.org/package/2006/relationships"><Relationship Type="http://schemas.openxmlformats.org/officeDocument/2006/relationships/slide" Target="/ppt/slides/slide3.xml" Id="Rcbd46f63824f4cba" /><Relationship Type="http://schemas.openxmlformats.org/officeDocument/2006/relationships/notesMaster" Target="/ppt/notesMasters/notesMaster1.xml" Id="R7eda5793699e440b" /></Relationships>
</file>

<file path=ppt/notesSlides/_rels/notesSlide4.xml.rels>&#65279;<?xml version="1.0" encoding="utf-8"?><Relationships xmlns="http://schemas.openxmlformats.org/package/2006/relationships"><Relationship Type="http://schemas.openxmlformats.org/officeDocument/2006/relationships/slide" Target="/ppt/slides/slide4.xml" Id="R58a8756782e24fbe" /><Relationship Type="http://schemas.openxmlformats.org/officeDocument/2006/relationships/notesMaster" Target="/ppt/notesMasters/notesMaster1.xml" Id="R738935ea797b4526" /></Relationships>
</file>

<file path=ppt/notesSlides/_rels/notesSlide5.xml.rels>&#65279;<?xml version="1.0" encoding="utf-8"?><Relationships xmlns="http://schemas.openxmlformats.org/package/2006/relationships"><Relationship Type="http://schemas.openxmlformats.org/officeDocument/2006/relationships/slide" Target="/ppt/slides/slide5.xml" Id="R1aef7b6eeb3a4551" /><Relationship Type="http://schemas.openxmlformats.org/officeDocument/2006/relationships/notesMaster" Target="/ppt/notesMasters/notesMaster1.xml" Id="R52870b6924614eae" /></Relationships>
</file>

<file path=ppt/notesSlides/_rels/notesSlide6.xml.rels>&#65279;<?xml version="1.0" encoding="utf-8"?><Relationships xmlns="http://schemas.openxmlformats.org/package/2006/relationships"><Relationship Type="http://schemas.openxmlformats.org/officeDocument/2006/relationships/slide" Target="/ppt/slides/slide6.xml" Id="R865762b529ba41b3" /><Relationship Type="http://schemas.openxmlformats.org/officeDocument/2006/relationships/notesMaster" Target="/ppt/notesMasters/notesMaster1.xml" Id="R5b6b8b24c09542f2" /></Relationships>
</file>

<file path=ppt/notesSlides/_rels/notesSlide7.xml.rels>&#65279;<?xml version="1.0" encoding="utf-8"?><Relationships xmlns="http://schemas.openxmlformats.org/package/2006/relationships"><Relationship Type="http://schemas.openxmlformats.org/officeDocument/2006/relationships/slide" Target="/ppt/slides/slide7.xml" Id="R9aa681dd0e6a4204" /><Relationship Type="http://schemas.openxmlformats.org/officeDocument/2006/relationships/notesMaster" Target="/ppt/notesMasters/notesMaster1.xml" Id="Rac08c029811a4acd" /></Relationships>
</file>

<file path=ppt/notesSlides/_rels/notesSlide8.xml.rels>&#65279;<?xml version="1.0" encoding="utf-8"?><Relationships xmlns="http://schemas.openxmlformats.org/package/2006/relationships"><Relationship Type="http://schemas.openxmlformats.org/officeDocument/2006/relationships/slide" Target="/ppt/slides/slide8.xml" Id="Rb00b41692d2e425e" /><Relationship Type="http://schemas.openxmlformats.org/officeDocument/2006/relationships/notesMaster" Target="/ppt/notesMasters/notesMaster1.xml" Id="Rf73f1b86086b4d73" /></Relationships>
</file>

<file path=ppt/notesSlides/_rels/notesSlide9.xml.rels>&#65279;<?xml version="1.0" encoding="utf-8"?><Relationships xmlns="http://schemas.openxmlformats.org/package/2006/relationships"><Relationship Type="http://schemas.openxmlformats.org/officeDocument/2006/relationships/slide" Target="/ppt/slides/slide9.xml" Id="R5e20110f90404014" /><Relationship Type="http://schemas.openxmlformats.org/officeDocument/2006/relationships/notesMaster" Target="/ppt/notesMasters/notesMaster1.xml" Id="Rd57ea645c5eb4c3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32bcd1d0e9245a2" /><Relationship Type="http://schemas.openxmlformats.org/officeDocument/2006/relationships/notesMaster" Target="/ppt/notesMasters/notesMaster1.xml" Id="Rf85433b1d4a9455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 the decision frame: the sales engine is contribution-positive, but the current spend and inventory layer destroys value. Preview that the analysis separates attributable economics from unallocated platform overhead.</a:t>
            </a:r>
          </a:p>
          <a:p xmlns:a="http://schemas.openxmlformats.org/drawingml/2006/main">
            <a:r>
              <a:t/>
            </a:r>
          </a:p>
          <a:p xmlns:a="http://schemas.openxmlformats.org/drawingml/2006/main">
            <a:r>
              <a:t>[Sources]</a:t>
            </a:r>
          </a:p>
          <a:p xmlns:a="http://schemas.openxmlformats.org/drawingml/2006/main">
            <a:r>
              <a:t>- Supplied Amazon settlements, purchase orders, inventory snapshot, and SKU mapping CSV files.</a:t>
            </a:r>
          </a:p>
          <a:p xmlns:a="http://schemas.openxmlformats.org/drawingml/2006/main">
            <a:r>
              <a:t>- Candidate calculations in profitability_analysis.py and the verified analysis workbook.</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Spend about two minutes here. Define CM1, explain why unallocated charges are kept below it, and state that the final negative result is a management signal—not a forced SKU allocation.</a:t>
            </a:r>
          </a:p>
          <a:p xmlns:a="http://schemas.openxmlformats.org/drawingml/2006/main">
            <a:r>
              <a:t/>
            </a:r>
          </a:p>
          <a:p xmlns:a="http://schemas.openxmlformats.org/drawingml/2006/main">
            <a:r>
              <a:t>[Sources]</a:t>
            </a:r>
          </a:p>
          <a:p xmlns:a="http://schemas.openxmlformats.org/drawingml/2006/main">
            <a:r>
              <a:t>- Copy of amazon_settlements_apr-jun_2026.csv.</a:t>
            </a:r>
          </a:p>
          <a:p xmlns:a="http://schemas.openxmlformats.org/drawingml/2006/main">
            <a:r>
              <a:t>- Copy of purchase_orders_landed_cost.csv.</a:t>
            </a:r>
          </a:p>
          <a:p xmlns:a="http://schemas.openxmlformats.org/drawingml/2006/main">
            <a:r>
              <a:t>- Processed profit_bridge.csv and brand_profitability.csv.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the identifier bridge is the key scaling decision. SKU is authoritative in this sample, but aliases, ASINs, UPCs, marketplaces, and effective dates must resolve through one governed bridge. Prefix parsing is only a fallback.</a:t>
            </a:r>
          </a:p>
          <a:p xmlns:a="http://schemas.openxmlformats.org/drawingml/2006/main">
            <a:r>
              <a:t/>
            </a:r>
          </a:p>
          <a:p xmlns:a="http://schemas.openxmlformats.org/drawingml/2006/main">
            <a:r>
              <a:t>[Sources]</a:t>
            </a:r>
          </a:p>
          <a:p xmlns:a="http://schemas.openxmlformats.org/drawingml/2006/main">
            <a:r>
              <a:t>- Assessment prompt listing QuickBooks, REACH, Google Sheets, and Amazon data.</a:t>
            </a:r>
          </a:p>
          <a:p xmlns:a="http://schemas.openxmlformats.org/drawingml/2006/main">
            <a:r>
              <a:t>- Candidate-proposed architecture documented in data_model.md and the assessment brief.</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Call out the difference between a one-time cleanup and an operating control. The UOM issue changes economics materially; the ASIN collision shows why ASIN should not be assumed unique without marketplace and effective dates.</a:t>
            </a:r>
          </a:p>
          <a:p xmlns:a="http://schemas.openxmlformats.org/drawingml/2006/main">
            <a:r>
              <a:t/>
            </a:r>
          </a:p>
          <a:p xmlns:a="http://schemas.openxmlformats.org/drawingml/2006/main">
            <a:r>
              <a:t>[Sources]</a:t>
            </a:r>
          </a:p>
          <a:p xmlns:a="http://schemas.openxmlformats.org/drawingml/2006/main">
            <a:r>
              <a:t>- All four supplied CSV files.</a:t>
            </a:r>
          </a:p>
          <a:p xmlns:a="http://schemas.openxmlformats.org/drawingml/2006/main">
            <a:r>
              <a:t>- Processed data_quality_register.csv and po_unit_costs.csv.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chart to shift from total-company economics to management ownership. GlowTheory has the best rate; Peak Fuel has the largest dollars; PawHaus needs product-level intervention, not a blanket brand conclusion.</a:t>
            </a:r>
          </a:p>
          <a:p xmlns:a="http://schemas.openxmlformats.org/drawingml/2006/main">
            <a:r>
              <a:t/>
            </a:r>
          </a:p>
          <a:p xmlns:a="http://schemas.openxmlformats.org/drawingml/2006/main">
            <a:r>
              <a:t>[Sources]</a:t>
            </a:r>
          </a:p>
          <a:p xmlns:a="http://schemas.openxmlformats.org/drawingml/2006/main">
            <a:r>
              <a:t>- Processed brand_profitability.csv generated from supplied Amazon settlements and PO landed-cost data.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Recommend an action split: protect availability and efficient acquisition on the top contributors; separately validate the two missing-cost SKUs before pricing or assortment decisions. Mention that PH-BED-MED-GRY has known cost and only 6.1% CM1.</a:t>
            </a:r>
          </a:p>
          <a:p xmlns:a="http://schemas.openxmlformats.org/drawingml/2006/main">
            <a:r>
              <a:t/>
            </a:r>
          </a:p>
          <a:p xmlns:a="http://schemas.openxmlformats.org/drawingml/2006/main">
            <a:r>
              <a:t>[Sources]</a:t>
            </a:r>
          </a:p>
          <a:p xmlns:a="http://schemas.openxmlformats.org/drawingml/2006/main">
            <a:r>
              <a:t>- Processed sku_profitability.csv generated from the supplied settlement, PO, and mapping files.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precise: this is not a causal SKU-level ad profitability result because the supplied ad rows have no SKU. It is a company-level warning that the profit pool is almost entirely consumed by advertising. The first automation priority is obtaining the detail needed to manage it.</a:t>
            </a:r>
          </a:p>
          <a:p xmlns:a="http://schemas.openxmlformats.org/drawingml/2006/main">
            <a:r>
              <a:t/>
            </a:r>
          </a:p>
          <a:p xmlns:a="http://schemas.openxmlformats.org/drawingml/2006/main">
            <a:r>
              <a:t>[Sources]</a:t>
            </a:r>
          </a:p>
          <a:p xmlns:a="http://schemas.openxmlformats.org/drawingml/2006/main">
            <a:r>
              <a:t>- Copy of amazon_settlements_apr-jun_2026.csv, including Advertising Cost, FBA Storage Fee, Subscription Fee, and Adjustment rows.</a:t>
            </a:r>
          </a:p>
          <a:p xmlns:a="http://schemas.openxmlformats.org/drawingml/2006/main">
            <a:r>
              <a:t>- Processed profit_bridge.csv.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Frame this as a cash-allocation problem, not just an inventory dashboard. The two lowest-cover SKUs are major CM contributors. The longest-cover SKUs should trigger commercial and purchasing actions, but not automatic conclusions because demand seasonality and lead times were not provided.</a:t>
            </a:r>
          </a:p>
          <a:p xmlns:a="http://schemas.openxmlformats.org/drawingml/2006/main">
            <a:r>
              <a:t/>
            </a:r>
          </a:p>
          <a:p xmlns:a="http://schemas.openxmlformats.org/drawingml/2006/main">
            <a:r>
              <a:t>[Sources]</a:t>
            </a:r>
          </a:p>
          <a:p xmlns:a="http://schemas.openxmlformats.org/drawingml/2006/main">
            <a:r>
              <a:t>- Copy of inventory_snapshot_2026-06-30.csv.</a:t>
            </a:r>
          </a:p>
          <a:p xmlns:a="http://schemas.openxmlformats.org/drawingml/2006/main">
            <a:r>
              <a:t>- Copy of amazon_settlements_apr-jun_2026.csv for Q2 unit demand.</a:t>
            </a:r>
          </a:p>
          <a:p xmlns:a="http://schemas.openxmlformats.org/drawingml/2006/main">
            <a:r>
              <a:t>- Processed inventory_health.csv.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 this as an order of operations. Days 1–30 eliminate manual extraction and uncontrolled mappings. Days 31–60 produce the trusted P&amp;L and close reconciliation. Days 61–90 add the missing lifecycle and attribution detail that enables forward-looking actions.</a:t>
            </a:r>
          </a:p>
          <a:p xmlns:a="http://schemas.openxmlformats.org/drawingml/2006/main">
            <a:r>
              <a:t/>
            </a:r>
          </a:p>
          <a:p xmlns:a="http://schemas.openxmlformats.org/drawingml/2006/main">
            <a:r>
              <a:t>[Sources]</a:t>
            </a:r>
          </a:p>
          <a:p xmlns:a="http://schemas.openxmlformats.org/drawingml/2006/main">
            <a:r>
              <a:t>- Assessment prompt describing QuickBooks, REACH, and Google Sheets.</a:t>
            </a:r>
          </a:p>
          <a:p xmlns:a="http://schemas.openxmlformats.org/drawingml/2006/main">
            <a:r>
              <a:t>- Candidate automation proposal documented in automation_90_day_plan.md and the assessment brief.</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asking leadership which decision they want to go deeper on. Keep the discussion anchored to governance, economics, and operating cadence. If asked about Databricks, explain that the included notebook demonstrates portability but BigQuery is the lower-friction finance production recommendation.</a:t>
            </a:r>
          </a:p>
          <a:p xmlns:a="http://schemas.openxmlformats.org/drawingml/2006/main">
            <a:r>
              <a:t/>
            </a:r>
          </a:p>
          <a:p xmlns:a="http://schemas.openxmlformats.org/drawingml/2006/main">
            <a:r>
              <a:t>[Sources]</a:t>
            </a:r>
          </a:p>
          <a:p xmlns:a="http://schemas.openxmlformats.org/drawingml/2006/main">
            <a:r>
              <a:t>- Synthesis of all supplied CSV analysis and the candidate data model/automation proposal.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dbd58df03ff47b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9ac9b257d4445f2" /><Relationship Type="http://schemas.openxmlformats.org/officeDocument/2006/relationships/slideLayout" Target="/ppt/slideLayouts/slideLayout1.xml" Id="R7a25697a817a4ea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a25697a817a4ea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5f8f56863ae46c8" /><Relationship Type="http://schemas.openxmlformats.org/officeDocument/2006/relationships/notesSlide" Target="/ppt/notesSlides/notesSlide1.xml" Id="R3e26424c899e403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0a60a20e1d84882" /><Relationship Type="http://schemas.openxmlformats.org/officeDocument/2006/relationships/notesSlide" Target="/ppt/notesSlides/notesSlide2.xml" Id="Re9d24956ea7241f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d146c43383c4797" /><Relationship Type="http://schemas.openxmlformats.org/officeDocument/2006/relationships/notesSlide" Target="/ppt/notesSlides/notesSlide3.xml" Id="Rc4b868bc8b1645e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ff8272a421e4758" /><Relationship Type="http://schemas.openxmlformats.org/officeDocument/2006/relationships/notesSlide" Target="/ppt/notesSlides/notesSlide4.xml" Id="R94dee9990a6e406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c63c6d46f414c4f" /><Relationship Type="http://schemas.openxmlformats.org/officeDocument/2006/relationships/chart" Target="/ppt/slides/charts/chart1.xml" Id="R92493e6e6b554344" /><Relationship Type="http://schemas.openxmlformats.org/officeDocument/2006/relationships/notesSlide" Target="/ppt/notesSlides/notesSlide5.xml" Id="R978c937bf8d1402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92c088f15d64f5d" /><Relationship Type="http://schemas.openxmlformats.org/officeDocument/2006/relationships/chart" Target="/ppt/slides/charts/chart2.xml" Id="Rd18e186638a14b07" /><Relationship Type="http://schemas.openxmlformats.org/officeDocument/2006/relationships/notesSlide" Target="/ppt/notesSlides/notesSlide6.xml" Id="R8258c2735ba94cf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c4f004b3791427c" /><Relationship Type="http://schemas.openxmlformats.org/officeDocument/2006/relationships/chart" Target="/ppt/slides/charts/chart3.xml" Id="R17511e0de92a4a6d" /><Relationship Type="http://schemas.openxmlformats.org/officeDocument/2006/relationships/notesSlide" Target="/ppt/notesSlides/notesSlide7.xml" Id="R12d07c94f90c48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1fdc85cbf0643c0" /><Relationship Type="http://schemas.openxmlformats.org/officeDocument/2006/relationships/notesSlide" Target="/ppt/notesSlides/notesSlide8.xml" Id="Rae69385281f74c5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d5414856d10416d" /><Relationship Type="http://schemas.openxmlformats.org/officeDocument/2006/relationships/notesSlide" Target="/ppt/notesSlides/notesSlide9.xml" Id="Rfb7ecff446b1403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147f94e3f9e4167" /><Relationship Type="http://schemas.openxmlformats.org/officeDocument/2006/relationships/notesSlide" Target="/ppt/notesSlides/notesSlide10.xml" Id="R333d8b7ba5f540a9" /></Relationships>
</file>

<file path=ppt/slides/charts/chart1.xml><?xml version="1.0" encoding="utf-8"?>
<c:chartSpace xmlns:c="http://schemas.openxmlformats.org/drawingml/2006/chart">
  <c:lang val="en-US"/>
  <c:chart>
    <c:plotArea>
      <c:barChart>
        <c:barDir val="bar"/>
        <c:grouping val="clustered"/>
        <c:varyColors val="0"/>
        <c:ser>
          <c:idx val="0"/>
          <c:order val="0"/>
          <c:tx>
            <c:v>Contribution margin</c:v>
          </c:tx>
          <c:spPr>
            <a:solidFill xmlns:a="http://schemas.openxmlformats.org/drawingml/2006/main">
              <a:srgbClr val="3D8DFF"/>
            </a:solidFill>
          </c:spPr>
          <c:cat>
            <c:strLit>
              <c:ptCount val="3"/>
              <c:pt idx="0">
                <c:v>Peak Fuel</c:v>
              </c:pt>
              <c:pt idx="1">
                <c:v>GlowTheory</c:v>
              </c:pt>
              <c:pt idx="2">
                <c:v>PawHaus</c:v>
              </c:pt>
            </c:strLit>
          </c:cat>
          <c:val>
            <c:numLit>
              <c:formatCode>General</c:formatCode>
              <c:ptCount val="3"/>
              <c:pt idx="0">
                <c:v>22027</c:v>
              </c:pt>
              <c:pt idx="1">
                <c:v>20548</c:v>
              </c:pt>
              <c:pt idx="2">
                <c:v>8667</c:v>
              </c:pt>
            </c:numLit>
          </c:val>
        </c:ser>
        <c:dLbls>
          <c:txPr>
            <a:bodyPr xmlns:a="http://schemas.openxmlformats.org/drawingml/2006/main" anchorCtr="1"/>
            <a:lstStyle xmlns:a="http://schemas.openxmlformats.org/drawingml/2006/main"/>
            <a:p xmlns:a="http://schemas.openxmlformats.org/drawingml/2006/main">
              <a:pPr>
                <a:defRPr sz="1125" b="1">
                  <a:solidFill>
                    <a:srgbClr val="000000"/>
                  </a:solidFill>
                </a:defRPr>
              </a:pPr>
            </a:p>
          </c:txPr>
          <c:dLblPos val="outEnd"/>
          <c:showLegendKey val="0"/>
          <c:showVal val="1"/>
          <c:showCatName val="0"/>
          <c:showSerName val="0"/>
          <c:showPercent val="0"/>
          <c:showBubbleSize val="0"/>
          <c:showLeaderLines val="0"/>
        </c:dLbls>
        <c:gapWidth val="52"/>
        <c:axId val="48650112"/>
        <c:axId val="48672768"/>
      </c:barChart>
      <c:catAx>
        <c:axId val="48650112"/>
        <c:scaling>
          <c:orientation val="minMax"/>
        </c:scaling>
        <c:delete val="0"/>
        <c:axPos val="l"/>
        <c:majorGridlines>
          <c:spPr>
            <a:ln xmlns:a="http://schemas.openxmlformats.org/drawingml/2006/main" w="9525">
              <a:solidFill>
                <a:srgbClr val="EDEDED"/>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556070"/>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200" b="1">
                <a:solidFill>
                  <a:srgbClr val="000000"/>
                </a:solidFil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2.xml><?xml version="1.0" encoding="utf-8"?>
<c:chartSpace xmlns:c="http://schemas.openxmlformats.org/drawingml/2006/chart">
  <c:lang val="en-US"/>
  <c:chart>
    <c:plotArea>
      <c:barChart>
        <c:barDir val="bar"/>
        <c:grouping val="clustered"/>
        <c:varyColors val="0"/>
        <c:ser>
          <c:idx val="0"/>
          <c:order val="0"/>
          <c:tx>
            <c:v>CM1</c:v>
          </c:tx>
          <c:spPr>
            <a:solidFill xmlns:a="http://schemas.openxmlformats.org/drawingml/2006/main">
              <a:srgbClr val="3D8DFF"/>
            </a:solidFill>
          </c:spPr>
          <c:cat>
            <c:strLit>
              <c:ptCount val="6"/>
              <c:pt idx="0">
                <c:v>GT-SERUM-VITC</c:v>
              </c:pt>
              <c:pt idx="1">
                <c:v>PF-WHEY-CHOC</c:v>
              </c:pt>
              <c:pt idx="2">
                <c:v>GT-SERUM-HA</c:v>
              </c:pt>
              <c:pt idx="3">
                <c:v>PF-CREATINE-300</c:v>
              </c:pt>
              <c:pt idx="4">
                <c:v>PF-WHEY-VAN</c:v>
              </c:pt>
              <c:pt idx="5">
                <c:v>PF-PREWKT-BERRY</c:v>
              </c:pt>
            </c:strLit>
          </c:cat>
          <c:val>
            <c:numLit>
              <c:formatCode>General</c:formatCode>
              <c:ptCount val="6"/>
              <c:pt idx="0">
                <c:v>7521</c:v>
              </c:pt>
              <c:pt idx="1">
                <c:v>6604</c:v>
              </c:pt>
              <c:pt idx="2">
                <c:v>4853</c:v>
              </c:pt>
              <c:pt idx="3">
                <c:v>4517</c:v>
              </c:pt>
              <c:pt idx="4">
                <c:v>4172</c:v>
              </c:pt>
              <c:pt idx="5">
                <c:v>2723</c:v>
              </c:pt>
            </c:numLit>
          </c:val>
        </c:ser>
        <c:dLbls>
          <c:txPr>
            <a:bodyPr xmlns:a="http://schemas.openxmlformats.org/drawingml/2006/main" anchorCtr="1"/>
            <a:lstStyle xmlns:a="http://schemas.openxmlformats.org/drawingml/2006/main"/>
            <a:p xmlns:a="http://schemas.openxmlformats.org/drawingml/2006/main">
              <a:pPr>
                <a:defRPr sz="1050" b="1">
                  <a:solidFill>
                    <a:srgbClr val="000000"/>
                  </a:solidFill>
                </a:defRPr>
              </a:pPr>
            </a:p>
          </c:txPr>
          <c:dLblPos val="outEnd"/>
          <c:showLegendKey val="0"/>
          <c:showVal val="1"/>
          <c:showCatName val="0"/>
          <c:showSerName val="0"/>
          <c:showPercent val="0"/>
          <c:showBubbleSize val="0"/>
          <c:showLeaderLines val="0"/>
        </c:dLbls>
        <c:gapWidth val="38"/>
        <c:axId val="48650112"/>
        <c:axId val="48672768"/>
      </c:barChart>
      <c:catAx>
        <c:axId val="48650112"/>
        <c:scaling>
          <c:orientation val="minMax"/>
        </c:scaling>
        <c:delete val="0"/>
        <c:axPos val="l"/>
        <c:majorGridlines>
          <c:spPr>
            <a:ln xmlns:a="http://schemas.openxmlformats.org/drawingml/2006/main" w="9525">
              <a:solidFill>
                <a:srgbClr val="EDEDED"/>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556070"/>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050" b="1">
                <a:solidFill>
                  <a:srgbClr val="000000"/>
                </a:solidFill>
              </a:defRPr>
            </a:pPr>
          </a:p>
        </c:txPr>
        <c:crossAx val="48650112"/>
        <c:crossBetween val="between"/>
      </c:valAx>
      <c:spPr>
        <a:noFill xmlns:a="http://schemas.openxmlformats.org/drawingml/2006/mai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3.xml><?xml version="1.0" encoding="utf-8"?>
<c:chartSpace xmlns:c="http://schemas.openxmlformats.org/drawingml/2006/chart">
  <c:lang val="en-US"/>
  <c:chart>
    <c:plotArea>
      <c:barChart>
        <c:barDir val="col"/>
        <c:grouping val="clustered"/>
        <c:varyColors val="1"/>
        <c:ser>
          <c:idx val="0"/>
          <c:order val="0"/>
          <c:tx>
            <c:v>Signed amount</c:v>
          </c:tx>
          <c:spPr>
            <a:solidFill xmlns:a="http://schemas.openxmlformats.org/drawingml/2006/main">
              <a:srgbClr val="3D8DFF"/>
            </a:solidFill>
          </c:spPr>
          <c:invertIfNegative val="0"/>
          <c:dPt>
            <c:idx val="0"/>
            <c:invertIfNegative val="0"/>
            <c:spPr>
              <a:solidFill xmlns:a="http://schemas.openxmlformats.org/drawingml/2006/main">
                <a:srgbClr val="0B7A53"/>
              </a:solidFill>
            </c:spPr>
          </c:dPt>
          <c:dPt>
            <c:idx val="1"/>
            <c:invertIfNegative val="0"/>
            <c:spPr>
              <a:solidFill xmlns:a="http://schemas.openxmlformats.org/drawingml/2006/main">
                <a:srgbClr val="B42318"/>
              </a:solidFill>
            </c:spPr>
          </c:dPt>
          <c:dPt>
            <c:idx val="2"/>
            <c:invertIfNegative val="0"/>
            <c:spPr>
              <a:solidFill xmlns:a="http://schemas.openxmlformats.org/drawingml/2006/main">
                <a:srgbClr val="B42318"/>
              </a:solidFill>
            </c:spPr>
          </c:dPt>
          <c:dPt>
            <c:idx val="3"/>
            <c:invertIfNegative val="0"/>
            <c:spPr>
              <a:solidFill xmlns:a="http://schemas.openxmlformats.org/drawingml/2006/main">
                <a:srgbClr val="B42318"/>
              </a:solidFill>
            </c:spPr>
          </c:dPt>
          <c:dPt>
            <c:idx val="4"/>
            <c:invertIfNegative val="0"/>
            <c:spPr>
              <a:solidFill xmlns:a="http://schemas.openxmlformats.org/drawingml/2006/main">
                <a:srgbClr val="3D8DFF"/>
              </a:solidFill>
            </c:spPr>
          </c:dPt>
          <c:dPt>
            <c:idx val="5"/>
            <c:invertIfNegative val="0"/>
            <c:spPr>
              <a:solidFill xmlns:a="http://schemas.openxmlformats.org/drawingml/2006/main">
                <a:srgbClr val="B42318"/>
              </a:solidFill>
            </c:spPr>
          </c:dPt>
          <c:cat>
            <c:strLit>
              <c:ptCount val="6"/>
              <c:pt idx="0">
                <c:v>CM1</c:v>
              </c:pt>
              <c:pt idx="1">
                <c:v>Advertising</c:v>
              </c:pt>
              <c:pt idx="2">
                <c:v>Storage</c:v>
              </c:pt>
              <c:pt idx="3">
                <c:v>Subscription</c:v>
              </c:pt>
              <c:pt idx="4">
                <c:v>Adjustments</c:v>
              </c:pt>
              <c:pt idx="5">
                <c:v>Final</c:v>
              </c:pt>
            </c:strLit>
          </c:cat>
          <c:val>
            <c:numLit>
              <c:formatCode>$#,##0;($#,##0)</c:formatCode>
              <c:ptCount val="6"/>
              <c:pt idx="0">
                <c:v>51243</c:v>
              </c:pt>
              <c:pt idx="1">
                <c:v>-50576</c:v>
              </c:pt>
              <c:pt idx="2">
                <c:v>-6119</c:v>
              </c:pt>
              <c:pt idx="3">
                <c:v>-120</c:v>
              </c:pt>
              <c:pt idx="4">
                <c:v>89</c:v>
              </c:pt>
              <c:pt idx="5">
                <c:v>-5483</c:v>
              </c:pt>
            </c:numLit>
          </c:val>
        </c:ser>
        <c:dLbls>
          <c:txPr>
            <a:bodyPr xmlns:a="http://schemas.openxmlformats.org/drawingml/2006/main" anchorCtr="1"/>
            <a:lstStyle xmlns:a="http://schemas.openxmlformats.org/drawingml/2006/main"/>
            <a:p xmlns:a="http://schemas.openxmlformats.org/drawingml/2006/main">
              <a:pPr>
                <a:defRPr sz="975" b="1">
                  <a:solidFill>
                    <a:srgbClr val="000000"/>
                  </a:solidFill>
                </a:defRPr>
              </a:pPr>
            </a:p>
          </c:txPr>
          <c:dLblPos val="outEnd"/>
          <c:showLegendKey val="0"/>
          <c:showVal val="1"/>
          <c:showCatName val="0"/>
          <c:showSerName val="0"/>
          <c:showPercent val="0"/>
          <c:showBubbleSize val="0"/>
          <c:showLeaderLines val="0"/>
        </c:dLbls>
        <c:gapWidth val="62"/>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975">
                <a:solidFill>
                  <a:srgbClr val="000000"/>
                </a:solidFill>
              </a:defRPr>
            </a:pPr>
          </a:p>
        </c:txPr>
        <c:crossAx val="48672768"/>
      </c:catAx>
      <c:valAx>
        <c:axId val="48672768"/>
        <c:scaling>
          <c:orientation val="minMax"/>
        </c:scaling>
        <c:delete val="0"/>
        <c:axPos val="l"/>
        <c:majorGridlines>
          <c:spPr>
            <a:ln xmlns:a="http://schemas.openxmlformats.org/drawingml/2006/main" w="9525">
              <a:solidFill>
                <a:srgbClr val="EDEDED"/>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556070"/>
                </a:solidFill>
              </a:defRPr>
            </a:pPr>
          </a:p>
        </c:txPr>
        <c:crossAx val="48650112"/>
        <c:crossBetween val="between"/>
      </c:valAx>
      <c:spPr>
        <a:noFill xmlns:a="http://schemas.openxmlformats.org/drawingml/2006/mai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ver-eyebrow">
            <a:extLst xmlns:a="http://schemas.openxmlformats.org/drawingml/2006/main">
              <a:ext uri="{FF2B5EF4-FFF2-40B4-BE49-F238E27FC236}">
                <a16:creationId xmlns:a16="http://schemas.microsoft.com/office/drawing/2014/main" id="{FFF83020-DAAA-4C4E-8FAB-19630FD7D70D}"/>
              </a:ext>
            </a:extLst>
          </p:cNvPr>
          <p:cNvSpPr>
            <a:spLocks xmlns:a="http://schemas.openxmlformats.org/drawingml/2006/main" noGrp="1"/>
          </p:cNvSpPr>
          <p:nvPr/>
        </p:nvSpPr>
        <p:spPr>
          <a:xfrm xmlns:a="http://schemas.openxmlformats.org/drawingml/2006/main">
            <a:off x="533400" y="45720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556070"/>
                </a:solidFill>
                <a:latin typeface="Arial"/>
                <a:ea typeface="Arial"/>
                <a:cs typeface="Arial"/>
              </a:defRPr>
            </a:pPr>
            <a:r>
              <a:rPr sz="1125" b="1">
                <a:solidFill>
                  <a:srgbClr val="556070"/>
                </a:solidFill>
                <a:latin typeface="Arial"/>
                <a:ea typeface="Arial"/>
                <a:cs typeface="Arial"/>
              </a:rPr>
              <a:t>FINANCE ANALYTICS ASSESSMENT</a:t>
            </a:r>
          </a:p>
        </p:txBody>
      </p:sp>
      <p:sp>
        <p:nvSpPr>
          <p:cNvPr id="2" name="cover-title">
            <a:extLst xmlns:a="http://schemas.openxmlformats.org/drawingml/2006/main">
              <a:ext uri="{FF2B5EF4-FFF2-40B4-BE49-F238E27FC236}">
                <a16:creationId xmlns:a16="http://schemas.microsoft.com/office/drawing/2014/main" id="{E1A5DD93-C09A-446C-9342-58A089255BCE}"/>
              </a:ext>
            </a:extLst>
          </p:cNvPr>
          <p:cNvSpPr>
            <a:spLocks xmlns:a="http://schemas.openxmlformats.org/drawingml/2006/main" noGrp="1"/>
          </p:cNvSpPr>
          <p:nvPr/>
        </p:nvSpPr>
        <p:spPr>
          <a:xfrm xmlns:a="http://schemas.openxmlformats.org/drawingml/2006/main">
            <a:off x="533400" y="1524000"/>
            <a:ext cx="657225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200" b="1">
                <a:solidFill>
                  <a:srgbClr val="000000"/>
                </a:solidFill>
                <a:latin typeface="Arial"/>
                <a:ea typeface="Arial"/>
                <a:cs typeface="Arial"/>
              </a:defRPr>
            </a:pPr>
            <a:r>
              <a:rPr sz="4200" b="1">
                <a:solidFill>
                  <a:srgbClr val="000000"/>
                </a:solidFill>
                <a:latin typeface="Arial"/>
                <a:ea typeface="Arial"/>
                <a:cs typeface="Arial"/>
              </a:rPr>
              <a:t>Q2 Amazon economics reveal a profitable core—and an unprofitable spend layer</a:t>
            </a:r>
          </a:p>
        </p:txBody>
      </p:sp>
      <p:sp>
        <p:nvSpPr>
          <p:cNvPr id="3" name="cover-subtitle">
            <a:extLst xmlns:a="http://schemas.openxmlformats.org/drawingml/2006/main">
              <a:ext uri="{FF2B5EF4-FFF2-40B4-BE49-F238E27FC236}">
                <a16:creationId xmlns:a16="http://schemas.microsoft.com/office/drawing/2014/main" id="{DBE80C59-459E-4A93-B23A-2CB6FEFC1A44}"/>
              </a:ext>
            </a:extLst>
          </p:cNvPr>
          <p:cNvSpPr>
            <a:spLocks xmlns:a="http://schemas.openxmlformats.org/drawingml/2006/main" noGrp="1"/>
          </p:cNvSpPr>
          <p:nvPr/>
        </p:nvSpPr>
        <p:spPr>
          <a:xfrm xmlns:a="http://schemas.openxmlformats.org/drawingml/2006/main">
            <a:off x="533400" y="4495800"/>
            <a:ext cx="619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556070"/>
                </a:solidFill>
                <a:latin typeface="Arial"/>
                <a:ea typeface="Arial"/>
                <a:cs typeface="Arial"/>
              </a:defRPr>
            </a:pPr>
            <a:r>
              <a:rPr sz="1800" b="0">
                <a:solidFill>
                  <a:srgbClr val="556070"/>
                </a:solidFill>
                <a:latin typeface="Arial"/>
                <a:ea typeface="Arial"/>
                <a:cs typeface="Arial"/>
              </a:rPr>
              <a:t>Contribution margin, inventory signals, scalable data model, and a first-90-day automation plan</a:t>
            </a:r>
          </a:p>
        </p:txBody>
      </p:sp>
      <p:sp>
        <p:nvSpPr>
          <p:cNvPr id="4" name="cover-field">
            <a:extLst xmlns:a="http://schemas.openxmlformats.org/drawingml/2006/main">
              <a:ext uri="{FF2B5EF4-FFF2-40B4-BE49-F238E27FC236}">
                <a16:creationId xmlns:a16="http://schemas.microsoft.com/office/drawing/2014/main" id="{7D1376EA-936A-48F6-8100-A1A8F782D4EF}"/>
              </a:ext>
            </a:extLst>
          </p:cNvPr>
          <p:cNvSpPr>
            <a:spLocks xmlns:a="http://schemas.openxmlformats.org/drawingml/2006/main" noGrp="1"/>
          </p:cNvSpPr>
          <p:nvPr/>
        </p:nvSpPr>
        <p:spPr>
          <a:xfrm xmlns:a="http://schemas.openxmlformats.org/drawingml/2006/main">
            <a:off x="7810500" y="457200"/>
            <a:ext cx="3848100" cy="5619750"/>
          </a:xfrm>
          <a:prstGeom xmlns:a="http://schemas.openxmlformats.org/drawingml/2006/main" prst="rect">
            <a:avLst/>
          </a:prstGeom>
          <a:solidFill xmlns:a="http://schemas.openxmlformats.org/drawingml/2006/main">
            <a:srgbClr val="D0EDFA"/>
          </a:solidFill>
          <a:ln xmlns:a="http://schemas.openxmlformats.org/drawingml/2006/main" w="9525">
            <a:solidFill>
              <a:srgbClr val="B8BCC4"/>
            </a:solidFill>
            <a:prstDash val="solid"/>
          </a:ln>
        </p:spPr>
      </p:sp>
      <p:sp>
        <p:nvSpPr>
          <p:cNvPr id="5" name="cover-field-value">
            <a:extLst xmlns:a="http://schemas.openxmlformats.org/drawingml/2006/main">
              <a:ext uri="{FF2B5EF4-FFF2-40B4-BE49-F238E27FC236}">
                <a16:creationId xmlns:a16="http://schemas.microsoft.com/office/drawing/2014/main" id="{7071971F-E19B-4E2D-BC0B-FBA39B0D4B21}"/>
              </a:ext>
            </a:extLst>
          </p:cNvPr>
          <p:cNvSpPr>
            <a:spLocks xmlns:a="http://schemas.openxmlformats.org/drawingml/2006/main" noGrp="1"/>
          </p:cNvSpPr>
          <p:nvPr/>
        </p:nvSpPr>
        <p:spPr>
          <a:xfrm xmlns:a="http://schemas.openxmlformats.org/drawingml/2006/main">
            <a:off x="8248650" y="1885950"/>
            <a:ext cx="2952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4500" b="1">
                <a:solidFill>
                  <a:srgbClr val="0B2545"/>
                </a:solidFill>
                <a:latin typeface="Arial"/>
                <a:ea typeface="Arial"/>
                <a:cs typeface="Arial"/>
              </a:defRPr>
            </a:pPr>
            <a:r>
              <a:rPr sz="4500" b="1">
                <a:solidFill>
                  <a:srgbClr val="0B2545"/>
                </a:solidFill>
                <a:latin typeface="Arial"/>
                <a:ea typeface="Arial"/>
                <a:cs typeface="Arial"/>
              </a:rPr>
              <a:t>$51.2K</a:t>
            </a:r>
          </a:p>
        </p:txBody>
      </p:sp>
      <p:sp>
        <p:nvSpPr>
          <p:cNvPr id="6" name="cover-field-label">
            <a:extLst xmlns:a="http://schemas.openxmlformats.org/drawingml/2006/main">
              <a:ext uri="{FF2B5EF4-FFF2-40B4-BE49-F238E27FC236}">
                <a16:creationId xmlns:a16="http://schemas.microsoft.com/office/drawing/2014/main" id="{BDF4D17A-8445-4330-9E1A-A102C1E234F9}"/>
              </a:ext>
            </a:extLst>
          </p:cNvPr>
          <p:cNvSpPr>
            <a:spLocks xmlns:a="http://schemas.openxmlformats.org/drawingml/2006/main" noGrp="1"/>
          </p:cNvSpPr>
          <p:nvPr/>
        </p:nvSpPr>
        <p:spPr>
          <a:xfrm xmlns:a="http://schemas.openxmlformats.org/drawingml/2006/main">
            <a:off x="8248650" y="2857500"/>
            <a:ext cx="2952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00000"/>
                </a:solidFill>
                <a:latin typeface="Arial"/>
                <a:ea typeface="Arial"/>
                <a:cs typeface="Arial"/>
              </a:defRPr>
            </a:pPr>
            <a:r>
              <a:rPr sz="1800" b="1">
                <a:solidFill>
                  <a:srgbClr val="000000"/>
                </a:solidFill>
                <a:latin typeface="Arial"/>
                <a:ea typeface="Arial"/>
                <a:cs typeface="Arial"/>
              </a:rPr>
              <a:t>SKU-attributable CM1</a:t>
            </a:r>
          </a:p>
        </p:txBody>
      </p:sp>
      <p:sp>
        <p:nvSpPr>
          <p:cNvPr id="7" name="cover-field-note">
            <a:extLst xmlns:a="http://schemas.openxmlformats.org/drawingml/2006/main">
              <a:ext uri="{FF2B5EF4-FFF2-40B4-BE49-F238E27FC236}">
                <a16:creationId xmlns:a16="http://schemas.microsoft.com/office/drawing/2014/main" id="{C3EE9F1E-C59A-4B58-9256-E55651A89988}"/>
              </a:ext>
            </a:extLst>
          </p:cNvPr>
          <p:cNvSpPr>
            <a:spLocks xmlns:a="http://schemas.openxmlformats.org/drawingml/2006/main" noGrp="1"/>
          </p:cNvSpPr>
          <p:nvPr/>
        </p:nvSpPr>
        <p:spPr>
          <a:xfrm xmlns:a="http://schemas.openxmlformats.org/drawingml/2006/main">
            <a:off x="8248650" y="36004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556070"/>
                </a:solidFill>
                <a:latin typeface="Arial"/>
                <a:ea typeface="Arial"/>
                <a:cs typeface="Arial"/>
              </a:defRPr>
            </a:pPr>
            <a:r>
              <a:rPr sz="1350" b="0">
                <a:solidFill>
                  <a:srgbClr val="556070"/>
                </a:solidFill>
                <a:latin typeface="Arial"/>
                <a:ea typeface="Arial"/>
                <a:cs typeface="Arial"/>
              </a:rPr>
              <a:t>Quarter ended June 30, 2026</a:t>
            </a:r>
          </a:p>
        </p:txBody>
      </p:sp>
      <p:sp>
        <p:nvSpPr>
          <p:cNvPr id="8" name="cover-footer">
            <a:extLst xmlns:a="http://schemas.openxmlformats.org/drawingml/2006/main">
              <a:ext uri="{FF2B5EF4-FFF2-40B4-BE49-F238E27FC236}">
                <a16:creationId xmlns:a16="http://schemas.microsoft.com/office/drawing/2014/main" id="{B7CDED27-2768-44B3-959A-5551DC502963}"/>
              </a:ext>
            </a:extLst>
          </p:cNvPr>
          <p:cNvSpPr>
            <a:spLocks xmlns:a="http://schemas.openxmlformats.org/drawingml/2006/main" noGrp="1"/>
          </p:cNvSpPr>
          <p:nvPr/>
        </p:nvSpPr>
        <p:spPr>
          <a:xfrm xmlns:a="http://schemas.openxmlformats.org/drawingml/2006/main">
            <a:off x="533400" y="6343650"/>
            <a:ext cx="3810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0">
                <a:solidFill>
                  <a:srgbClr val="556070"/>
                </a:solidFill>
                <a:latin typeface="Arial"/>
                <a:ea typeface="Arial"/>
                <a:cs typeface="Arial"/>
              </a:defRPr>
            </a:pPr>
            <a:r>
              <a:rPr sz="1050" b="0">
                <a:solidFill>
                  <a:srgbClr val="556070"/>
                </a:solidFill>
                <a:latin typeface="Arial"/>
                <a:ea typeface="Arial"/>
                <a:cs typeface="Arial"/>
              </a:rPr>
              <a:t>Finance leadership discussion</a:t>
            </a:r>
          </a:p>
        </p:txBody>
      </p:sp>
    </p:spTree>
    <p:extLst>
      <p:ext uri="{BB962C8B-B14F-4D97-AF65-F5344CB8AC3E}">
        <p14:creationId xmlns:p14="http://schemas.microsoft.com/office/powerpoint/2010/main" val="133128791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eyebrow-2">
            <a:extLst xmlns:a="http://schemas.openxmlformats.org/drawingml/2006/main">
              <a:ext uri="{FF2B5EF4-FFF2-40B4-BE49-F238E27FC236}">
                <a16:creationId xmlns:a16="http://schemas.microsoft.com/office/drawing/2014/main" id="{9EF79C81-7373-413B-B906-F2ACE34A3BB8}"/>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Q2 2026 AMAZON ECONOMICS</a:t>
            </a:r>
          </a:p>
        </p:txBody>
      </p:sp>
      <p:sp>
        <p:nvSpPr>
          <p:cNvPr id="2" name="title-2">
            <a:extLst xmlns:a="http://schemas.openxmlformats.org/drawingml/2006/main">
              <a:ext uri="{FF2B5EF4-FFF2-40B4-BE49-F238E27FC236}">
                <a16:creationId xmlns:a16="http://schemas.microsoft.com/office/drawing/2014/main" id="{DCC9EE61-15DB-4A8D-A112-BAB4B6E910B7}"/>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The core business produced 38.7% CM1, but platform overhead turned the quarter negative</a:t>
            </a:r>
          </a:p>
        </p:txBody>
      </p:sp>
      <p:sp>
        <p:nvSpPr>
          <p:cNvPr id="3" name="footer-2">
            <a:extLst xmlns:a="http://schemas.openxmlformats.org/drawingml/2006/main">
              <a:ext uri="{FF2B5EF4-FFF2-40B4-BE49-F238E27FC236}">
                <a16:creationId xmlns:a16="http://schemas.microsoft.com/office/drawing/2014/main" id="{995D656F-49EF-4629-A397-092EA34FE406}"/>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2</a:t>
            </a:r>
          </a:p>
        </p:txBody>
      </p:sp>
      <p:sp>
        <p:nvSpPr>
          <p:cNvPr id="4" name="s2-context">
            <a:extLst xmlns:a="http://schemas.openxmlformats.org/drawingml/2006/main">
              <a:ext uri="{FF2B5EF4-FFF2-40B4-BE49-F238E27FC236}">
                <a16:creationId xmlns:a16="http://schemas.microsoft.com/office/drawing/2014/main" id="{A495A5C7-B873-45CE-9811-5179AB4F0C76}"/>
              </a:ext>
            </a:extLst>
          </p:cNvPr>
          <p:cNvSpPr>
            <a:spLocks xmlns:a="http://schemas.openxmlformats.org/drawingml/2006/main" noGrp="1"/>
          </p:cNvSpPr>
          <p:nvPr/>
        </p:nvSpPr>
        <p:spPr>
          <a:xfrm xmlns:a="http://schemas.openxmlformats.org/drawingml/2006/main">
            <a:off x="533400" y="1543050"/>
            <a:ext cx="111252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556070"/>
                </a:solidFill>
                <a:latin typeface="Arial"/>
                <a:ea typeface="Arial"/>
                <a:cs typeface="Arial"/>
              </a:defRPr>
            </a:pPr>
            <a:r>
              <a:rPr sz="1650" b="0">
                <a:solidFill>
                  <a:srgbClr val="556070"/>
                </a:solidFill>
                <a:latin typeface="Arial"/>
                <a:ea typeface="Arial"/>
                <a:cs typeface="Arial"/>
              </a:rPr>
              <a:t>CM1 deliberately excludes SKU-less advertising, storage, subscriptions, and adjustments; those items are shown below the attributable margin line.</a:t>
            </a:r>
          </a:p>
        </p:txBody>
      </p:sp>
      <p:sp>
        <p:nvSpPr>
          <p:cNvPr id="5" name="s2-net-sales-panel">
            <a:extLst xmlns:a="http://schemas.openxmlformats.org/drawingml/2006/main">
              <a:ext uri="{FF2B5EF4-FFF2-40B4-BE49-F238E27FC236}">
                <a16:creationId xmlns:a16="http://schemas.microsoft.com/office/drawing/2014/main" id="{A8832D1F-3722-4EAB-853C-DA8121292DEE}"/>
              </a:ext>
            </a:extLst>
          </p:cNvPr>
          <p:cNvSpPr>
            <a:spLocks xmlns:a="http://schemas.openxmlformats.org/drawingml/2006/main" noGrp="1"/>
          </p:cNvSpPr>
          <p:nvPr/>
        </p:nvSpPr>
        <p:spPr>
          <a:xfrm xmlns:a="http://schemas.openxmlformats.org/drawingml/2006/main">
            <a:off x="533400" y="2914650"/>
            <a:ext cx="3429000" cy="26860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s2-net-sales-value">
            <a:extLst xmlns:a="http://schemas.openxmlformats.org/drawingml/2006/main">
              <a:ext uri="{FF2B5EF4-FFF2-40B4-BE49-F238E27FC236}">
                <a16:creationId xmlns:a16="http://schemas.microsoft.com/office/drawing/2014/main" id="{C0B88FD4-E97B-4E14-A9D7-0A2C60054DA6}"/>
              </a:ext>
            </a:extLst>
          </p:cNvPr>
          <p:cNvSpPr>
            <a:spLocks xmlns:a="http://schemas.openxmlformats.org/drawingml/2006/main" noGrp="1"/>
          </p:cNvSpPr>
          <p:nvPr/>
        </p:nvSpPr>
        <p:spPr>
          <a:xfrm xmlns:a="http://schemas.openxmlformats.org/drawingml/2006/main">
            <a:off x="800100" y="3333750"/>
            <a:ext cx="2895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600" b="1">
                <a:solidFill>
                  <a:srgbClr val="0B2545"/>
                </a:solidFill>
                <a:latin typeface="Arial"/>
                <a:ea typeface="Arial"/>
                <a:cs typeface="Arial"/>
              </a:defRPr>
            </a:pPr>
            <a:r>
              <a:rPr sz="3600" b="1">
                <a:solidFill>
                  <a:srgbClr val="0B2545"/>
                </a:solidFill>
                <a:latin typeface="Arial"/>
                <a:ea typeface="Arial"/>
                <a:cs typeface="Arial"/>
              </a:rPr>
              <a:t>$132.3K</a:t>
            </a:r>
          </a:p>
        </p:txBody>
      </p:sp>
      <p:sp>
        <p:nvSpPr>
          <p:cNvPr id="7" name="s2-net-sales-label">
            <a:extLst xmlns:a="http://schemas.openxmlformats.org/drawingml/2006/main">
              <a:ext uri="{FF2B5EF4-FFF2-40B4-BE49-F238E27FC236}">
                <a16:creationId xmlns:a16="http://schemas.microsoft.com/office/drawing/2014/main" id="{C445D126-916E-49D4-8EB0-39F8B457295D}"/>
              </a:ext>
            </a:extLst>
          </p:cNvPr>
          <p:cNvSpPr>
            <a:spLocks xmlns:a="http://schemas.openxmlformats.org/drawingml/2006/main" noGrp="1"/>
          </p:cNvSpPr>
          <p:nvPr/>
        </p:nvSpPr>
        <p:spPr>
          <a:xfrm xmlns:a="http://schemas.openxmlformats.org/drawingml/2006/main">
            <a:off x="800100" y="4171950"/>
            <a:ext cx="2895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latin typeface="Arial"/>
                <a:ea typeface="Arial"/>
                <a:cs typeface="Arial"/>
              </a:defRPr>
            </a:pPr>
            <a:r>
              <a:rPr sz="1800" b="1">
                <a:solidFill>
                  <a:srgbClr val="000000"/>
                </a:solidFill>
                <a:latin typeface="Arial"/>
                <a:ea typeface="Arial"/>
                <a:cs typeface="Arial"/>
              </a:rPr>
              <a:t>Net sales</a:t>
            </a:r>
          </a:p>
        </p:txBody>
      </p:sp>
      <p:sp>
        <p:nvSpPr>
          <p:cNvPr id="8" name="s2-net-sales-detail">
            <a:extLst xmlns:a="http://schemas.openxmlformats.org/drawingml/2006/main">
              <a:ext uri="{FF2B5EF4-FFF2-40B4-BE49-F238E27FC236}">
                <a16:creationId xmlns:a16="http://schemas.microsoft.com/office/drawing/2014/main" id="{D64F655C-AB4F-4D48-B96C-E96B9C5C7202}"/>
              </a:ext>
            </a:extLst>
          </p:cNvPr>
          <p:cNvSpPr>
            <a:spLocks xmlns:a="http://schemas.openxmlformats.org/drawingml/2006/main" noGrp="1"/>
          </p:cNvSpPr>
          <p:nvPr/>
        </p:nvSpPr>
        <p:spPr>
          <a:xfrm xmlns:a="http://schemas.openxmlformats.org/drawingml/2006/main">
            <a:off x="800100" y="4686300"/>
            <a:ext cx="2895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Product sales net of refunds and promotions</a:t>
            </a:r>
          </a:p>
        </p:txBody>
      </p:sp>
      <p:sp>
        <p:nvSpPr>
          <p:cNvPr id="9" name="s2-cm-panel">
            <a:extLst xmlns:a="http://schemas.openxmlformats.org/drawingml/2006/main">
              <a:ext uri="{FF2B5EF4-FFF2-40B4-BE49-F238E27FC236}">
                <a16:creationId xmlns:a16="http://schemas.microsoft.com/office/drawing/2014/main" id="{568FDA7B-E09D-43A1-827D-011F75F3E3BC}"/>
              </a:ext>
            </a:extLst>
          </p:cNvPr>
          <p:cNvSpPr>
            <a:spLocks xmlns:a="http://schemas.openxmlformats.org/drawingml/2006/main" noGrp="1"/>
          </p:cNvSpPr>
          <p:nvPr/>
        </p:nvSpPr>
        <p:spPr>
          <a:xfrm xmlns:a="http://schemas.openxmlformats.org/drawingml/2006/main">
            <a:off x="4381500" y="2914650"/>
            <a:ext cx="3429000" cy="26860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0" name="s2-cm-value">
            <a:extLst xmlns:a="http://schemas.openxmlformats.org/drawingml/2006/main">
              <a:ext uri="{FF2B5EF4-FFF2-40B4-BE49-F238E27FC236}">
                <a16:creationId xmlns:a16="http://schemas.microsoft.com/office/drawing/2014/main" id="{39433EDB-F2BB-4FB9-AD08-21BAAEC64442}"/>
              </a:ext>
            </a:extLst>
          </p:cNvPr>
          <p:cNvSpPr>
            <a:spLocks xmlns:a="http://schemas.openxmlformats.org/drawingml/2006/main" noGrp="1"/>
          </p:cNvSpPr>
          <p:nvPr/>
        </p:nvSpPr>
        <p:spPr>
          <a:xfrm xmlns:a="http://schemas.openxmlformats.org/drawingml/2006/main">
            <a:off x="4648200" y="3333750"/>
            <a:ext cx="2895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600" b="1">
                <a:solidFill>
                  <a:srgbClr val="0B7A53"/>
                </a:solidFill>
                <a:latin typeface="Arial"/>
                <a:ea typeface="Arial"/>
                <a:cs typeface="Arial"/>
              </a:defRPr>
            </a:pPr>
            <a:r>
              <a:rPr sz="3600" b="1">
                <a:solidFill>
                  <a:srgbClr val="0B7A53"/>
                </a:solidFill>
                <a:latin typeface="Arial"/>
                <a:ea typeface="Arial"/>
                <a:cs typeface="Arial"/>
              </a:rPr>
              <a:t>$51.2K</a:t>
            </a:r>
          </a:p>
        </p:txBody>
      </p:sp>
      <p:sp>
        <p:nvSpPr>
          <p:cNvPr id="11" name="s2-cm-label">
            <a:extLst xmlns:a="http://schemas.openxmlformats.org/drawingml/2006/main">
              <a:ext uri="{FF2B5EF4-FFF2-40B4-BE49-F238E27FC236}">
                <a16:creationId xmlns:a16="http://schemas.microsoft.com/office/drawing/2014/main" id="{1349AB60-6C2C-463C-A163-E95189EB848F}"/>
              </a:ext>
            </a:extLst>
          </p:cNvPr>
          <p:cNvSpPr>
            <a:spLocks xmlns:a="http://schemas.openxmlformats.org/drawingml/2006/main" noGrp="1"/>
          </p:cNvSpPr>
          <p:nvPr/>
        </p:nvSpPr>
        <p:spPr>
          <a:xfrm xmlns:a="http://schemas.openxmlformats.org/drawingml/2006/main">
            <a:off x="4648200" y="4171950"/>
            <a:ext cx="2895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latin typeface="Arial"/>
                <a:ea typeface="Arial"/>
                <a:cs typeface="Arial"/>
              </a:defRPr>
            </a:pPr>
            <a:r>
              <a:rPr sz="1800" b="1">
                <a:solidFill>
                  <a:srgbClr val="000000"/>
                </a:solidFill>
                <a:latin typeface="Arial"/>
                <a:ea typeface="Arial"/>
                <a:cs typeface="Arial"/>
              </a:rPr>
              <a:t>Contribution margin</a:t>
            </a:r>
          </a:p>
        </p:txBody>
      </p:sp>
      <p:sp>
        <p:nvSpPr>
          <p:cNvPr id="12" name="s2-cm-detail">
            <a:extLst xmlns:a="http://schemas.openxmlformats.org/drawingml/2006/main">
              <a:ext uri="{FF2B5EF4-FFF2-40B4-BE49-F238E27FC236}">
                <a16:creationId xmlns:a16="http://schemas.microsoft.com/office/drawing/2014/main" id="{30CF1E57-4969-4210-ADE2-A7D13B1436E1}"/>
              </a:ext>
            </a:extLst>
          </p:cNvPr>
          <p:cNvSpPr>
            <a:spLocks xmlns:a="http://schemas.openxmlformats.org/drawingml/2006/main" noGrp="1"/>
          </p:cNvSpPr>
          <p:nvPr/>
        </p:nvSpPr>
        <p:spPr>
          <a:xfrm xmlns:a="http://schemas.openxmlformats.org/drawingml/2006/main">
            <a:off x="4648200" y="4686300"/>
            <a:ext cx="2895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38.7% of net sales after promotions</a:t>
            </a:r>
          </a:p>
        </p:txBody>
      </p:sp>
      <p:sp>
        <p:nvSpPr>
          <p:cNvPr id="13" name="s2-after-panel">
            <a:extLst xmlns:a="http://schemas.openxmlformats.org/drawingml/2006/main">
              <a:ext uri="{FF2B5EF4-FFF2-40B4-BE49-F238E27FC236}">
                <a16:creationId xmlns:a16="http://schemas.microsoft.com/office/drawing/2014/main" id="{025D006A-939D-405D-B497-12A45049ED82}"/>
              </a:ext>
            </a:extLst>
          </p:cNvPr>
          <p:cNvSpPr>
            <a:spLocks xmlns:a="http://schemas.openxmlformats.org/drawingml/2006/main" noGrp="1"/>
          </p:cNvSpPr>
          <p:nvPr/>
        </p:nvSpPr>
        <p:spPr>
          <a:xfrm xmlns:a="http://schemas.openxmlformats.org/drawingml/2006/main">
            <a:off x="8229600" y="2914650"/>
            <a:ext cx="3429000" cy="26860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4" name="s2-after-value">
            <a:extLst xmlns:a="http://schemas.openxmlformats.org/drawingml/2006/main">
              <a:ext uri="{FF2B5EF4-FFF2-40B4-BE49-F238E27FC236}">
                <a16:creationId xmlns:a16="http://schemas.microsoft.com/office/drawing/2014/main" id="{04EC5D1C-DF73-4DA0-B67C-4859A23B530B}"/>
              </a:ext>
            </a:extLst>
          </p:cNvPr>
          <p:cNvSpPr>
            <a:spLocks xmlns:a="http://schemas.openxmlformats.org/drawingml/2006/main" noGrp="1"/>
          </p:cNvSpPr>
          <p:nvPr/>
        </p:nvSpPr>
        <p:spPr>
          <a:xfrm xmlns:a="http://schemas.openxmlformats.org/drawingml/2006/main">
            <a:off x="8496300" y="3333750"/>
            <a:ext cx="2895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600" b="1">
                <a:solidFill>
                  <a:srgbClr val="B42318"/>
                </a:solidFill>
                <a:latin typeface="Arial"/>
                <a:ea typeface="Arial"/>
                <a:cs typeface="Arial"/>
              </a:defRPr>
            </a:pPr>
            <a:r>
              <a:rPr sz="3600" b="1">
                <a:solidFill>
                  <a:srgbClr val="B42318"/>
                </a:solidFill>
                <a:latin typeface="Arial"/>
                <a:ea typeface="Arial"/>
                <a:cs typeface="Arial"/>
              </a:rPr>
              <a:t>($5.5K)</a:t>
            </a:r>
          </a:p>
        </p:txBody>
      </p:sp>
      <p:sp>
        <p:nvSpPr>
          <p:cNvPr id="15" name="s2-after-label">
            <a:extLst xmlns:a="http://schemas.openxmlformats.org/drawingml/2006/main">
              <a:ext uri="{FF2B5EF4-FFF2-40B4-BE49-F238E27FC236}">
                <a16:creationId xmlns:a16="http://schemas.microsoft.com/office/drawing/2014/main" id="{8C2D9AE0-792E-4126-94B4-E27D0ACB6E58}"/>
              </a:ext>
            </a:extLst>
          </p:cNvPr>
          <p:cNvSpPr>
            <a:spLocks xmlns:a="http://schemas.openxmlformats.org/drawingml/2006/main" noGrp="1"/>
          </p:cNvSpPr>
          <p:nvPr/>
        </p:nvSpPr>
        <p:spPr>
          <a:xfrm xmlns:a="http://schemas.openxmlformats.org/drawingml/2006/main">
            <a:off x="8496300" y="4171950"/>
            <a:ext cx="2895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latin typeface="Arial"/>
                <a:ea typeface="Arial"/>
                <a:cs typeface="Arial"/>
              </a:defRPr>
            </a:pPr>
            <a:r>
              <a:rPr sz="1800" b="1">
                <a:solidFill>
                  <a:srgbClr val="000000"/>
                </a:solidFill>
                <a:latin typeface="Arial"/>
                <a:ea typeface="Arial"/>
                <a:cs typeface="Arial"/>
              </a:rPr>
              <a:t>After platform overhead</a:t>
            </a:r>
          </a:p>
        </p:txBody>
      </p:sp>
      <p:sp>
        <p:nvSpPr>
          <p:cNvPr id="16" name="s2-after-detail">
            <a:extLst xmlns:a="http://schemas.openxmlformats.org/drawingml/2006/main">
              <a:ext uri="{FF2B5EF4-FFF2-40B4-BE49-F238E27FC236}">
                <a16:creationId xmlns:a16="http://schemas.microsoft.com/office/drawing/2014/main" id="{5D4B0D29-8B68-42F3-828C-100573376FB7}"/>
              </a:ext>
            </a:extLst>
          </p:cNvPr>
          <p:cNvSpPr>
            <a:spLocks xmlns:a="http://schemas.openxmlformats.org/drawingml/2006/main" noGrp="1"/>
          </p:cNvSpPr>
          <p:nvPr/>
        </p:nvSpPr>
        <p:spPr>
          <a:xfrm xmlns:a="http://schemas.openxmlformats.org/drawingml/2006/main">
            <a:off x="8496300" y="4686300"/>
            <a:ext cx="2895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$56.8K overhead, plus $89 adjustments</a:t>
            </a:r>
          </a:p>
        </p:txBody>
      </p:sp>
    </p:spTree>
    <p:extLst>
      <p:ext uri="{BB962C8B-B14F-4D97-AF65-F5344CB8AC3E}">
        <p14:creationId xmlns:p14="http://schemas.microsoft.com/office/powerpoint/2010/main" val="162342614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eyebrow-3">
            <a:extLst xmlns:a="http://schemas.openxmlformats.org/drawingml/2006/main">
              <a:ext uri="{FF2B5EF4-FFF2-40B4-BE49-F238E27FC236}">
                <a16:creationId xmlns:a16="http://schemas.microsoft.com/office/drawing/2014/main" id="{6BB3B4AB-7BC7-480A-A987-588616504CF1}"/>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PROPOSED BIGQUERY FOUNDATION</a:t>
            </a:r>
          </a:p>
        </p:txBody>
      </p:sp>
      <p:sp>
        <p:nvSpPr>
          <p:cNvPr id="2" name="title-3">
            <a:extLst xmlns:a="http://schemas.openxmlformats.org/drawingml/2006/main">
              <a:ext uri="{FF2B5EF4-FFF2-40B4-BE49-F238E27FC236}">
                <a16:creationId xmlns:a16="http://schemas.microsoft.com/office/drawing/2014/main" id="{BE093F09-FC96-4E8E-B4DC-094CFE8153EF}"/>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A single source of truth starts with stable product identity—not a dashboard</a:t>
            </a:r>
          </a:p>
        </p:txBody>
      </p:sp>
      <p:sp>
        <p:nvSpPr>
          <p:cNvPr id="3" name="footer-3">
            <a:extLst xmlns:a="http://schemas.openxmlformats.org/drawingml/2006/main">
              <a:ext uri="{FF2B5EF4-FFF2-40B4-BE49-F238E27FC236}">
                <a16:creationId xmlns:a16="http://schemas.microsoft.com/office/drawing/2014/main" id="{FAADD25C-06F8-45FB-A7FE-825C49C26DB7}"/>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3</a:t>
            </a:r>
          </a:p>
        </p:txBody>
      </p:sp>
      <p:sp>
        <p:nvSpPr>
          <p:cNvPr id="4" name="s3-intro">
            <a:extLst xmlns:a="http://schemas.openxmlformats.org/drawingml/2006/main">
              <a:ext uri="{FF2B5EF4-FFF2-40B4-BE49-F238E27FC236}">
                <a16:creationId xmlns:a16="http://schemas.microsoft.com/office/drawing/2014/main" id="{BBBA89AD-919C-4428-9839-1B4B7A31BC19}"/>
              </a:ext>
            </a:extLst>
          </p:cNvPr>
          <p:cNvSpPr>
            <a:spLocks xmlns:a="http://schemas.openxmlformats.org/drawingml/2006/main" noGrp="1"/>
          </p:cNvSpPr>
          <p:nvPr/>
        </p:nvSpPr>
        <p:spPr>
          <a:xfrm xmlns:a="http://schemas.openxmlformats.org/drawingml/2006/main">
            <a:off x="533400" y="1485900"/>
            <a:ext cx="111252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556070"/>
                </a:solidFill>
                <a:latin typeface="Arial"/>
                <a:ea typeface="Arial"/>
                <a:cs typeface="Arial"/>
              </a:defRPr>
            </a:pPr>
            <a:r>
              <a:rPr sz="1650" b="0">
                <a:solidFill>
                  <a:srgbClr val="556070"/>
                </a:solidFill>
                <a:latin typeface="Arial"/>
                <a:ea typeface="Arial"/>
                <a:cs typeface="Arial"/>
              </a:rPr>
              <a:t>Preserve raw evidence, standardize source contracts, resolve identifiers once, and publish finance marts only after controls pass.</a:t>
            </a:r>
          </a:p>
        </p:txBody>
      </p:sp>
      <p:sp>
        <p:nvSpPr>
          <p:cNvPr id="5" name="s3-arrow-0">
            <a:extLst xmlns:a="http://schemas.openxmlformats.org/drawingml/2006/main">
              <a:ext uri="{FF2B5EF4-FFF2-40B4-BE49-F238E27FC236}">
                <a16:creationId xmlns:a16="http://schemas.microsoft.com/office/drawing/2014/main" id="{A259E378-8B44-4564-8001-48427B10EC0C}"/>
              </a:ext>
            </a:extLst>
          </p:cNvPr>
          <p:cNvSpPr>
            <a:spLocks xmlns:a="http://schemas.openxmlformats.org/drawingml/2006/main" noGrp="1"/>
          </p:cNvSpPr>
          <p:nvPr/>
        </p:nvSpPr>
        <p:spPr>
          <a:xfrm xmlns:a="http://schemas.openxmlformats.org/drawingml/2006/main">
            <a:off x="2419350" y="3476625"/>
            <a:ext cx="419100" cy="342900"/>
          </a:xfrm>
          <a:prstGeom xmlns:a="http://schemas.openxmlformats.org/drawingml/2006/main" prst="rightArrow">
            <a:avLst/>
          </a:prstGeom>
          <a:solidFill xmlns:a="http://schemas.openxmlformats.org/drawingml/2006/main">
            <a:srgbClr val="3D8DFF"/>
          </a:solidFill>
          <a:ln xmlns:a="http://schemas.openxmlformats.org/drawingml/2006/main" w="0">
            <a:noFill/>
            <a:prstDash val="solid"/>
          </a:ln>
        </p:spPr>
      </p:sp>
      <p:sp>
        <p:nvSpPr>
          <p:cNvPr id="6" name="s3-arrow-1">
            <a:extLst xmlns:a="http://schemas.openxmlformats.org/drawingml/2006/main">
              <a:ext uri="{FF2B5EF4-FFF2-40B4-BE49-F238E27FC236}">
                <a16:creationId xmlns:a16="http://schemas.microsoft.com/office/drawing/2014/main" id="{2744FBA1-F644-40F7-B607-6EE766EBB0BD}"/>
              </a:ext>
            </a:extLst>
          </p:cNvPr>
          <p:cNvSpPr>
            <a:spLocks xmlns:a="http://schemas.openxmlformats.org/drawingml/2006/main" noGrp="1"/>
          </p:cNvSpPr>
          <p:nvPr/>
        </p:nvSpPr>
        <p:spPr>
          <a:xfrm xmlns:a="http://schemas.openxmlformats.org/drawingml/2006/main">
            <a:off x="4743450" y="3476625"/>
            <a:ext cx="419100" cy="342900"/>
          </a:xfrm>
          <a:prstGeom xmlns:a="http://schemas.openxmlformats.org/drawingml/2006/main" prst="rightArrow">
            <a:avLst/>
          </a:prstGeom>
          <a:solidFill xmlns:a="http://schemas.openxmlformats.org/drawingml/2006/main">
            <a:srgbClr val="3D8DFF"/>
          </a:solidFill>
          <a:ln xmlns:a="http://schemas.openxmlformats.org/drawingml/2006/main" w="0">
            <a:noFill/>
            <a:prstDash val="solid"/>
          </a:ln>
        </p:spPr>
      </p:sp>
      <p:sp>
        <p:nvSpPr>
          <p:cNvPr id="7" name="s3-arrow-2">
            <a:extLst xmlns:a="http://schemas.openxmlformats.org/drawingml/2006/main">
              <a:ext uri="{FF2B5EF4-FFF2-40B4-BE49-F238E27FC236}">
                <a16:creationId xmlns:a16="http://schemas.microsoft.com/office/drawing/2014/main" id="{FF67240A-16A9-4C3A-ABBA-865901119862}"/>
              </a:ext>
            </a:extLst>
          </p:cNvPr>
          <p:cNvSpPr>
            <a:spLocks xmlns:a="http://schemas.openxmlformats.org/drawingml/2006/main" noGrp="1"/>
          </p:cNvSpPr>
          <p:nvPr/>
        </p:nvSpPr>
        <p:spPr>
          <a:xfrm xmlns:a="http://schemas.openxmlformats.org/drawingml/2006/main">
            <a:off x="7067550" y="3476625"/>
            <a:ext cx="419100" cy="342900"/>
          </a:xfrm>
          <a:prstGeom xmlns:a="http://schemas.openxmlformats.org/drawingml/2006/main" prst="rightArrow">
            <a:avLst/>
          </a:prstGeom>
          <a:solidFill xmlns:a="http://schemas.openxmlformats.org/drawingml/2006/main">
            <a:srgbClr val="3D8DFF"/>
          </a:solidFill>
          <a:ln xmlns:a="http://schemas.openxmlformats.org/drawingml/2006/main" w="0">
            <a:noFill/>
            <a:prstDash val="solid"/>
          </a:ln>
        </p:spPr>
      </p:sp>
      <p:sp>
        <p:nvSpPr>
          <p:cNvPr id="8" name="s3-arrow-3">
            <a:extLst xmlns:a="http://schemas.openxmlformats.org/drawingml/2006/main">
              <a:ext uri="{FF2B5EF4-FFF2-40B4-BE49-F238E27FC236}">
                <a16:creationId xmlns:a16="http://schemas.microsoft.com/office/drawing/2014/main" id="{6684D999-A9B6-438D-9DC8-0D233EA3CAF1}"/>
              </a:ext>
            </a:extLst>
          </p:cNvPr>
          <p:cNvSpPr>
            <a:spLocks xmlns:a="http://schemas.openxmlformats.org/drawingml/2006/main" noGrp="1"/>
          </p:cNvSpPr>
          <p:nvPr/>
        </p:nvSpPr>
        <p:spPr>
          <a:xfrm xmlns:a="http://schemas.openxmlformats.org/drawingml/2006/main">
            <a:off x="9391650" y="3476625"/>
            <a:ext cx="419100" cy="342900"/>
          </a:xfrm>
          <a:prstGeom xmlns:a="http://schemas.openxmlformats.org/drawingml/2006/main" prst="rightArrow">
            <a:avLst/>
          </a:prstGeom>
          <a:solidFill xmlns:a="http://schemas.openxmlformats.org/drawingml/2006/main">
            <a:srgbClr val="3D8DFF"/>
          </a:solidFill>
          <a:ln xmlns:a="http://schemas.openxmlformats.org/drawingml/2006/main" w="0">
            <a:noFill/>
            <a:prstDash val="solid"/>
          </a:ln>
        </p:spPr>
      </p:sp>
      <p:sp>
        <p:nvSpPr>
          <p:cNvPr id="9" name="s3-node-0">
            <a:extLst xmlns:a="http://schemas.openxmlformats.org/drawingml/2006/main">
              <a:ext uri="{FF2B5EF4-FFF2-40B4-BE49-F238E27FC236}">
                <a16:creationId xmlns:a16="http://schemas.microsoft.com/office/drawing/2014/main" id="{09448C60-7F85-4DFE-8904-CBC72BAC8304}"/>
              </a:ext>
            </a:extLst>
          </p:cNvPr>
          <p:cNvSpPr>
            <a:spLocks xmlns:a="http://schemas.openxmlformats.org/drawingml/2006/main" noGrp="1"/>
          </p:cNvSpPr>
          <p:nvPr/>
        </p:nvSpPr>
        <p:spPr>
          <a:xfrm xmlns:a="http://schemas.openxmlformats.org/drawingml/2006/main">
            <a:off x="533400" y="2514600"/>
            <a:ext cx="1885950" cy="22669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0" name="s3-node-title-0">
            <a:extLst xmlns:a="http://schemas.openxmlformats.org/drawingml/2006/main">
              <a:ext uri="{FF2B5EF4-FFF2-40B4-BE49-F238E27FC236}">
                <a16:creationId xmlns:a16="http://schemas.microsoft.com/office/drawing/2014/main" id="{7212267B-F1D7-4A49-9A69-347A283C31DD}"/>
              </a:ext>
            </a:extLst>
          </p:cNvPr>
          <p:cNvSpPr>
            <a:spLocks xmlns:a="http://schemas.openxmlformats.org/drawingml/2006/main" noGrp="1"/>
          </p:cNvSpPr>
          <p:nvPr/>
        </p:nvSpPr>
        <p:spPr>
          <a:xfrm xmlns:a="http://schemas.openxmlformats.org/drawingml/2006/main">
            <a:off x="704850" y="2781300"/>
            <a:ext cx="154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B2545"/>
                </a:solidFill>
                <a:latin typeface="Arial"/>
                <a:ea typeface="Arial"/>
                <a:cs typeface="Arial"/>
              </a:defRPr>
            </a:pPr>
            <a:r>
              <a:rPr sz="1800" b="1">
                <a:solidFill>
                  <a:srgbClr val="0B2545"/>
                </a:solidFill>
                <a:latin typeface="Arial"/>
                <a:ea typeface="Arial"/>
                <a:cs typeface="Arial"/>
              </a:rPr>
              <a:t>Sources</a:t>
            </a:r>
          </a:p>
        </p:txBody>
      </p:sp>
      <p:sp>
        <p:nvSpPr>
          <p:cNvPr id="11" name="s3-node-body-0">
            <a:extLst xmlns:a="http://schemas.openxmlformats.org/drawingml/2006/main">
              <a:ext uri="{FF2B5EF4-FFF2-40B4-BE49-F238E27FC236}">
                <a16:creationId xmlns:a16="http://schemas.microsoft.com/office/drawing/2014/main" id="{1609AFC0-226D-4551-8750-6C584FBDFFEC}"/>
              </a:ext>
            </a:extLst>
          </p:cNvPr>
          <p:cNvSpPr>
            <a:spLocks xmlns:a="http://schemas.openxmlformats.org/drawingml/2006/main" noGrp="1"/>
          </p:cNvSpPr>
          <p:nvPr/>
        </p:nvSpPr>
        <p:spPr>
          <a:xfrm xmlns:a="http://schemas.openxmlformats.org/drawingml/2006/main">
            <a:off x="704850" y="3295650"/>
            <a:ext cx="15430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QuickBooks</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REACH</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Amazon</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Google Sheets</a:t>
            </a:r>
          </a:p>
        </p:txBody>
      </p:sp>
      <p:sp>
        <p:nvSpPr>
          <p:cNvPr id="12" name="s3-node-1">
            <a:extLst xmlns:a="http://schemas.openxmlformats.org/drawingml/2006/main">
              <a:ext uri="{FF2B5EF4-FFF2-40B4-BE49-F238E27FC236}">
                <a16:creationId xmlns:a16="http://schemas.microsoft.com/office/drawing/2014/main" id="{D34CD4E8-B953-44FB-BDF3-74A73F32AE71}"/>
              </a:ext>
            </a:extLst>
          </p:cNvPr>
          <p:cNvSpPr>
            <a:spLocks xmlns:a="http://schemas.openxmlformats.org/drawingml/2006/main" noGrp="1"/>
          </p:cNvSpPr>
          <p:nvPr/>
        </p:nvSpPr>
        <p:spPr>
          <a:xfrm xmlns:a="http://schemas.openxmlformats.org/drawingml/2006/main">
            <a:off x="2857500" y="2514600"/>
            <a:ext cx="1885950" cy="22669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s3-node-title-1">
            <a:extLst xmlns:a="http://schemas.openxmlformats.org/drawingml/2006/main">
              <a:ext uri="{FF2B5EF4-FFF2-40B4-BE49-F238E27FC236}">
                <a16:creationId xmlns:a16="http://schemas.microsoft.com/office/drawing/2014/main" id="{A1C3B437-D2CF-4EB2-854B-3FE92D45195E}"/>
              </a:ext>
            </a:extLst>
          </p:cNvPr>
          <p:cNvSpPr>
            <a:spLocks xmlns:a="http://schemas.openxmlformats.org/drawingml/2006/main" noGrp="1"/>
          </p:cNvSpPr>
          <p:nvPr/>
        </p:nvSpPr>
        <p:spPr>
          <a:xfrm xmlns:a="http://schemas.openxmlformats.org/drawingml/2006/main">
            <a:off x="3028950" y="2781300"/>
            <a:ext cx="154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B2545"/>
                </a:solidFill>
                <a:latin typeface="Arial"/>
                <a:ea typeface="Arial"/>
                <a:cs typeface="Arial"/>
              </a:defRPr>
            </a:pPr>
            <a:r>
              <a:rPr sz="1800" b="1">
                <a:solidFill>
                  <a:srgbClr val="0B2545"/>
                </a:solidFill>
                <a:latin typeface="Arial"/>
                <a:ea typeface="Arial"/>
                <a:cs typeface="Arial"/>
              </a:rPr>
              <a:t>Raw</a:t>
            </a:r>
          </a:p>
        </p:txBody>
      </p:sp>
      <p:sp>
        <p:nvSpPr>
          <p:cNvPr id="14" name="s3-node-body-1">
            <a:extLst xmlns:a="http://schemas.openxmlformats.org/drawingml/2006/main">
              <a:ext uri="{FF2B5EF4-FFF2-40B4-BE49-F238E27FC236}">
                <a16:creationId xmlns:a16="http://schemas.microsoft.com/office/drawing/2014/main" id="{69F7B48D-2B94-4EBD-ABF8-F6AB18C034AB}"/>
              </a:ext>
            </a:extLst>
          </p:cNvPr>
          <p:cNvSpPr>
            <a:spLocks xmlns:a="http://schemas.openxmlformats.org/drawingml/2006/main" noGrp="1"/>
          </p:cNvSpPr>
          <p:nvPr/>
        </p:nvSpPr>
        <p:spPr>
          <a:xfrm xmlns:a="http://schemas.openxmlformats.org/drawingml/2006/main">
            <a:off x="3028950" y="3295650"/>
            <a:ext cx="15430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Immutable files</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Load metadata</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Row hashes</a:t>
            </a:r>
          </a:p>
        </p:txBody>
      </p:sp>
      <p:sp>
        <p:nvSpPr>
          <p:cNvPr id="15" name="s3-node-2">
            <a:extLst xmlns:a="http://schemas.openxmlformats.org/drawingml/2006/main">
              <a:ext uri="{FF2B5EF4-FFF2-40B4-BE49-F238E27FC236}">
                <a16:creationId xmlns:a16="http://schemas.microsoft.com/office/drawing/2014/main" id="{C6D4315B-8840-4E9F-94FD-002916B794EC}"/>
              </a:ext>
            </a:extLst>
          </p:cNvPr>
          <p:cNvSpPr>
            <a:spLocks xmlns:a="http://schemas.openxmlformats.org/drawingml/2006/main" noGrp="1"/>
          </p:cNvSpPr>
          <p:nvPr/>
        </p:nvSpPr>
        <p:spPr>
          <a:xfrm xmlns:a="http://schemas.openxmlformats.org/drawingml/2006/main">
            <a:off x="5181600" y="2514600"/>
            <a:ext cx="1885950" cy="22669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6" name="s3-node-title-2">
            <a:extLst xmlns:a="http://schemas.openxmlformats.org/drawingml/2006/main">
              <a:ext uri="{FF2B5EF4-FFF2-40B4-BE49-F238E27FC236}">
                <a16:creationId xmlns:a16="http://schemas.microsoft.com/office/drawing/2014/main" id="{0657E889-9A08-4D9C-8A23-FA4781A353FB}"/>
              </a:ext>
            </a:extLst>
          </p:cNvPr>
          <p:cNvSpPr>
            <a:spLocks xmlns:a="http://schemas.openxmlformats.org/drawingml/2006/main" noGrp="1"/>
          </p:cNvSpPr>
          <p:nvPr/>
        </p:nvSpPr>
        <p:spPr>
          <a:xfrm xmlns:a="http://schemas.openxmlformats.org/drawingml/2006/main">
            <a:off x="5353050" y="2781300"/>
            <a:ext cx="154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B2545"/>
                </a:solidFill>
                <a:latin typeface="Arial"/>
                <a:ea typeface="Arial"/>
                <a:cs typeface="Arial"/>
              </a:defRPr>
            </a:pPr>
            <a:r>
              <a:rPr sz="1800" b="1">
                <a:solidFill>
                  <a:srgbClr val="0B2545"/>
                </a:solidFill>
                <a:latin typeface="Arial"/>
                <a:ea typeface="Arial"/>
                <a:cs typeface="Arial"/>
              </a:rPr>
              <a:t>Staging</a:t>
            </a:r>
          </a:p>
        </p:txBody>
      </p:sp>
      <p:sp>
        <p:nvSpPr>
          <p:cNvPr id="17" name="s3-node-body-2">
            <a:extLst xmlns:a="http://schemas.openxmlformats.org/drawingml/2006/main">
              <a:ext uri="{FF2B5EF4-FFF2-40B4-BE49-F238E27FC236}">
                <a16:creationId xmlns:a16="http://schemas.microsoft.com/office/drawing/2014/main" id="{F459DF6B-D9C0-429B-BAF8-C91319972DCF}"/>
              </a:ext>
            </a:extLst>
          </p:cNvPr>
          <p:cNvSpPr>
            <a:spLocks xmlns:a="http://schemas.openxmlformats.org/drawingml/2006/main" noGrp="1"/>
          </p:cNvSpPr>
          <p:nvPr/>
        </p:nvSpPr>
        <p:spPr>
          <a:xfrm xmlns:a="http://schemas.openxmlformats.org/drawingml/2006/main">
            <a:off x="5353050" y="3295650"/>
            <a:ext cx="15430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Typed fields</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Deduplication</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Contract tests</a:t>
            </a:r>
          </a:p>
        </p:txBody>
      </p:sp>
      <p:sp>
        <p:nvSpPr>
          <p:cNvPr id="18" name="s3-node-3">
            <a:extLst xmlns:a="http://schemas.openxmlformats.org/drawingml/2006/main">
              <a:ext uri="{FF2B5EF4-FFF2-40B4-BE49-F238E27FC236}">
                <a16:creationId xmlns:a16="http://schemas.microsoft.com/office/drawing/2014/main" id="{E16D3C41-5D77-4465-843F-30F50BD43F06}"/>
              </a:ext>
            </a:extLst>
          </p:cNvPr>
          <p:cNvSpPr>
            <a:spLocks xmlns:a="http://schemas.openxmlformats.org/drawingml/2006/main" noGrp="1"/>
          </p:cNvSpPr>
          <p:nvPr/>
        </p:nvSpPr>
        <p:spPr>
          <a:xfrm xmlns:a="http://schemas.openxmlformats.org/drawingml/2006/main">
            <a:off x="7505700" y="2514600"/>
            <a:ext cx="1885950" cy="2266950"/>
          </a:xfrm>
          <a:prstGeom xmlns:a="http://schemas.openxmlformats.org/drawingml/2006/main" prst="rect">
            <a:avLst/>
          </a:prstGeom>
          <a:solidFill xmlns:a="http://schemas.openxmlformats.org/drawingml/2006/main">
            <a:srgbClr val="D0EDFA"/>
          </a:solidFill>
          <a:ln xmlns:a="http://schemas.openxmlformats.org/drawingml/2006/main" w="9525">
            <a:solidFill>
              <a:srgbClr val="B8BCC4"/>
            </a:solidFill>
            <a:prstDash val="solid"/>
          </a:ln>
        </p:spPr>
      </p:sp>
      <p:sp>
        <p:nvSpPr>
          <p:cNvPr id="19" name="s3-node-title-3">
            <a:extLst xmlns:a="http://schemas.openxmlformats.org/drawingml/2006/main">
              <a:ext uri="{FF2B5EF4-FFF2-40B4-BE49-F238E27FC236}">
                <a16:creationId xmlns:a16="http://schemas.microsoft.com/office/drawing/2014/main" id="{290E2ED8-87F8-439C-BAA8-6DE1838FF5A9}"/>
              </a:ext>
            </a:extLst>
          </p:cNvPr>
          <p:cNvSpPr>
            <a:spLocks xmlns:a="http://schemas.openxmlformats.org/drawingml/2006/main" noGrp="1"/>
          </p:cNvSpPr>
          <p:nvPr/>
        </p:nvSpPr>
        <p:spPr>
          <a:xfrm xmlns:a="http://schemas.openxmlformats.org/drawingml/2006/main">
            <a:off x="7677150" y="2781300"/>
            <a:ext cx="154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B2545"/>
                </a:solidFill>
                <a:latin typeface="Arial"/>
                <a:ea typeface="Arial"/>
                <a:cs typeface="Arial"/>
              </a:defRPr>
            </a:pPr>
            <a:r>
              <a:rPr sz="1800" b="1">
                <a:solidFill>
                  <a:srgbClr val="0B2545"/>
                </a:solidFill>
                <a:latin typeface="Arial"/>
                <a:ea typeface="Arial"/>
                <a:cs typeface="Arial"/>
              </a:rPr>
              <a:t>Core</a:t>
            </a:r>
          </a:p>
        </p:txBody>
      </p:sp>
      <p:sp>
        <p:nvSpPr>
          <p:cNvPr id="20" name="s3-node-body-3">
            <a:extLst xmlns:a="http://schemas.openxmlformats.org/drawingml/2006/main">
              <a:ext uri="{FF2B5EF4-FFF2-40B4-BE49-F238E27FC236}">
                <a16:creationId xmlns:a16="http://schemas.microsoft.com/office/drawing/2014/main" id="{B8CF3B86-DEA1-4407-B6F2-3534AC5D9279}"/>
              </a:ext>
            </a:extLst>
          </p:cNvPr>
          <p:cNvSpPr>
            <a:spLocks xmlns:a="http://schemas.openxmlformats.org/drawingml/2006/main" noGrp="1"/>
          </p:cNvSpPr>
          <p:nvPr/>
        </p:nvSpPr>
        <p:spPr>
          <a:xfrm xmlns:a="http://schemas.openxmlformats.org/drawingml/2006/main">
            <a:off x="7677150" y="3295650"/>
            <a:ext cx="15430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Dimensions</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Facts</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Identifier/UOM bridges</a:t>
            </a:r>
          </a:p>
        </p:txBody>
      </p:sp>
      <p:sp>
        <p:nvSpPr>
          <p:cNvPr id="21" name="s3-node-4">
            <a:extLst xmlns:a="http://schemas.openxmlformats.org/drawingml/2006/main">
              <a:ext uri="{FF2B5EF4-FFF2-40B4-BE49-F238E27FC236}">
                <a16:creationId xmlns:a16="http://schemas.microsoft.com/office/drawing/2014/main" id="{3E366290-AAD8-44C5-948E-325ACA3EC502}"/>
              </a:ext>
            </a:extLst>
          </p:cNvPr>
          <p:cNvSpPr>
            <a:spLocks xmlns:a="http://schemas.openxmlformats.org/drawingml/2006/main" noGrp="1"/>
          </p:cNvSpPr>
          <p:nvPr/>
        </p:nvSpPr>
        <p:spPr>
          <a:xfrm xmlns:a="http://schemas.openxmlformats.org/drawingml/2006/main">
            <a:off x="9829800" y="2514600"/>
            <a:ext cx="1885950" cy="22669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22" name="s3-node-title-4">
            <a:extLst xmlns:a="http://schemas.openxmlformats.org/drawingml/2006/main">
              <a:ext uri="{FF2B5EF4-FFF2-40B4-BE49-F238E27FC236}">
                <a16:creationId xmlns:a16="http://schemas.microsoft.com/office/drawing/2014/main" id="{95EF5BE8-7410-4EB1-A2BF-27E979800575}"/>
              </a:ext>
            </a:extLst>
          </p:cNvPr>
          <p:cNvSpPr>
            <a:spLocks xmlns:a="http://schemas.openxmlformats.org/drawingml/2006/main" noGrp="1"/>
          </p:cNvSpPr>
          <p:nvPr/>
        </p:nvSpPr>
        <p:spPr>
          <a:xfrm xmlns:a="http://schemas.openxmlformats.org/drawingml/2006/main">
            <a:off x="10001250" y="2781300"/>
            <a:ext cx="154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B2545"/>
                </a:solidFill>
                <a:latin typeface="Arial"/>
                <a:ea typeface="Arial"/>
                <a:cs typeface="Arial"/>
              </a:defRPr>
            </a:pPr>
            <a:r>
              <a:rPr sz="1800" b="1">
                <a:solidFill>
                  <a:srgbClr val="0B2545"/>
                </a:solidFill>
                <a:latin typeface="Arial"/>
                <a:ea typeface="Arial"/>
                <a:cs typeface="Arial"/>
              </a:rPr>
              <a:t>Marts</a:t>
            </a:r>
          </a:p>
        </p:txBody>
      </p:sp>
      <p:sp>
        <p:nvSpPr>
          <p:cNvPr id="23" name="s3-node-body-4">
            <a:extLst xmlns:a="http://schemas.openxmlformats.org/drawingml/2006/main">
              <a:ext uri="{FF2B5EF4-FFF2-40B4-BE49-F238E27FC236}">
                <a16:creationId xmlns:a16="http://schemas.microsoft.com/office/drawing/2014/main" id="{E4885B98-319A-4836-A9AA-5993E32CD959}"/>
              </a:ext>
            </a:extLst>
          </p:cNvPr>
          <p:cNvSpPr>
            <a:spLocks xmlns:a="http://schemas.openxmlformats.org/drawingml/2006/main" noGrp="1"/>
          </p:cNvSpPr>
          <p:nvPr/>
        </p:nvSpPr>
        <p:spPr>
          <a:xfrm xmlns:a="http://schemas.openxmlformats.org/drawingml/2006/main">
            <a:off x="10001250" y="3295650"/>
            <a:ext cx="15430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SKU profitability</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Inventory health</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Close reconciliation</a:t>
            </a:r>
          </a:p>
        </p:txBody>
      </p:sp>
      <p:sp>
        <p:nvSpPr>
          <p:cNvPr id="24" name="s3-quality">
            <a:extLst xmlns:a="http://schemas.openxmlformats.org/drawingml/2006/main">
              <a:ext uri="{FF2B5EF4-FFF2-40B4-BE49-F238E27FC236}">
                <a16:creationId xmlns:a16="http://schemas.microsoft.com/office/drawing/2014/main" id="{7B403EE5-1D44-435B-BA81-3CF1F1CC3E5C}"/>
              </a:ext>
            </a:extLst>
          </p:cNvPr>
          <p:cNvSpPr>
            <a:spLocks xmlns:a="http://schemas.openxmlformats.org/drawingml/2006/main" noGrp="1"/>
          </p:cNvSpPr>
          <p:nvPr/>
        </p:nvSpPr>
        <p:spPr>
          <a:xfrm xmlns:a="http://schemas.openxmlformats.org/drawingml/2006/main">
            <a:off x="2857500" y="5238750"/>
            <a:ext cx="6972300" cy="781050"/>
          </a:xfrm>
          <a:prstGeom xmlns:a="http://schemas.openxmlformats.org/drawingml/2006/main" prst="rect">
            <a:avLst/>
          </a:prstGeom>
          <a:solidFill xmlns:a="http://schemas.openxmlformats.org/drawingml/2006/main">
            <a:srgbClr val="FFF4CC"/>
          </a:solidFill>
          <a:ln xmlns:a="http://schemas.openxmlformats.org/drawingml/2006/main" w="9525">
            <a:solidFill>
              <a:srgbClr val="E3B341"/>
            </a:solidFill>
            <a:prstDash val="solid"/>
          </a:ln>
        </p:spPr>
      </p:sp>
      <p:sp>
        <p:nvSpPr>
          <p:cNvPr id="25" name="s3-quality-text">
            <a:extLst xmlns:a="http://schemas.openxmlformats.org/drawingml/2006/main">
              <a:ext uri="{FF2B5EF4-FFF2-40B4-BE49-F238E27FC236}">
                <a16:creationId xmlns:a16="http://schemas.microsoft.com/office/drawing/2014/main" id="{06094C12-8370-41CD-A726-8BE90614DD8D}"/>
              </a:ext>
            </a:extLst>
          </p:cNvPr>
          <p:cNvSpPr>
            <a:spLocks xmlns:a="http://schemas.openxmlformats.org/drawingml/2006/main" noGrp="1"/>
          </p:cNvSpPr>
          <p:nvPr/>
        </p:nvSpPr>
        <p:spPr>
          <a:xfrm xmlns:a="http://schemas.openxmlformats.org/drawingml/2006/main">
            <a:off x="3105150" y="5448300"/>
            <a:ext cx="647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1">
                <a:solidFill>
                  <a:srgbClr val="9A6700"/>
                </a:solidFill>
                <a:latin typeface="Arial"/>
                <a:ea typeface="Arial"/>
                <a:cs typeface="Arial"/>
              </a:defRPr>
            </a:pPr>
            <a:r>
              <a:rPr sz="1425" b="1">
                <a:solidFill>
                  <a:srgbClr val="9A6700"/>
                </a:solidFill>
                <a:latin typeface="Arial"/>
                <a:ea typeface="Arial"/>
                <a:cs typeface="Arial"/>
              </a:rPr>
              <a:t>Quality plane: freshness • uniqueness • amount tie-outs • mapping coverage • quarantined exceptions with owners</a:t>
            </a:r>
          </a:p>
        </p:txBody>
      </p:sp>
    </p:spTree>
    <p:extLst>
      <p:ext uri="{BB962C8B-B14F-4D97-AF65-F5344CB8AC3E}">
        <p14:creationId xmlns:p14="http://schemas.microsoft.com/office/powerpoint/2010/main" val="115508757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eyebrow-4">
            <a:extLst xmlns:a="http://schemas.openxmlformats.org/drawingml/2006/main">
              <a:ext uri="{FF2B5EF4-FFF2-40B4-BE49-F238E27FC236}">
                <a16:creationId xmlns:a16="http://schemas.microsoft.com/office/drawing/2014/main" id="{028F0472-F2DD-4A51-95F1-9BEF286E126B}"/>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DATA QUALITY FINDINGS</a:t>
            </a:r>
          </a:p>
        </p:txBody>
      </p:sp>
      <p:sp>
        <p:nvSpPr>
          <p:cNvPr id="2" name="title-4">
            <a:extLst xmlns:a="http://schemas.openxmlformats.org/drawingml/2006/main">
              <a:ext uri="{FF2B5EF4-FFF2-40B4-BE49-F238E27FC236}">
                <a16:creationId xmlns:a16="http://schemas.microsoft.com/office/drawing/2014/main" id="{26614726-9DDC-4B75-8B15-17BCE47D91A3}"/>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The material data issues are manageable—if they become monitored controls</a:t>
            </a:r>
          </a:p>
        </p:txBody>
      </p:sp>
      <p:sp>
        <p:nvSpPr>
          <p:cNvPr id="3" name="footer-4">
            <a:extLst xmlns:a="http://schemas.openxmlformats.org/drawingml/2006/main">
              <a:ext uri="{FF2B5EF4-FFF2-40B4-BE49-F238E27FC236}">
                <a16:creationId xmlns:a16="http://schemas.microsoft.com/office/drawing/2014/main" id="{68967C0A-9981-4847-AA8D-5F3EC3ACA260}"/>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4</a:t>
            </a:r>
          </a:p>
        </p:txBody>
      </p:sp>
      <p:sp>
        <p:nvSpPr>
          <p:cNvPr id="4" name="s4-intro">
            <a:extLst xmlns:a="http://schemas.openxmlformats.org/drawingml/2006/main">
              <a:ext uri="{FF2B5EF4-FFF2-40B4-BE49-F238E27FC236}">
                <a16:creationId xmlns:a16="http://schemas.microsoft.com/office/drawing/2014/main" id="{82E5C4BF-16D2-48E1-87D3-DE9B3B26EBAF}"/>
              </a:ext>
            </a:extLst>
          </p:cNvPr>
          <p:cNvSpPr>
            <a:spLocks xmlns:a="http://schemas.openxmlformats.org/drawingml/2006/main" noGrp="1"/>
          </p:cNvSpPr>
          <p:nvPr/>
        </p:nvSpPr>
        <p:spPr>
          <a:xfrm xmlns:a="http://schemas.openxmlformats.org/drawingml/2006/main">
            <a:off x="533400" y="1428750"/>
            <a:ext cx="11125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556070"/>
                </a:solidFill>
                <a:latin typeface="Arial"/>
                <a:ea typeface="Arial"/>
                <a:cs typeface="Arial"/>
              </a:defRPr>
            </a:pPr>
            <a:r>
              <a:rPr sz="1575" b="0">
                <a:solidFill>
                  <a:srgbClr val="556070"/>
                </a:solidFill>
                <a:latin typeface="Arial"/>
                <a:ea typeface="Arial"/>
                <a:cs typeface="Arial"/>
              </a:rPr>
              <a:t>Every exception below is resolved explicitly in this analysis and translated into a recurring production test or workflow.</a:t>
            </a:r>
          </a:p>
        </p:txBody>
      </p:sp>
      <p:graphicFrame>
        <p:nvGraphicFramePr>
          <p:cNvPr id="11" name=""/>
          <p:cNvGraphicFramePr/>
          <p:nvPr/>
        </p:nvGraphicFramePr>
        <p:xfrm>
          <a:off xmlns:a="http://schemas.openxmlformats.org/drawingml/2006/main" x="533400" y="2133600"/>
          <a:ext xmlns:a="http://schemas.openxmlformats.org/drawingml/2006/main" cx="11125200" cy="3390900"/>
        </p:xfrm>
        <a:graphic xmlns:a="http://schemas.openxmlformats.org/drawingml/2006/main">
          <a:graphicData uri="http://schemas.openxmlformats.org/drawingml/2006/table">
            <a:tbl>
              <a:tblPr/>
              <a:tblGrid>
                <a:gridCol w="1143000"/>
                <a:gridCol w="3143250"/>
                <a:gridCol w="3048000"/>
                <a:gridCol w="3790950"/>
              </a:tblGrid>
              <a:tr h="565150">
                <a:tc>
                  <a:txBody>
                    <a:bodyPr/>
                    <a:lstStyle/>
                    <a:p>
                      <a:r>
                        <a:rPr sz="1200" b="1">
                          <a:solidFill>
                            <a:srgbClr val="FFFFFF"/>
                          </a:solidFill>
                          <a:latin typeface="Arial"/>
                          <a:ea typeface="Arial"/>
                          <a:cs typeface="Arial"/>
                        </a:rPr>
                        <a:t>Severity</a:t>
                      </a:r>
                    </a:p>
                  </a:txBody>
                  <a:tcPr marL="95250" marR="95250" marT="76200" marB="76200">
                    <a:solidFill>
                      <a:srgbClr val="0B2545"/>
                    </a:solidFill>
                  </a:tcPr>
                </a:tc>
                <a:tc>
                  <a:txBody>
                    <a:bodyPr/>
                    <a:lstStyle/>
                    <a:p>
                      <a:r>
                        <a:rPr sz="1200" b="1">
                          <a:solidFill>
                            <a:srgbClr val="FFFFFF"/>
                          </a:solidFill>
                          <a:latin typeface="Arial"/>
                          <a:ea typeface="Arial"/>
                          <a:cs typeface="Arial"/>
                        </a:rPr>
                        <a:t>Observed issue</a:t>
                      </a:r>
                    </a:p>
                  </a:txBody>
                  <a:tcPr marL="95250" marR="95250" marT="76200" marB="76200">
                    <a:solidFill>
                      <a:srgbClr val="0B2545"/>
                    </a:solidFill>
                  </a:tcPr>
                </a:tc>
                <a:tc>
                  <a:txBody>
                    <a:bodyPr/>
                    <a:lstStyle/>
                    <a:p>
                      <a:r>
                        <a:rPr sz="1200" b="1">
                          <a:solidFill>
                            <a:srgbClr val="FFFFFF"/>
                          </a:solidFill>
                          <a:latin typeface="Arial"/>
                          <a:ea typeface="Arial"/>
                          <a:cs typeface="Arial"/>
                        </a:rPr>
                        <a:t>Resolution now</a:t>
                      </a:r>
                    </a:p>
                  </a:txBody>
                  <a:tcPr marL="95250" marR="95250" marT="76200" marB="76200">
                    <a:solidFill>
                      <a:srgbClr val="0B2545"/>
                    </a:solidFill>
                  </a:tcPr>
                </a:tc>
                <a:tc>
                  <a:txBody>
                    <a:bodyPr/>
                    <a:lstStyle/>
                    <a:p>
                      <a:r>
                        <a:rPr sz="1200" b="1">
                          <a:solidFill>
                            <a:srgbClr val="FFFFFF"/>
                          </a:solidFill>
                          <a:latin typeface="Arial"/>
                          <a:ea typeface="Arial"/>
                          <a:cs typeface="Arial"/>
                        </a:rPr>
                        <a:t>Production control</a:t>
                      </a:r>
                    </a:p>
                  </a:txBody>
                  <a:tcPr marL="95250" marR="95250" marT="76200" marB="76200">
                    <a:solidFill>
                      <a:srgbClr val="0B2545"/>
                    </a:solidFill>
                  </a:tcPr>
                </a:tc>
              </a:tr>
              <a:tr h="565150">
                <a:tc>
                  <a:txBody>
                    <a:bodyPr/>
                    <a:lstStyle/>
                    <a:p>
                      <a:r>
                        <a:rPr sz="1125">
                          <a:solidFill>
                            <a:srgbClr val="000000"/>
                          </a:solidFill>
                          <a:latin typeface="Arial"/>
                          <a:ea typeface="Arial"/>
                          <a:cs typeface="Arial"/>
                        </a:rPr>
                        <a:t>High</a:t>
                      </a:r>
                    </a:p>
                  </a:txBody>
                  <a:tcPr marL="95250" marR="95250" marT="76200" marB="76200">
                    <a:solidFill>
                      <a:srgbClr val="FEE2E2"/>
                    </a:solidFill>
                  </a:tcPr>
                </a:tc>
                <a:tc>
                  <a:txBody>
                    <a:bodyPr/>
                    <a:lstStyle/>
                    <a:p>
                      <a:r>
                        <a:rPr sz="1125">
                          <a:solidFill>
                            <a:srgbClr val="000000"/>
                          </a:solidFill>
                          <a:latin typeface="Arial"/>
                          <a:ea typeface="Arial"/>
                          <a:cs typeface="Arial"/>
                        </a:rPr>
                        <a:t>2 sold SKUs lack PO cost</a:t>
                      </a:r>
                    </a:p>
                  </a:txBody>
                  <a:tcPr marL="95250" marR="95250" marT="76200" marB="76200"/>
                </a:tc>
                <a:tc>
                  <a:txBody>
                    <a:bodyPr/>
                    <a:lstStyle/>
                    <a:p>
                      <a:r>
                        <a:rPr sz="1125">
                          <a:solidFill>
                            <a:srgbClr val="000000"/>
                          </a:solidFill>
                          <a:latin typeface="Arial"/>
                          <a:ea typeface="Arial"/>
                          <a:cs typeface="Arial"/>
                        </a:rPr>
                        <a:t>Brand-median cost; flagged</a:t>
                      </a:r>
                    </a:p>
                  </a:txBody>
                  <a:tcPr marL="95250" marR="95250" marT="76200" marB="76200"/>
                </a:tc>
                <a:tc>
                  <a:txBody>
                    <a:bodyPr/>
                    <a:lstStyle/>
                    <a:p>
                      <a:r>
                        <a:rPr sz="1125">
                          <a:solidFill>
                            <a:srgbClr val="000000"/>
                          </a:solidFill>
                          <a:latin typeface="Arial"/>
                          <a:ea typeface="Arial"/>
                          <a:cs typeface="Arial"/>
                        </a:rPr>
                        <a:t>Block final CM until approved</a:t>
                      </a:r>
                    </a:p>
                  </a:txBody>
                  <a:tcPr marL="95250" marR="95250" marT="76200" marB="76200"/>
                </a:tc>
              </a:tr>
              <a:tr h="565150">
                <a:tc>
                  <a:txBody>
                    <a:bodyPr/>
                    <a:lstStyle/>
                    <a:p>
                      <a:r>
                        <a:rPr sz="1125">
                          <a:solidFill>
                            <a:srgbClr val="000000"/>
                          </a:solidFill>
                          <a:latin typeface="Arial"/>
                          <a:ea typeface="Arial"/>
                          <a:cs typeface="Arial"/>
                        </a:rPr>
                        <a:t>High</a:t>
                      </a:r>
                    </a:p>
                  </a:txBody>
                  <a:tcPr marL="95250" marR="95250" marT="76200" marB="76200">
                    <a:solidFill>
                      <a:srgbClr val="FEE2E2"/>
                    </a:solidFill>
                  </a:tcPr>
                </a:tc>
                <a:tc>
                  <a:txBody>
                    <a:bodyPr/>
                    <a:lstStyle/>
                    <a:p>
                      <a:r>
                        <a:rPr sz="1125">
                          <a:solidFill>
                            <a:srgbClr val="000000"/>
                          </a:solidFill>
                          <a:latin typeface="Arial"/>
                          <a:ea typeface="Arial"/>
                          <a:cs typeface="Arial"/>
                        </a:rPr>
                        <a:t>Dental chews ordered by case of 12</a:t>
                      </a:r>
                    </a:p>
                  </a:txBody>
                  <a:tcPr marL="95250" marR="95250" marT="76200" marB="76200"/>
                </a:tc>
                <a:tc>
                  <a:txBody>
                    <a:bodyPr/>
                    <a:lstStyle/>
                    <a:p>
                      <a:r>
                        <a:rPr sz="1125">
                          <a:solidFill>
                            <a:srgbClr val="000000"/>
                          </a:solidFill>
                          <a:latin typeface="Arial"/>
                          <a:ea typeface="Arial"/>
                          <a:cs typeface="Arial"/>
                        </a:rPr>
                        <a:t>Convert 99 cases to 1,188 units</a:t>
                      </a:r>
                    </a:p>
                  </a:txBody>
                  <a:tcPr marL="95250" marR="95250" marT="76200" marB="76200"/>
                </a:tc>
                <a:tc>
                  <a:txBody>
                    <a:bodyPr/>
                    <a:lstStyle/>
                    <a:p>
                      <a:r>
                        <a:rPr sz="1125">
                          <a:solidFill>
                            <a:srgbClr val="000000"/>
                          </a:solidFill>
                          <a:latin typeface="Arial"/>
                          <a:ea typeface="Arial"/>
                          <a:cs typeface="Arial"/>
                        </a:rPr>
                        <a:t>Effective-dated UOM bridge</a:t>
                      </a:r>
                    </a:p>
                  </a:txBody>
                  <a:tcPr marL="95250" marR="95250" marT="76200" marB="76200"/>
                </a:tc>
              </a:tr>
              <a:tr h="565150">
                <a:tc>
                  <a:txBody>
                    <a:bodyPr/>
                    <a:lstStyle/>
                    <a:p>
                      <a:r>
                        <a:rPr sz="1125">
                          <a:solidFill>
                            <a:srgbClr val="000000"/>
                          </a:solidFill>
                          <a:latin typeface="Arial"/>
                          <a:ea typeface="Arial"/>
                          <a:cs typeface="Arial"/>
                        </a:rPr>
                        <a:t>Medium</a:t>
                      </a:r>
                    </a:p>
                  </a:txBody>
                  <a:tcPr marL="95250" marR="95250" marT="76200" marB="76200">
                    <a:solidFill>
                      <a:srgbClr val="FFF4CC"/>
                    </a:solidFill>
                  </a:tcPr>
                </a:tc>
                <a:tc>
                  <a:txBody>
                    <a:bodyPr/>
                    <a:lstStyle/>
                    <a:p>
                      <a:r>
                        <a:rPr sz="1125">
                          <a:solidFill>
                            <a:srgbClr val="000000"/>
                          </a:solidFill>
                          <a:latin typeface="Arial"/>
                          <a:ea typeface="Arial"/>
                          <a:cs typeface="Arial"/>
                        </a:rPr>
                        <a:t>PF-ELECTRO-CITRUS alias</a:t>
                      </a:r>
                    </a:p>
                  </a:txBody>
                  <a:tcPr marL="95250" marR="95250" marT="76200" marB="76200"/>
                </a:tc>
                <a:tc>
                  <a:txBody>
                    <a:bodyPr/>
                    <a:lstStyle/>
                    <a:p>
                      <a:r>
                        <a:rPr sz="1125">
                          <a:solidFill>
                            <a:srgbClr val="000000"/>
                          </a:solidFill>
                          <a:latin typeface="Arial"/>
                          <a:ea typeface="Arial"/>
                          <a:cs typeface="Arial"/>
                        </a:rPr>
                        <a:t>Map to PF-ELECTRO-CIT</a:t>
                      </a:r>
                    </a:p>
                  </a:txBody>
                  <a:tcPr marL="95250" marR="95250" marT="76200" marB="76200"/>
                </a:tc>
                <a:tc>
                  <a:txBody>
                    <a:bodyPr/>
                    <a:lstStyle/>
                    <a:p>
                      <a:r>
                        <a:rPr sz="1125">
                          <a:solidFill>
                            <a:srgbClr val="000000"/>
                          </a:solidFill>
                          <a:latin typeface="Arial"/>
                          <a:ea typeface="Arial"/>
                          <a:cs typeface="Arial"/>
                        </a:rPr>
                        <a:t>Identifier bridge + uniqueness</a:t>
                      </a:r>
                    </a:p>
                  </a:txBody>
                  <a:tcPr marL="95250" marR="95250" marT="76200" marB="76200"/>
                </a:tc>
              </a:tr>
              <a:tr h="565150">
                <a:tc>
                  <a:txBody>
                    <a:bodyPr/>
                    <a:lstStyle/>
                    <a:p>
                      <a:r>
                        <a:rPr sz="1125">
                          <a:solidFill>
                            <a:srgbClr val="000000"/>
                          </a:solidFill>
                          <a:latin typeface="Arial"/>
                          <a:ea typeface="Arial"/>
                          <a:cs typeface="Arial"/>
                        </a:rPr>
                        <a:t>Medium</a:t>
                      </a:r>
                    </a:p>
                  </a:txBody>
                  <a:tcPr marL="95250" marR="95250" marT="76200" marB="76200">
                    <a:solidFill>
                      <a:srgbClr val="FFF4CC"/>
                    </a:solidFill>
                  </a:tcPr>
                </a:tc>
                <a:tc>
                  <a:txBody>
                    <a:bodyPr/>
                    <a:lstStyle/>
                    <a:p>
                      <a:r>
                        <a:rPr sz="1125">
                          <a:solidFill>
                            <a:srgbClr val="000000"/>
                          </a:solidFill>
                          <a:latin typeface="Arial"/>
                          <a:ea typeface="Arial"/>
                          <a:cs typeface="Arial"/>
                        </a:rPr>
                        <a:t>Duplicate ASIN spans two brands</a:t>
                      </a:r>
                    </a:p>
                  </a:txBody>
                  <a:tcPr marL="95250" marR="95250" marT="76200" marB="76200"/>
                </a:tc>
                <a:tc>
                  <a:txBody>
                    <a:bodyPr/>
                    <a:lstStyle/>
                    <a:p>
                      <a:r>
                        <a:rPr sz="1125">
                          <a:solidFill>
                            <a:srgbClr val="000000"/>
                          </a:solidFill>
                          <a:latin typeface="Arial"/>
                          <a:ea typeface="Arial"/>
                          <a:cs typeface="Arial"/>
                        </a:rPr>
                        <a:t>Join by SKU; quarantine ASIN-only</a:t>
                      </a:r>
                    </a:p>
                  </a:txBody>
                  <a:tcPr marL="95250" marR="95250" marT="76200" marB="76200"/>
                </a:tc>
                <a:tc>
                  <a:txBody>
                    <a:bodyPr/>
                    <a:lstStyle/>
                    <a:p>
                      <a:r>
                        <a:rPr sz="1125">
                          <a:solidFill>
                            <a:srgbClr val="000000"/>
                          </a:solidFill>
                          <a:latin typeface="Arial"/>
                          <a:ea typeface="Arial"/>
                          <a:cs typeface="Arial"/>
                        </a:rPr>
                        <a:t>Marketplace-scoped ASIN test</a:t>
                      </a:r>
                    </a:p>
                  </a:txBody>
                  <a:tcPr marL="95250" marR="95250" marT="76200" marB="76200"/>
                </a:tc>
              </a:tr>
              <a:tr h="565150">
                <a:tc>
                  <a:txBody>
                    <a:bodyPr/>
                    <a:lstStyle/>
                    <a:p>
                      <a:r>
                        <a:rPr sz="1125">
                          <a:solidFill>
                            <a:srgbClr val="000000"/>
                          </a:solidFill>
                          <a:latin typeface="Arial"/>
                          <a:ea typeface="Arial"/>
                          <a:cs typeface="Arial"/>
                        </a:rPr>
                        <a:t>Medium</a:t>
                      </a:r>
                    </a:p>
                  </a:txBody>
                  <a:tcPr marL="95250" marR="95250" marT="76200" marB="76200">
                    <a:solidFill>
                      <a:srgbClr val="FFF4CC"/>
                    </a:solidFill>
                  </a:tcPr>
                </a:tc>
                <a:tc>
                  <a:txBody>
                    <a:bodyPr/>
                    <a:lstStyle/>
                    <a:p>
                      <a:r>
                        <a:rPr sz="1125">
                          <a:solidFill>
                            <a:srgbClr val="000000"/>
                          </a:solidFill>
                          <a:latin typeface="Arial"/>
                          <a:ea typeface="Arial"/>
                          <a:cs typeface="Arial"/>
                        </a:rPr>
                        <a:t>POs lack lifecycle/receipts</a:t>
                      </a:r>
                    </a:p>
                  </a:txBody>
                  <a:tcPr marL="95250" marR="95250" marT="76200" marB="76200"/>
                </a:tc>
                <a:tc>
                  <a:txBody>
                    <a:bodyPr/>
                    <a:lstStyle/>
                    <a:p>
                      <a:r>
                        <a:rPr sz="1125">
                          <a:solidFill>
                            <a:srgbClr val="000000"/>
                          </a:solidFill>
                          <a:latin typeface="Arial"/>
                          <a:ea typeface="Arial"/>
                          <a:cs typeface="Arial"/>
                        </a:rPr>
                        <a:t>Use only for WAC, not inbound</a:t>
                      </a:r>
                    </a:p>
                  </a:txBody>
                  <a:tcPr marL="95250" marR="95250" marT="76200" marB="76200"/>
                </a:tc>
                <a:tc>
                  <a:txBody>
                    <a:bodyPr/>
                    <a:lstStyle/>
                    <a:p>
                      <a:r>
                        <a:rPr sz="1125">
                          <a:solidFill>
                            <a:srgbClr val="000000"/>
                          </a:solidFill>
                          <a:latin typeface="Arial"/>
                          <a:ea typeface="Arial"/>
                          <a:cs typeface="Arial"/>
                        </a:rPr>
                        <a:t>Ingest status, ETA, receipts</a:t>
                      </a:r>
                    </a:p>
                  </a:txBody>
                  <a:tcPr marL="95250" marR="95250" marT="76200" marB="76200"/>
                </a:tc>
              </a:tr>
            </a:tbl>
          </a:graphicData>
        </a:graphic>
      </p:graphicFrame>
      <p:sp>
        <p:nvSpPr>
          <p:cNvPr id="6" name="s4-foot">
            <a:extLst xmlns:a="http://schemas.openxmlformats.org/drawingml/2006/main">
              <a:ext uri="{FF2B5EF4-FFF2-40B4-BE49-F238E27FC236}">
                <a16:creationId xmlns:a16="http://schemas.microsoft.com/office/drawing/2014/main" id="{0651683B-FF9F-4D5A-AF36-BA81550B346A}"/>
              </a:ext>
            </a:extLst>
          </p:cNvPr>
          <p:cNvSpPr>
            <a:spLocks xmlns:a="http://schemas.openxmlformats.org/drawingml/2006/main" noGrp="1"/>
          </p:cNvSpPr>
          <p:nvPr/>
        </p:nvSpPr>
        <p:spPr>
          <a:xfrm xmlns:a="http://schemas.openxmlformats.org/drawingml/2006/main">
            <a:off x="533400" y="5829300"/>
            <a:ext cx="1112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Also reconciled: settlement components to total, PO extended cost to total, Q2 date coverage, 24/24 inventory mappings.</a:t>
            </a:r>
          </a:p>
        </p:txBody>
      </p:sp>
    </p:spTree>
    <p:extLst>
      <p:ext uri="{BB962C8B-B14F-4D97-AF65-F5344CB8AC3E}">
        <p14:creationId xmlns:p14="http://schemas.microsoft.com/office/powerpoint/2010/main" val="105236306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eyebrow-5">
            <a:extLst xmlns:a="http://schemas.openxmlformats.org/drawingml/2006/main">
              <a:ext uri="{FF2B5EF4-FFF2-40B4-BE49-F238E27FC236}">
                <a16:creationId xmlns:a16="http://schemas.microsoft.com/office/drawing/2014/main" id="{F9F17721-5259-4150-A68B-6755774FBC0B}"/>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PROFITABILITY BY BRAND</a:t>
            </a:r>
          </a:p>
        </p:txBody>
      </p:sp>
      <p:sp>
        <p:nvSpPr>
          <p:cNvPr id="2" name="title-5">
            <a:extLst xmlns:a="http://schemas.openxmlformats.org/drawingml/2006/main">
              <a:ext uri="{FF2B5EF4-FFF2-40B4-BE49-F238E27FC236}">
                <a16:creationId xmlns:a16="http://schemas.microsoft.com/office/drawing/2014/main" id="{65CD89E0-E8E5-4AEC-B5E8-DBA3C40DC931}"/>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Peak Fuel + GlowTheory generate 83% of CM1</a:t>
            </a:r>
          </a:p>
        </p:txBody>
      </p:sp>
      <p:sp>
        <p:nvSpPr>
          <p:cNvPr id="3" name="footer-5">
            <a:extLst xmlns:a="http://schemas.openxmlformats.org/drawingml/2006/main">
              <a:ext uri="{FF2B5EF4-FFF2-40B4-BE49-F238E27FC236}">
                <a16:creationId xmlns:a16="http://schemas.microsoft.com/office/drawing/2014/main" id="{24D2666A-3E59-4EB3-8A8A-5502D38AB8AC}"/>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5</a:t>
            </a:r>
          </a:p>
        </p:txBody>
      </p:sp>
      <p:graphicFrame>
        <p:nvGraphicFramePr>
          <p:cNvPr id="20" name="Chart"/>
          <p:cNvGraphicFramePr/>
          <p:nvPr/>
        </p:nvGraphicFramePr>
        <p:xfrm>
          <a:off xmlns:a="http://schemas.openxmlformats.org/drawingml/2006/main" x="533400" y="1600200"/>
          <a:ext xmlns:a="http://schemas.openxmlformats.org/drawingml/2006/main" cx="6096000" cy="4343400"/>
        </p:xfrm>
        <a:graphic xmlns:a="http://schemas.openxmlformats.org/drawingml/2006/main">
          <a:graphicData uri="http://schemas.openxmlformats.org/drawingml/2006/chart">
            <c:chart xmlns:r="http://schemas.openxmlformats.org/officeDocument/2006/relationships" xmlns:c="http://schemas.openxmlformats.org/drawingml/2006/chart" r:id="R92493e6e6b554344"/>
          </a:graphicData>
        </a:graphic>
      </p:graphicFrame>
      <p:sp>
        <p:nvSpPr>
          <p:cNvPr id="5" name="s5-rail-0">
            <a:extLst xmlns:a="http://schemas.openxmlformats.org/drawingml/2006/main">
              <a:ext uri="{FF2B5EF4-FFF2-40B4-BE49-F238E27FC236}">
                <a16:creationId xmlns:a16="http://schemas.microsoft.com/office/drawing/2014/main" id="{97117798-1AFB-4E3E-B006-7599757097CE}"/>
              </a:ext>
            </a:extLst>
          </p:cNvPr>
          <p:cNvSpPr>
            <a:spLocks xmlns:a="http://schemas.openxmlformats.org/drawingml/2006/main" noGrp="1"/>
          </p:cNvSpPr>
          <p:nvPr/>
        </p:nvSpPr>
        <p:spPr>
          <a:xfrm xmlns:a="http://schemas.openxmlformats.org/drawingml/2006/main">
            <a:off x="7086600" y="1581150"/>
            <a:ext cx="4572000" cy="12573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s5-rail-title-0">
            <a:extLst xmlns:a="http://schemas.openxmlformats.org/drawingml/2006/main">
              <a:ext uri="{FF2B5EF4-FFF2-40B4-BE49-F238E27FC236}">
                <a16:creationId xmlns:a16="http://schemas.microsoft.com/office/drawing/2014/main" id="{F662992B-0888-4CA7-9D1E-38F97C4D2698}"/>
              </a:ext>
            </a:extLst>
          </p:cNvPr>
          <p:cNvSpPr>
            <a:spLocks xmlns:a="http://schemas.openxmlformats.org/drawingml/2006/main" noGrp="1"/>
          </p:cNvSpPr>
          <p:nvPr/>
        </p:nvSpPr>
        <p:spPr>
          <a:xfrm xmlns:a="http://schemas.openxmlformats.org/drawingml/2006/main">
            <a:off x="7353300" y="17716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GlowTheory</a:t>
            </a:r>
          </a:p>
        </p:txBody>
      </p:sp>
      <p:sp>
        <p:nvSpPr>
          <p:cNvPr id="7" name="s5-rail-stat-0">
            <a:extLst xmlns:a="http://schemas.openxmlformats.org/drawingml/2006/main">
              <a:ext uri="{FF2B5EF4-FFF2-40B4-BE49-F238E27FC236}">
                <a16:creationId xmlns:a16="http://schemas.microsoft.com/office/drawing/2014/main" id="{81DEBBCF-621E-4F8A-8ECB-910C56B6BBA8}"/>
              </a:ext>
            </a:extLst>
          </p:cNvPr>
          <p:cNvSpPr>
            <a:spLocks xmlns:a="http://schemas.openxmlformats.org/drawingml/2006/main" noGrp="1"/>
          </p:cNvSpPr>
          <p:nvPr/>
        </p:nvSpPr>
        <p:spPr>
          <a:xfrm xmlns:a="http://schemas.openxmlformats.org/drawingml/2006/main">
            <a:off x="9239250" y="17716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650" b="1">
                <a:solidFill>
                  <a:srgbClr val="3D8DFF"/>
                </a:solidFill>
                <a:latin typeface="Arial"/>
                <a:ea typeface="Arial"/>
                <a:cs typeface="Arial"/>
              </a:defRPr>
            </a:pPr>
            <a:r>
              <a:rPr sz="1650" b="1">
                <a:solidFill>
                  <a:srgbClr val="3D8DFF"/>
                </a:solidFill>
                <a:latin typeface="Arial"/>
                <a:ea typeface="Arial"/>
                <a:cs typeface="Arial"/>
              </a:rPr>
              <a:t>47.9% CM1</a:t>
            </a:r>
          </a:p>
        </p:txBody>
      </p:sp>
      <p:sp>
        <p:nvSpPr>
          <p:cNvPr id="8" name="s5-rail-detail-0">
            <a:extLst xmlns:a="http://schemas.openxmlformats.org/drawingml/2006/main">
              <a:ext uri="{FF2B5EF4-FFF2-40B4-BE49-F238E27FC236}">
                <a16:creationId xmlns:a16="http://schemas.microsoft.com/office/drawing/2014/main" id="{D93B758C-9AC4-4260-9D73-C2E2C2A0D95F}"/>
              </a:ext>
            </a:extLst>
          </p:cNvPr>
          <p:cNvSpPr>
            <a:spLocks xmlns:a="http://schemas.openxmlformats.org/drawingml/2006/main" noGrp="1"/>
          </p:cNvSpPr>
          <p:nvPr/>
        </p:nvSpPr>
        <p:spPr>
          <a:xfrm xmlns:a="http://schemas.openxmlformats.org/drawingml/2006/main">
            <a:off x="7353300" y="2171700"/>
            <a:ext cx="3981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Highest margin rate; led by Vitamin C and HA serums</a:t>
            </a:r>
          </a:p>
        </p:txBody>
      </p:sp>
      <p:sp>
        <p:nvSpPr>
          <p:cNvPr id="9" name="s5-rail-1">
            <a:extLst xmlns:a="http://schemas.openxmlformats.org/drawingml/2006/main">
              <a:ext uri="{FF2B5EF4-FFF2-40B4-BE49-F238E27FC236}">
                <a16:creationId xmlns:a16="http://schemas.microsoft.com/office/drawing/2014/main" id="{23ECEE6C-0CB6-493A-8EB2-382E59652F23}"/>
              </a:ext>
            </a:extLst>
          </p:cNvPr>
          <p:cNvSpPr>
            <a:spLocks xmlns:a="http://schemas.openxmlformats.org/drawingml/2006/main" noGrp="1"/>
          </p:cNvSpPr>
          <p:nvPr/>
        </p:nvSpPr>
        <p:spPr>
          <a:xfrm xmlns:a="http://schemas.openxmlformats.org/drawingml/2006/main">
            <a:off x="7086600" y="3105150"/>
            <a:ext cx="4572000" cy="12573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0" name="s5-rail-title-1">
            <a:extLst xmlns:a="http://schemas.openxmlformats.org/drawingml/2006/main">
              <a:ext uri="{FF2B5EF4-FFF2-40B4-BE49-F238E27FC236}">
                <a16:creationId xmlns:a16="http://schemas.microsoft.com/office/drawing/2014/main" id="{0668945C-251E-4576-8FF7-6959AA8D9473}"/>
              </a:ext>
            </a:extLst>
          </p:cNvPr>
          <p:cNvSpPr>
            <a:spLocks xmlns:a="http://schemas.openxmlformats.org/drawingml/2006/main" noGrp="1"/>
          </p:cNvSpPr>
          <p:nvPr/>
        </p:nvSpPr>
        <p:spPr>
          <a:xfrm xmlns:a="http://schemas.openxmlformats.org/drawingml/2006/main">
            <a:off x="7353300" y="32956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Peak Fuel</a:t>
            </a:r>
          </a:p>
        </p:txBody>
      </p:sp>
      <p:sp>
        <p:nvSpPr>
          <p:cNvPr id="11" name="s5-rail-stat-1">
            <a:extLst xmlns:a="http://schemas.openxmlformats.org/drawingml/2006/main">
              <a:ext uri="{FF2B5EF4-FFF2-40B4-BE49-F238E27FC236}">
                <a16:creationId xmlns:a16="http://schemas.microsoft.com/office/drawing/2014/main" id="{3FE73001-90AA-4205-A44A-ED4285356132}"/>
              </a:ext>
            </a:extLst>
          </p:cNvPr>
          <p:cNvSpPr>
            <a:spLocks xmlns:a="http://schemas.openxmlformats.org/drawingml/2006/main" noGrp="1"/>
          </p:cNvSpPr>
          <p:nvPr/>
        </p:nvSpPr>
        <p:spPr>
          <a:xfrm xmlns:a="http://schemas.openxmlformats.org/drawingml/2006/main">
            <a:off x="9239250" y="32956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650" b="1">
                <a:solidFill>
                  <a:srgbClr val="3D8DFF"/>
                </a:solidFill>
                <a:latin typeface="Arial"/>
                <a:ea typeface="Arial"/>
                <a:cs typeface="Arial"/>
              </a:defRPr>
            </a:pPr>
            <a:r>
              <a:rPr sz="1650" b="1">
                <a:solidFill>
                  <a:srgbClr val="3D8DFF"/>
                </a:solidFill>
                <a:latin typeface="Arial"/>
                <a:ea typeface="Arial"/>
                <a:cs typeface="Arial"/>
              </a:rPr>
              <a:t>$22.0K CM1</a:t>
            </a:r>
          </a:p>
        </p:txBody>
      </p:sp>
      <p:sp>
        <p:nvSpPr>
          <p:cNvPr id="12" name="s5-rail-detail-1">
            <a:extLst xmlns:a="http://schemas.openxmlformats.org/drawingml/2006/main">
              <a:ext uri="{FF2B5EF4-FFF2-40B4-BE49-F238E27FC236}">
                <a16:creationId xmlns:a16="http://schemas.microsoft.com/office/drawing/2014/main" id="{A3FC525E-F3AA-4D7B-B80B-67CA179D87E7}"/>
              </a:ext>
            </a:extLst>
          </p:cNvPr>
          <p:cNvSpPr>
            <a:spLocks xmlns:a="http://schemas.openxmlformats.org/drawingml/2006/main" noGrp="1"/>
          </p:cNvSpPr>
          <p:nvPr/>
        </p:nvSpPr>
        <p:spPr>
          <a:xfrm xmlns:a="http://schemas.openxmlformats.org/drawingml/2006/main">
            <a:off x="7353300" y="3695700"/>
            <a:ext cx="3981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Largest profit pool; protect whey and creatine availability</a:t>
            </a:r>
          </a:p>
        </p:txBody>
      </p:sp>
      <p:sp>
        <p:nvSpPr>
          <p:cNvPr id="13" name="s5-rail-2">
            <a:extLst xmlns:a="http://schemas.openxmlformats.org/drawingml/2006/main">
              <a:ext uri="{FF2B5EF4-FFF2-40B4-BE49-F238E27FC236}">
                <a16:creationId xmlns:a16="http://schemas.microsoft.com/office/drawing/2014/main" id="{252335D0-94D1-4F6B-8488-EC0ACB11EFF9}"/>
              </a:ext>
            </a:extLst>
          </p:cNvPr>
          <p:cNvSpPr>
            <a:spLocks xmlns:a="http://schemas.openxmlformats.org/drawingml/2006/main" noGrp="1"/>
          </p:cNvSpPr>
          <p:nvPr/>
        </p:nvSpPr>
        <p:spPr>
          <a:xfrm xmlns:a="http://schemas.openxmlformats.org/drawingml/2006/main">
            <a:off x="7086600" y="4629150"/>
            <a:ext cx="4572000" cy="1257300"/>
          </a:xfrm>
          <a:prstGeom xmlns:a="http://schemas.openxmlformats.org/drawingml/2006/main" prst="rect">
            <a:avLst/>
          </a:prstGeom>
          <a:solidFill xmlns:a="http://schemas.openxmlformats.org/drawingml/2006/main">
            <a:srgbClr val="FFF4CC"/>
          </a:solidFill>
          <a:ln xmlns:a="http://schemas.openxmlformats.org/drawingml/2006/main" w="0">
            <a:noFill/>
            <a:prstDash val="solid"/>
          </a:ln>
        </p:spPr>
      </p:sp>
      <p:sp>
        <p:nvSpPr>
          <p:cNvPr id="14" name="s5-rail-title-2">
            <a:extLst xmlns:a="http://schemas.openxmlformats.org/drawingml/2006/main">
              <a:ext uri="{FF2B5EF4-FFF2-40B4-BE49-F238E27FC236}">
                <a16:creationId xmlns:a16="http://schemas.microsoft.com/office/drawing/2014/main" id="{28E038D0-96F2-44E6-86EC-070D9435C21A}"/>
              </a:ext>
            </a:extLst>
          </p:cNvPr>
          <p:cNvSpPr>
            <a:spLocks xmlns:a="http://schemas.openxmlformats.org/drawingml/2006/main" noGrp="1"/>
          </p:cNvSpPr>
          <p:nvPr/>
        </p:nvSpPr>
        <p:spPr>
          <a:xfrm xmlns:a="http://schemas.openxmlformats.org/drawingml/2006/main">
            <a:off x="7353300" y="48196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PawHaus</a:t>
            </a:r>
          </a:p>
        </p:txBody>
      </p:sp>
      <p:sp>
        <p:nvSpPr>
          <p:cNvPr id="15" name="s5-rail-stat-2">
            <a:extLst xmlns:a="http://schemas.openxmlformats.org/drawingml/2006/main">
              <a:ext uri="{FF2B5EF4-FFF2-40B4-BE49-F238E27FC236}">
                <a16:creationId xmlns:a16="http://schemas.microsoft.com/office/drawing/2014/main" id="{279BCC63-00F9-4A18-A38B-E29AD07B327F}"/>
              </a:ext>
            </a:extLst>
          </p:cNvPr>
          <p:cNvSpPr>
            <a:spLocks xmlns:a="http://schemas.openxmlformats.org/drawingml/2006/main" noGrp="1"/>
          </p:cNvSpPr>
          <p:nvPr/>
        </p:nvSpPr>
        <p:spPr>
          <a:xfrm xmlns:a="http://schemas.openxmlformats.org/drawingml/2006/main">
            <a:off x="9239250" y="48196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650" b="1">
                <a:solidFill>
                  <a:srgbClr val="9A6700"/>
                </a:solidFill>
                <a:latin typeface="Arial"/>
                <a:ea typeface="Arial"/>
                <a:cs typeface="Arial"/>
              </a:defRPr>
            </a:pPr>
            <a:r>
              <a:rPr sz="1650" b="1">
                <a:solidFill>
                  <a:srgbClr val="9A6700"/>
                </a:solidFill>
                <a:latin typeface="Arial"/>
                <a:ea typeface="Arial"/>
                <a:cs typeface="Arial"/>
              </a:rPr>
              <a:t>25.6% CM1</a:t>
            </a:r>
          </a:p>
        </p:txBody>
      </p:sp>
      <p:sp>
        <p:nvSpPr>
          <p:cNvPr id="16" name="s5-rail-detail-2">
            <a:extLst xmlns:a="http://schemas.openxmlformats.org/drawingml/2006/main">
              <a:ext uri="{FF2B5EF4-FFF2-40B4-BE49-F238E27FC236}">
                <a16:creationId xmlns:a16="http://schemas.microsoft.com/office/drawing/2014/main" id="{DA695141-B121-463D-985B-26623AD419AD}"/>
              </a:ext>
            </a:extLst>
          </p:cNvPr>
          <p:cNvSpPr>
            <a:spLocks xmlns:a="http://schemas.openxmlformats.org/drawingml/2006/main" noGrp="1"/>
          </p:cNvSpPr>
          <p:nvPr/>
        </p:nvSpPr>
        <p:spPr>
          <a:xfrm xmlns:a="http://schemas.openxmlformats.org/drawingml/2006/main">
            <a:off x="7353300" y="5219700"/>
            <a:ext cx="3981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Bed economics and one imputed cost suppress the brand</a:t>
            </a:r>
          </a:p>
        </p:txBody>
      </p:sp>
    </p:spTree>
    <p:extLst>
      <p:ext uri="{BB962C8B-B14F-4D97-AF65-F5344CB8AC3E}">
        <p14:creationId xmlns:p14="http://schemas.microsoft.com/office/powerpoint/2010/main" val="13396944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6">
            <a:extLst xmlns:a="http://schemas.openxmlformats.org/drawingml/2006/main">
              <a:ext uri="{FF2B5EF4-FFF2-40B4-BE49-F238E27FC236}">
                <a16:creationId xmlns:a16="http://schemas.microsoft.com/office/drawing/2014/main" id="{037EA66F-98B6-4494-A901-57690A96D6C6}"/>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PROFITABILITY BY SKU</a:t>
            </a:r>
          </a:p>
        </p:txBody>
      </p:sp>
      <p:sp>
        <p:nvSpPr>
          <p:cNvPr id="2" name="title-6">
            <a:extLst xmlns:a="http://schemas.openxmlformats.org/drawingml/2006/main">
              <a:ext uri="{FF2B5EF4-FFF2-40B4-BE49-F238E27FC236}">
                <a16:creationId xmlns:a16="http://schemas.microsoft.com/office/drawing/2014/main" id="{D37E06E3-EFFE-4882-9C69-CB46EE6FA257}"/>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Two SKUs drive 28% of CM1</a:t>
            </a:r>
          </a:p>
        </p:txBody>
      </p:sp>
      <p:sp>
        <p:nvSpPr>
          <p:cNvPr id="3" name="footer-6">
            <a:extLst xmlns:a="http://schemas.openxmlformats.org/drawingml/2006/main">
              <a:ext uri="{FF2B5EF4-FFF2-40B4-BE49-F238E27FC236}">
                <a16:creationId xmlns:a16="http://schemas.microsoft.com/office/drawing/2014/main" id="{6653F836-7D30-409F-A838-1572495905DE}"/>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6</a:t>
            </a:r>
          </a:p>
        </p:txBody>
      </p:sp>
      <p:graphicFrame>
        <p:nvGraphicFramePr>
          <p:cNvPr id="14" name="Chart"/>
          <p:cNvGraphicFramePr/>
          <p:nvPr/>
        </p:nvGraphicFramePr>
        <p:xfrm>
          <a:off xmlns:a="http://schemas.openxmlformats.org/drawingml/2006/main" x="533400" y="1562100"/>
          <a:ext xmlns:a="http://schemas.openxmlformats.org/drawingml/2006/main" cx="7239000" cy="4343400"/>
        </p:xfrm>
        <a:graphic xmlns:a="http://schemas.openxmlformats.org/drawingml/2006/main">
          <a:graphicData uri="http://schemas.openxmlformats.org/drawingml/2006/chart">
            <c:chart xmlns:r="http://schemas.openxmlformats.org/officeDocument/2006/relationships" xmlns:c="http://schemas.openxmlformats.org/drawingml/2006/chart" r:id="Rd18e186638a14b07"/>
          </a:graphicData>
        </a:graphic>
      </p:graphicFrame>
      <p:sp>
        <p:nvSpPr>
          <p:cNvPr id="5" name="s6-callout-a">
            <a:extLst xmlns:a="http://schemas.openxmlformats.org/drawingml/2006/main">
              <a:ext uri="{FF2B5EF4-FFF2-40B4-BE49-F238E27FC236}">
                <a16:creationId xmlns:a16="http://schemas.microsoft.com/office/drawing/2014/main" id="{75A9181B-D788-4B48-8EF8-A9967C9482D5}"/>
              </a:ext>
            </a:extLst>
          </p:cNvPr>
          <p:cNvSpPr>
            <a:spLocks xmlns:a="http://schemas.openxmlformats.org/drawingml/2006/main" noGrp="1"/>
          </p:cNvSpPr>
          <p:nvPr/>
        </p:nvSpPr>
        <p:spPr>
          <a:xfrm xmlns:a="http://schemas.openxmlformats.org/drawingml/2006/main">
            <a:off x="8248650" y="1695450"/>
            <a:ext cx="3409950" cy="1657350"/>
          </a:xfrm>
          <a:prstGeom xmlns:a="http://schemas.openxmlformats.org/drawingml/2006/main" prst="rect">
            <a:avLst/>
          </a:prstGeom>
          <a:solidFill xmlns:a="http://schemas.openxmlformats.org/drawingml/2006/main">
            <a:srgbClr val="D1FAE5"/>
          </a:solidFill>
          <a:ln xmlns:a="http://schemas.openxmlformats.org/drawingml/2006/main" w="0">
            <a:noFill/>
            <a:prstDash val="solid"/>
          </a:ln>
        </p:spPr>
      </p:sp>
      <p:sp>
        <p:nvSpPr>
          <p:cNvPr id="6" name="s6-callout-a-title">
            <a:extLst xmlns:a="http://schemas.openxmlformats.org/drawingml/2006/main">
              <a:ext uri="{FF2B5EF4-FFF2-40B4-BE49-F238E27FC236}">
                <a16:creationId xmlns:a16="http://schemas.microsoft.com/office/drawing/2014/main" id="{D186D967-3447-4CE8-845B-735D9EE0884B}"/>
              </a:ext>
            </a:extLst>
          </p:cNvPr>
          <p:cNvSpPr>
            <a:spLocks xmlns:a="http://schemas.openxmlformats.org/drawingml/2006/main" noGrp="1"/>
          </p:cNvSpPr>
          <p:nvPr/>
        </p:nvSpPr>
        <p:spPr>
          <a:xfrm xmlns:a="http://schemas.openxmlformats.org/drawingml/2006/main">
            <a:off x="8515350" y="2019300"/>
            <a:ext cx="2876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850" b="1">
                <a:solidFill>
                  <a:srgbClr val="0B7A53"/>
                </a:solidFill>
                <a:latin typeface="Arial"/>
                <a:ea typeface="Arial"/>
                <a:cs typeface="Arial"/>
              </a:defRPr>
            </a:pPr>
            <a:r>
              <a:rPr sz="2850" b="1">
                <a:solidFill>
                  <a:srgbClr val="0B7A53"/>
                </a:solidFill>
                <a:latin typeface="Arial"/>
                <a:ea typeface="Arial"/>
                <a:cs typeface="Arial"/>
              </a:rPr>
              <a:t>$14.1K CM1</a:t>
            </a:r>
          </a:p>
        </p:txBody>
      </p:sp>
      <p:sp>
        <p:nvSpPr>
          <p:cNvPr id="7" name="s6-callout-a-body">
            <a:extLst xmlns:a="http://schemas.openxmlformats.org/drawingml/2006/main">
              <a:ext uri="{FF2B5EF4-FFF2-40B4-BE49-F238E27FC236}">
                <a16:creationId xmlns:a16="http://schemas.microsoft.com/office/drawing/2014/main" id="{ABFCE2BE-987E-4148-A9BF-63EAA027FEE1}"/>
              </a:ext>
            </a:extLst>
          </p:cNvPr>
          <p:cNvSpPr>
            <a:spLocks xmlns:a="http://schemas.openxmlformats.org/drawingml/2006/main" noGrp="1"/>
          </p:cNvSpPr>
          <p:nvPr/>
        </p:nvSpPr>
        <p:spPr>
          <a:xfrm xmlns:a="http://schemas.openxmlformats.org/drawingml/2006/main">
            <a:off x="8515350" y="2647950"/>
            <a:ext cx="2876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a:solidFill>
                  <a:srgbClr val="000000"/>
                </a:solidFill>
                <a:latin typeface="Arial"/>
                <a:ea typeface="Arial"/>
                <a:cs typeface="Arial"/>
              </a:defRPr>
            </a:pPr>
            <a:r>
              <a:rPr sz="1425" b="0">
                <a:solidFill>
                  <a:srgbClr val="000000"/>
                </a:solidFill>
                <a:latin typeface="Arial"/>
                <a:ea typeface="Arial"/>
                <a:cs typeface="Arial"/>
              </a:rPr>
              <a:t>GT-SERUM-VITC + PF-WHEY-CHOC</a:t>
            </a:r>
          </a:p>
          <a:p xmlns:a="http://schemas.openxmlformats.org/drawingml/2006/main">
            <a:pPr algn="ctr">
              <a:defRPr sz="1425" b="0">
                <a:solidFill>
                  <a:srgbClr val="000000"/>
                </a:solidFill>
                <a:latin typeface="Arial"/>
                <a:ea typeface="Arial"/>
                <a:cs typeface="Arial"/>
              </a:defRPr>
            </a:pPr>
            <a:r>
              <a:rPr sz="1425" b="0">
                <a:solidFill>
                  <a:srgbClr val="000000"/>
                </a:solidFill>
                <a:latin typeface="Arial"/>
                <a:ea typeface="Arial"/>
                <a:cs typeface="Arial"/>
              </a:rPr>
              <a:t>= 27.6% of total CM1</a:t>
            </a:r>
          </a:p>
        </p:txBody>
      </p:sp>
      <p:sp>
        <p:nvSpPr>
          <p:cNvPr id="8" name="s6-callout-b">
            <a:extLst xmlns:a="http://schemas.openxmlformats.org/drawingml/2006/main">
              <a:ext uri="{FF2B5EF4-FFF2-40B4-BE49-F238E27FC236}">
                <a16:creationId xmlns:a16="http://schemas.microsoft.com/office/drawing/2014/main" id="{99BBEF3F-DF0A-4C99-AB8C-78A1F329D603}"/>
              </a:ext>
            </a:extLst>
          </p:cNvPr>
          <p:cNvSpPr>
            <a:spLocks xmlns:a="http://schemas.openxmlformats.org/drawingml/2006/main" noGrp="1"/>
          </p:cNvSpPr>
          <p:nvPr/>
        </p:nvSpPr>
        <p:spPr>
          <a:xfrm xmlns:a="http://schemas.openxmlformats.org/drawingml/2006/main">
            <a:off x="8248650" y="3714750"/>
            <a:ext cx="3409950" cy="1962150"/>
          </a:xfrm>
          <a:prstGeom xmlns:a="http://schemas.openxmlformats.org/drawingml/2006/main" prst="rect">
            <a:avLst/>
          </a:prstGeom>
          <a:solidFill xmlns:a="http://schemas.openxmlformats.org/drawingml/2006/main">
            <a:srgbClr val="FFF4CC"/>
          </a:solidFill>
          <a:ln xmlns:a="http://schemas.openxmlformats.org/drawingml/2006/main" w="0">
            <a:noFill/>
            <a:prstDash val="solid"/>
          </a:ln>
        </p:spPr>
      </p:sp>
      <p:sp>
        <p:nvSpPr>
          <p:cNvPr id="9" name="s6-callout-b-title">
            <a:extLst xmlns:a="http://schemas.openxmlformats.org/drawingml/2006/main">
              <a:ext uri="{FF2B5EF4-FFF2-40B4-BE49-F238E27FC236}">
                <a16:creationId xmlns:a16="http://schemas.microsoft.com/office/drawing/2014/main" id="{5DF7E2EC-25C7-4C48-A74C-6B3046A3548C}"/>
              </a:ext>
            </a:extLst>
          </p:cNvPr>
          <p:cNvSpPr>
            <a:spLocks xmlns:a="http://schemas.openxmlformats.org/drawingml/2006/main" noGrp="1"/>
          </p:cNvSpPr>
          <p:nvPr/>
        </p:nvSpPr>
        <p:spPr>
          <a:xfrm xmlns:a="http://schemas.openxmlformats.org/drawingml/2006/main">
            <a:off x="8496300" y="396240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9A6700"/>
                </a:solidFill>
                <a:latin typeface="Arial"/>
                <a:ea typeface="Arial"/>
                <a:cs typeface="Arial"/>
              </a:defRPr>
            </a:pPr>
            <a:r>
              <a:rPr sz="1800" b="1">
                <a:solidFill>
                  <a:srgbClr val="9A6700"/>
                </a:solidFill>
                <a:latin typeface="Arial"/>
                <a:ea typeface="Arial"/>
                <a:cs typeface="Arial"/>
              </a:rPr>
              <a:t>Validate before acting</a:t>
            </a:r>
          </a:p>
        </p:txBody>
      </p:sp>
      <p:sp>
        <p:nvSpPr>
          <p:cNvPr id="10" name="s6-callout-b-body">
            <a:extLst xmlns:a="http://schemas.openxmlformats.org/drawingml/2006/main">
              <a:ext uri="{FF2B5EF4-FFF2-40B4-BE49-F238E27FC236}">
                <a16:creationId xmlns:a16="http://schemas.microsoft.com/office/drawing/2014/main" id="{100CE077-34CB-4E9D-BDDD-E5C61159B59C}"/>
              </a:ext>
            </a:extLst>
          </p:cNvPr>
          <p:cNvSpPr>
            <a:spLocks xmlns:a="http://schemas.openxmlformats.org/drawingml/2006/main" noGrp="1"/>
          </p:cNvSpPr>
          <p:nvPr/>
        </p:nvSpPr>
        <p:spPr>
          <a:xfrm xmlns:a="http://schemas.openxmlformats.org/drawingml/2006/main">
            <a:off x="8496300" y="4457700"/>
            <a:ext cx="2914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GT-LIP-BALM and PH-TOY-ROPE-L use brand-median cost. Together: 2.3% of gross sales, but only 2.6% and 6.3% estimated CM1 rates.</a:t>
            </a:r>
          </a:p>
        </p:txBody>
      </p:sp>
    </p:spTree>
    <p:extLst>
      <p:ext uri="{BB962C8B-B14F-4D97-AF65-F5344CB8AC3E}">
        <p14:creationId xmlns:p14="http://schemas.microsoft.com/office/powerpoint/2010/main" val="126088971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7">
            <a:extLst xmlns:a="http://schemas.openxmlformats.org/drawingml/2006/main">
              <a:ext uri="{FF2B5EF4-FFF2-40B4-BE49-F238E27FC236}">
                <a16:creationId xmlns:a16="http://schemas.microsoft.com/office/drawing/2014/main" id="{F625E759-3706-47FC-8412-C9FD745D42CB}"/>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BELOW-CM PLATFORM OVERHEAD</a:t>
            </a:r>
          </a:p>
        </p:txBody>
      </p:sp>
      <p:sp>
        <p:nvSpPr>
          <p:cNvPr id="2" name="title-7">
            <a:extLst xmlns:a="http://schemas.openxmlformats.org/drawingml/2006/main">
              <a:ext uri="{FF2B5EF4-FFF2-40B4-BE49-F238E27FC236}">
                <a16:creationId xmlns:a16="http://schemas.microsoft.com/office/drawing/2014/main" id="{4B8035B7-3D39-4FF9-A9C9-2270728C78E0}"/>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Advertising consumes 98.7% of CM1—and storage pushes the quarter further negative</a:t>
            </a:r>
          </a:p>
        </p:txBody>
      </p:sp>
      <p:sp>
        <p:nvSpPr>
          <p:cNvPr id="3" name="footer-7">
            <a:extLst xmlns:a="http://schemas.openxmlformats.org/drawingml/2006/main">
              <a:ext uri="{FF2B5EF4-FFF2-40B4-BE49-F238E27FC236}">
                <a16:creationId xmlns:a16="http://schemas.microsoft.com/office/drawing/2014/main" id="{AD63C872-F20A-45A5-948D-3A42B8237BE1}"/>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7</a:t>
            </a:r>
          </a:p>
        </p:txBody>
      </p:sp>
      <p:graphicFrame>
        <p:nvGraphicFramePr>
          <p:cNvPr id="14" name="Chart"/>
          <p:cNvGraphicFramePr/>
          <p:nvPr/>
        </p:nvGraphicFramePr>
        <p:xfrm>
          <a:off xmlns:a="http://schemas.openxmlformats.org/drawingml/2006/main" x="533400" y="1676400"/>
          <a:ext xmlns:a="http://schemas.openxmlformats.org/drawingml/2006/main" cx="7524750" cy="4095750"/>
        </p:xfrm>
        <a:graphic xmlns:a="http://schemas.openxmlformats.org/drawingml/2006/main">
          <a:graphicData uri="http://schemas.openxmlformats.org/drawingml/2006/chart">
            <c:chart xmlns:r="http://schemas.openxmlformats.org/officeDocument/2006/relationships" xmlns:c="http://schemas.openxmlformats.org/drawingml/2006/chart" r:id="R17511e0de92a4a6d"/>
          </a:graphicData>
        </a:graphic>
      </p:graphicFrame>
      <p:sp>
        <p:nvSpPr>
          <p:cNvPr id="5" name="s7-decision">
            <a:extLst xmlns:a="http://schemas.openxmlformats.org/drawingml/2006/main">
              <a:ext uri="{FF2B5EF4-FFF2-40B4-BE49-F238E27FC236}">
                <a16:creationId xmlns:a16="http://schemas.microsoft.com/office/drawing/2014/main" id="{7CFD24F9-4265-4CC2-BE6F-DC71B12A9E05}"/>
              </a:ext>
            </a:extLst>
          </p:cNvPr>
          <p:cNvSpPr>
            <a:spLocks xmlns:a="http://schemas.openxmlformats.org/drawingml/2006/main" noGrp="1"/>
          </p:cNvSpPr>
          <p:nvPr/>
        </p:nvSpPr>
        <p:spPr>
          <a:xfrm xmlns:a="http://schemas.openxmlformats.org/drawingml/2006/main">
            <a:off x="8515350" y="1752600"/>
            <a:ext cx="3143250" cy="1714500"/>
          </a:xfrm>
          <a:prstGeom xmlns:a="http://schemas.openxmlformats.org/drawingml/2006/main" prst="rect">
            <a:avLst/>
          </a:prstGeom>
          <a:solidFill xmlns:a="http://schemas.openxmlformats.org/drawingml/2006/main">
            <a:srgbClr val="FEE2E2"/>
          </a:solidFill>
          <a:ln xmlns:a="http://schemas.openxmlformats.org/drawingml/2006/main" w="0">
            <a:noFill/>
            <a:prstDash val="solid"/>
          </a:ln>
        </p:spPr>
      </p:sp>
      <p:sp>
        <p:nvSpPr>
          <p:cNvPr id="6" name="s7-decision-stat">
            <a:extLst xmlns:a="http://schemas.openxmlformats.org/drawingml/2006/main">
              <a:ext uri="{FF2B5EF4-FFF2-40B4-BE49-F238E27FC236}">
                <a16:creationId xmlns:a16="http://schemas.microsoft.com/office/drawing/2014/main" id="{561F50A4-5F4E-418E-AC93-D783266D78A3}"/>
              </a:ext>
            </a:extLst>
          </p:cNvPr>
          <p:cNvSpPr>
            <a:spLocks xmlns:a="http://schemas.openxmlformats.org/drawingml/2006/main" noGrp="1"/>
          </p:cNvSpPr>
          <p:nvPr/>
        </p:nvSpPr>
        <p:spPr>
          <a:xfrm xmlns:a="http://schemas.openxmlformats.org/drawingml/2006/main">
            <a:off x="8763000" y="2076450"/>
            <a:ext cx="26479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300" b="1">
                <a:solidFill>
                  <a:srgbClr val="B42318"/>
                </a:solidFill>
                <a:latin typeface="Arial"/>
                <a:ea typeface="Arial"/>
                <a:cs typeface="Arial"/>
              </a:defRPr>
            </a:pPr>
            <a:r>
              <a:rPr sz="3300" b="1">
                <a:solidFill>
                  <a:srgbClr val="B42318"/>
                </a:solidFill>
                <a:latin typeface="Arial"/>
                <a:ea typeface="Arial"/>
                <a:cs typeface="Arial"/>
              </a:rPr>
              <a:t>($5.5K)</a:t>
            </a:r>
          </a:p>
        </p:txBody>
      </p:sp>
      <p:sp>
        <p:nvSpPr>
          <p:cNvPr id="7" name="s7-decision-label">
            <a:extLst xmlns:a="http://schemas.openxmlformats.org/drawingml/2006/main">
              <a:ext uri="{FF2B5EF4-FFF2-40B4-BE49-F238E27FC236}">
                <a16:creationId xmlns:a16="http://schemas.microsoft.com/office/drawing/2014/main" id="{D85C781A-4D9B-4944-BBC3-DB0A24089CD8}"/>
              </a:ext>
            </a:extLst>
          </p:cNvPr>
          <p:cNvSpPr>
            <a:spLocks xmlns:a="http://schemas.openxmlformats.org/drawingml/2006/main" noGrp="1"/>
          </p:cNvSpPr>
          <p:nvPr/>
        </p:nvSpPr>
        <p:spPr>
          <a:xfrm xmlns:a="http://schemas.openxmlformats.org/drawingml/2006/main">
            <a:off x="8763000" y="2781300"/>
            <a:ext cx="2647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00000"/>
                </a:solidFill>
                <a:latin typeface="Arial"/>
                <a:ea typeface="Arial"/>
                <a:cs typeface="Arial"/>
              </a:defRPr>
            </a:pPr>
            <a:r>
              <a:rPr sz="1650" b="1">
                <a:solidFill>
                  <a:srgbClr val="000000"/>
                </a:solidFill>
                <a:latin typeface="Arial"/>
                <a:ea typeface="Arial"/>
                <a:cs typeface="Arial"/>
              </a:rPr>
              <a:t>After platform overhead</a:t>
            </a:r>
          </a:p>
        </p:txBody>
      </p:sp>
      <p:sp>
        <p:nvSpPr>
          <p:cNvPr id="8" name="s7-action">
            <a:extLst xmlns:a="http://schemas.openxmlformats.org/drawingml/2006/main">
              <a:ext uri="{FF2B5EF4-FFF2-40B4-BE49-F238E27FC236}">
                <a16:creationId xmlns:a16="http://schemas.microsoft.com/office/drawing/2014/main" id="{8F49F4CA-A83C-474E-B6A0-0862C0D028E4}"/>
              </a:ext>
            </a:extLst>
          </p:cNvPr>
          <p:cNvSpPr>
            <a:spLocks xmlns:a="http://schemas.openxmlformats.org/drawingml/2006/main" noGrp="1"/>
          </p:cNvSpPr>
          <p:nvPr/>
        </p:nvSpPr>
        <p:spPr>
          <a:xfrm xmlns:a="http://schemas.openxmlformats.org/drawingml/2006/main">
            <a:off x="8515350" y="3829050"/>
            <a:ext cx="3143250" cy="19431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9" name="s7-action-title">
            <a:extLst xmlns:a="http://schemas.openxmlformats.org/drawingml/2006/main">
              <a:ext uri="{FF2B5EF4-FFF2-40B4-BE49-F238E27FC236}">
                <a16:creationId xmlns:a16="http://schemas.microsoft.com/office/drawing/2014/main" id="{9E28549C-8A91-4DD3-86D6-66C82DD18449}"/>
              </a:ext>
            </a:extLst>
          </p:cNvPr>
          <p:cNvSpPr>
            <a:spLocks xmlns:a="http://schemas.openxmlformats.org/drawingml/2006/main" noGrp="1"/>
          </p:cNvSpPr>
          <p:nvPr/>
        </p:nvSpPr>
        <p:spPr>
          <a:xfrm xmlns:a="http://schemas.openxmlformats.org/drawingml/2006/main">
            <a:off x="8763000" y="4076700"/>
            <a:ext cx="2647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Management implication</a:t>
            </a:r>
          </a:p>
        </p:txBody>
      </p:sp>
      <p:sp>
        <p:nvSpPr>
          <p:cNvPr id="10" name="s7-action-body">
            <a:extLst xmlns:a="http://schemas.openxmlformats.org/drawingml/2006/main">
              <a:ext uri="{FF2B5EF4-FFF2-40B4-BE49-F238E27FC236}">
                <a16:creationId xmlns:a16="http://schemas.microsoft.com/office/drawing/2014/main" id="{92572B79-7929-41E9-98C3-E48030A3DE16}"/>
              </a:ext>
            </a:extLst>
          </p:cNvPr>
          <p:cNvSpPr>
            <a:spLocks xmlns:a="http://schemas.openxmlformats.org/drawingml/2006/main" noGrp="1"/>
          </p:cNvSpPr>
          <p:nvPr/>
        </p:nvSpPr>
        <p:spPr>
          <a:xfrm xmlns:a="http://schemas.openxmlformats.org/drawingml/2006/main">
            <a:off x="8763000" y="4552950"/>
            <a:ext cx="26479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Ingest campaign + advertised-SKU detail. Govern spend to CM after ads—not revenue or ROAS alone. Add SKU storage detail before allocating carrying cost.</a:t>
            </a:r>
          </a:p>
        </p:txBody>
      </p:sp>
    </p:spTree>
    <p:extLst>
      <p:ext uri="{BB962C8B-B14F-4D97-AF65-F5344CB8AC3E}">
        <p14:creationId xmlns:p14="http://schemas.microsoft.com/office/powerpoint/2010/main" val="95096383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8">
            <a:extLst xmlns:a="http://schemas.openxmlformats.org/drawingml/2006/main">
              <a:ext uri="{FF2B5EF4-FFF2-40B4-BE49-F238E27FC236}">
                <a16:creationId xmlns:a16="http://schemas.microsoft.com/office/drawing/2014/main" id="{FD6EF5F2-A8E8-43BF-BD45-C4A130331C0E}"/>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INVENTORY SNAPSHOT | 2026-06-30</a:t>
            </a:r>
          </a:p>
        </p:txBody>
      </p:sp>
      <p:sp>
        <p:nvSpPr>
          <p:cNvPr id="2" name="title-8">
            <a:extLst xmlns:a="http://schemas.openxmlformats.org/drawingml/2006/main">
              <a:ext uri="{FF2B5EF4-FFF2-40B4-BE49-F238E27FC236}">
                <a16:creationId xmlns:a16="http://schemas.microsoft.com/office/drawing/2014/main" id="{4ADF60F4-C2E9-466E-9266-E2C7EBD48E79}"/>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Inventory is simultaneously tight on proven winners and excessive across slow movers</a:t>
            </a:r>
          </a:p>
        </p:txBody>
      </p:sp>
      <p:sp>
        <p:nvSpPr>
          <p:cNvPr id="3" name="footer-8">
            <a:extLst xmlns:a="http://schemas.openxmlformats.org/drawingml/2006/main">
              <a:ext uri="{FF2B5EF4-FFF2-40B4-BE49-F238E27FC236}">
                <a16:creationId xmlns:a16="http://schemas.microsoft.com/office/drawing/2014/main" id="{DA068F9D-718F-4BC0-A66D-E425A712874D}"/>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8</a:t>
            </a:r>
          </a:p>
        </p:txBody>
      </p:sp>
      <p:sp>
        <p:nvSpPr>
          <p:cNvPr id="4" name="s8-intro">
            <a:extLst xmlns:a="http://schemas.openxmlformats.org/drawingml/2006/main">
              <a:ext uri="{FF2B5EF4-FFF2-40B4-BE49-F238E27FC236}">
                <a16:creationId xmlns:a16="http://schemas.microsoft.com/office/drawing/2014/main" id="{1CA2EB20-9061-4404-B246-C37427EFF4EB}"/>
              </a:ext>
            </a:extLst>
          </p:cNvPr>
          <p:cNvSpPr>
            <a:spLocks xmlns:a="http://schemas.openxmlformats.org/drawingml/2006/main" noGrp="1"/>
          </p:cNvSpPr>
          <p:nvPr/>
        </p:nvSpPr>
        <p:spPr>
          <a:xfrm xmlns:a="http://schemas.openxmlformats.org/drawingml/2006/main">
            <a:off x="533400" y="1428750"/>
            <a:ext cx="111252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556070"/>
                </a:solidFill>
                <a:latin typeface="Arial"/>
                <a:ea typeface="Arial"/>
                <a:cs typeface="Arial"/>
              </a:defRPr>
            </a:pPr>
            <a:r>
              <a:rPr sz="1575" b="0">
                <a:solidFill>
                  <a:srgbClr val="556070"/>
                </a:solidFill>
                <a:latin typeface="Arial"/>
                <a:ea typeface="Arial"/>
                <a:cs typeface="Arial"/>
              </a:rPr>
              <a:t>Days cover uses Q2 net units / 91 days and fulfillable on-hand. Inbound is shown separately; PO quantities are not assumed to be inbound.</a:t>
            </a:r>
          </a:p>
        </p:txBody>
      </p:sp>
      <p:sp>
        <p:nvSpPr>
          <p:cNvPr id="5" name="s8-left-head">
            <a:extLst xmlns:a="http://schemas.openxmlformats.org/drawingml/2006/main">
              <a:ext uri="{FF2B5EF4-FFF2-40B4-BE49-F238E27FC236}">
                <a16:creationId xmlns:a16="http://schemas.microsoft.com/office/drawing/2014/main" id="{52D095A8-678D-4B63-9A41-1DA4CE14A3F6}"/>
              </a:ext>
            </a:extLst>
          </p:cNvPr>
          <p:cNvSpPr>
            <a:spLocks xmlns:a="http://schemas.openxmlformats.org/drawingml/2006/main" noGrp="1"/>
          </p:cNvSpPr>
          <p:nvPr/>
        </p:nvSpPr>
        <p:spPr>
          <a:xfrm xmlns:a="http://schemas.openxmlformats.org/drawingml/2006/main">
            <a:off x="533400" y="2286000"/>
            <a:ext cx="504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B42318"/>
                </a:solidFill>
                <a:latin typeface="Arial"/>
                <a:ea typeface="Arial"/>
                <a:cs typeface="Arial"/>
              </a:defRPr>
            </a:pPr>
            <a:r>
              <a:rPr sz="2100" b="1">
                <a:solidFill>
                  <a:srgbClr val="B42318"/>
                </a:solidFill>
                <a:latin typeface="Arial"/>
                <a:ea typeface="Arial"/>
                <a:cs typeface="Arial"/>
              </a:rPr>
              <a:t>Act now: protect availability</a:t>
            </a:r>
          </a:p>
        </p:txBody>
      </p:sp>
      <p:sp>
        <p:nvSpPr>
          <p:cNvPr id="6" name="s8-right-head">
            <a:extLst xmlns:a="http://schemas.openxmlformats.org/drawingml/2006/main">
              <a:ext uri="{FF2B5EF4-FFF2-40B4-BE49-F238E27FC236}">
                <a16:creationId xmlns:a16="http://schemas.microsoft.com/office/drawing/2014/main" id="{2ACBDC5C-F173-4166-A9A3-1754330B9DD4}"/>
              </a:ext>
            </a:extLst>
          </p:cNvPr>
          <p:cNvSpPr>
            <a:spLocks xmlns:a="http://schemas.openxmlformats.org/drawingml/2006/main" noGrp="1"/>
          </p:cNvSpPr>
          <p:nvPr/>
        </p:nvSpPr>
        <p:spPr>
          <a:xfrm xmlns:a="http://schemas.openxmlformats.org/drawingml/2006/main">
            <a:off x="6343650" y="2286000"/>
            <a:ext cx="53149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9A6700"/>
                </a:solidFill>
                <a:latin typeface="Arial"/>
                <a:ea typeface="Arial"/>
                <a:cs typeface="Arial"/>
              </a:defRPr>
            </a:pPr>
            <a:r>
              <a:rPr sz="2100" b="1">
                <a:solidFill>
                  <a:srgbClr val="9A6700"/>
                </a:solidFill>
                <a:latin typeface="Arial"/>
                <a:ea typeface="Arial"/>
                <a:cs typeface="Arial"/>
              </a:rPr>
              <a:t>Stop and review: cash tied in slow movers</a:t>
            </a:r>
          </a:p>
        </p:txBody>
      </p:sp>
      <p:graphicFrame>
        <p:nvGraphicFramePr>
          <p:cNvPr id="17" name=""/>
          <p:cNvGraphicFramePr/>
          <p:nvPr/>
        </p:nvGraphicFramePr>
        <p:xfrm>
          <a:off xmlns:a="http://schemas.openxmlformats.org/drawingml/2006/main" x="533400" y="2895600"/>
          <a:ext xmlns:a="http://schemas.openxmlformats.org/drawingml/2006/main" cx="5048250" cy="2286000"/>
        </p:xfrm>
        <a:graphic xmlns:a="http://schemas.openxmlformats.org/drawingml/2006/main">
          <a:graphicData uri="http://schemas.openxmlformats.org/drawingml/2006/table">
            <a:tbl>
              <a:tblPr/>
              <a:tblGrid>
                <a:gridCol w="2095500"/>
                <a:gridCol w="1047750"/>
                <a:gridCol w="857250"/>
                <a:gridCol w="1047750"/>
              </a:tblGrid>
              <a:tr h="571500">
                <a:tc>
                  <a:txBody>
                    <a:bodyPr/>
                    <a:lstStyle/>
                    <a:p>
                      <a:r>
                        <a:rPr sz="1200" b="1">
                          <a:solidFill>
                            <a:srgbClr val="FFFFFF"/>
                          </a:solidFill>
                          <a:latin typeface="Arial"/>
                          <a:ea typeface="Arial"/>
                          <a:cs typeface="Arial"/>
                        </a:rPr>
                        <a:t>SKU</a:t>
                      </a:r>
                    </a:p>
                  </a:txBody>
                  <a:tcPr marL="95250" marR="95250" marT="76200" marB="76200">
                    <a:solidFill>
                      <a:srgbClr val="0B2545"/>
                    </a:solidFill>
                  </a:tcPr>
                </a:tc>
                <a:tc>
                  <a:txBody>
                    <a:bodyPr/>
                    <a:lstStyle/>
                    <a:p>
                      <a:r>
                        <a:rPr sz="1200" b="1">
                          <a:solidFill>
                            <a:srgbClr val="FFFFFF"/>
                          </a:solidFill>
                          <a:latin typeface="Arial"/>
                          <a:ea typeface="Arial"/>
                          <a:cs typeface="Arial"/>
                        </a:rPr>
                        <a:t>Fulfillable</a:t>
                      </a:r>
                    </a:p>
                  </a:txBody>
                  <a:tcPr marL="95250" marR="95250" marT="76200" marB="76200">
                    <a:solidFill>
                      <a:srgbClr val="0B2545"/>
                    </a:solidFill>
                  </a:tcPr>
                </a:tc>
                <a:tc>
                  <a:txBody>
                    <a:bodyPr/>
                    <a:lstStyle/>
                    <a:p>
                      <a:r>
                        <a:rPr sz="1200" b="1">
                          <a:solidFill>
                            <a:srgbClr val="FFFFFF"/>
                          </a:solidFill>
                          <a:latin typeface="Arial"/>
                          <a:ea typeface="Arial"/>
                          <a:cs typeface="Arial"/>
                        </a:rPr>
                        <a:t>Inbound</a:t>
                      </a:r>
                    </a:p>
                  </a:txBody>
                  <a:tcPr marL="95250" marR="95250" marT="76200" marB="76200">
                    <a:solidFill>
                      <a:srgbClr val="0B2545"/>
                    </a:solidFill>
                  </a:tcPr>
                </a:tc>
                <a:tc>
                  <a:txBody>
                    <a:bodyPr/>
                    <a:lstStyle/>
                    <a:p>
                      <a:r>
                        <a:rPr sz="1200" b="1">
                          <a:solidFill>
                            <a:srgbClr val="FFFFFF"/>
                          </a:solidFill>
                          <a:latin typeface="Arial"/>
                          <a:ea typeface="Arial"/>
                          <a:cs typeface="Arial"/>
                        </a:rPr>
                        <a:t>Days cover</a:t>
                      </a:r>
                    </a:p>
                  </a:txBody>
                  <a:tcPr marL="95250" marR="95250" marT="76200" marB="76200">
                    <a:solidFill>
                      <a:srgbClr val="0B2545"/>
                    </a:solidFill>
                  </a:tcPr>
                </a:tc>
              </a:tr>
              <a:tr h="571500">
                <a:tc>
                  <a:txBody>
                    <a:bodyPr/>
                    <a:lstStyle/>
                    <a:p>
                      <a:r>
                        <a:rPr sz="1125">
                          <a:solidFill>
                            <a:srgbClr val="000000"/>
                          </a:solidFill>
                          <a:latin typeface="Arial"/>
                          <a:ea typeface="Arial"/>
                          <a:cs typeface="Arial"/>
                        </a:rPr>
                        <a:t>PF-WHEY-CHOC</a:t>
                      </a:r>
                    </a:p>
                  </a:txBody>
                  <a:tcPr marL="95250" marR="95250" marT="76200" marB="76200"/>
                </a:tc>
                <a:tc>
                  <a:txBody>
                    <a:bodyPr/>
                    <a:lstStyle/>
                    <a:p>
                      <a:r>
                        <a:rPr sz="1125">
                          <a:solidFill>
                            <a:srgbClr val="000000"/>
                          </a:solidFill>
                          <a:latin typeface="Arial"/>
                          <a:ea typeface="Arial"/>
                          <a:cs typeface="Arial"/>
                        </a:rPr>
                        <a:t>205</a:t>
                      </a:r>
                    </a:p>
                  </a:txBody>
                  <a:tcPr marL="95250" marR="95250" marT="76200" marB="76200"/>
                </a:tc>
                <a:tc>
                  <a:txBody>
                    <a:bodyPr/>
                    <a:lstStyle/>
                    <a:p>
                      <a:r>
                        <a:rPr sz="1125">
                          <a:solidFill>
                            <a:srgbClr val="000000"/>
                          </a:solidFill>
                          <a:latin typeface="Arial"/>
                          <a:ea typeface="Arial"/>
                          <a:cs typeface="Arial"/>
                        </a:rPr>
                        <a:t>0</a:t>
                      </a:r>
                    </a:p>
                  </a:txBody>
                  <a:tcPr marL="95250" marR="95250" marT="76200" marB="76200"/>
                </a:tc>
                <a:tc>
                  <a:txBody>
                    <a:bodyPr/>
                    <a:lstStyle/>
                    <a:p>
                      <a:r>
                        <a:rPr sz="1125">
                          <a:solidFill>
                            <a:srgbClr val="000000"/>
                          </a:solidFill>
                          <a:latin typeface="Arial"/>
                          <a:ea typeface="Arial"/>
                          <a:cs typeface="Arial"/>
                        </a:rPr>
                        <a:t>47</a:t>
                      </a:r>
                    </a:p>
                  </a:txBody>
                  <a:tcPr marL="95250" marR="95250" marT="76200" marB="76200"/>
                </a:tc>
              </a:tr>
              <a:tr h="571500">
                <a:tc>
                  <a:txBody>
                    <a:bodyPr/>
                    <a:lstStyle/>
                    <a:p>
                      <a:r>
                        <a:rPr sz="1125">
                          <a:solidFill>
                            <a:srgbClr val="000000"/>
                          </a:solidFill>
                          <a:latin typeface="Arial"/>
                          <a:ea typeface="Arial"/>
                          <a:cs typeface="Arial"/>
                        </a:rPr>
                        <a:t>GT-SERUM-VITC</a:t>
                      </a:r>
                    </a:p>
                  </a:txBody>
                  <a:tcPr marL="95250" marR="95250" marT="76200" marB="76200"/>
                </a:tc>
                <a:tc>
                  <a:txBody>
                    <a:bodyPr/>
                    <a:lstStyle/>
                    <a:p>
                      <a:r>
                        <a:rPr sz="1125">
                          <a:solidFill>
                            <a:srgbClr val="000000"/>
                          </a:solidFill>
                          <a:latin typeface="Arial"/>
                          <a:ea typeface="Arial"/>
                          <a:cs typeface="Arial"/>
                        </a:rPr>
                        <a:t>299</a:t>
                      </a:r>
                    </a:p>
                  </a:txBody>
                  <a:tcPr marL="95250" marR="95250" marT="76200" marB="76200"/>
                </a:tc>
                <a:tc>
                  <a:txBody>
                    <a:bodyPr/>
                    <a:lstStyle/>
                    <a:p>
                      <a:r>
                        <a:rPr sz="1125">
                          <a:solidFill>
                            <a:srgbClr val="000000"/>
                          </a:solidFill>
                          <a:latin typeface="Arial"/>
                          <a:ea typeface="Arial"/>
                          <a:cs typeface="Arial"/>
                        </a:rPr>
                        <a:t>0</a:t>
                      </a:r>
                    </a:p>
                  </a:txBody>
                  <a:tcPr marL="95250" marR="95250" marT="76200" marB="76200"/>
                </a:tc>
                <a:tc>
                  <a:txBody>
                    <a:bodyPr/>
                    <a:lstStyle/>
                    <a:p>
                      <a:r>
                        <a:rPr sz="1125">
                          <a:solidFill>
                            <a:srgbClr val="000000"/>
                          </a:solidFill>
                          <a:latin typeface="Arial"/>
                          <a:ea typeface="Arial"/>
                          <a:cs typeface="Arial"/>
                        </a:rPr>
                        <a:t>56</a:t>
                      </a:r>
                    </a:p>
                  </a:txBody>
                  <a:tcPr marL="95250" marR="95250" marT="76200" marB="76200"/>
                </a:tc>
              </a:tr>
              <a:tr h="571500">
                <a:tc>
                  <a:txBody>
                    <a:bodyPr/>
                    <a:lstStyle/>
                    <a:p>
                      <a:r>
                        <a:rPr sz="1125">
                          <a:solidFill>
                            <a:srgbClr val="000000"/>
                          </a:solidFill>
                          <a:latin typeface="Arial"/>
                          <a:ea typeface="Arial"/>
                          <a:cs typeface="Arial"/>
                        </a:rPr>
                        <a:t>PH-CHEW-BULLY-6</a:t>
                      </a:r>
                    </a:p>
                  </a:txBody>
                  <a:tcPr marL="95250" marR="95250" marT="76200" marB="76200"/>
                </a:tc>
                <a:tc>
                  <a:txBody>
                    <a:bodyPr/>
                    <a:lstStyle/>
                    <a:p>
                      <a:r>
                        <a:rPr sz="1125">
                          <a:solidFill>
                            <a:srgbClr val="000000"/>
                          </a:solidFill>
                          <a:latin typeface="Arial"/>
                          <a:ea typeface="Arial"/>
                          <a:cs typeface="Arial"/>
                        </a:rPr>
                        <a:t>428</a:t>
                      </a:r>
                    </a:p>
                  </a:txBody>
                  <a:tcPr marL="95250" marR="95250" marT="76200" marB="76200"/>
                </a:tc>
                <a:tc>
                  <a:txBody>
                    <a:bodyPr/>
                    <a:lstStyle/>
                    <a:p>
                      <a:r>
                        <a:rPr sz="1125">
                          <a:solidFill>
                            <a:srgbClr val="000000"/>
                          </a:solidFill>
                          <a:latin typeface="Arial"/>
                          <a:ea typeface="Arial"/>
                          <a:cs typeface="Arial"/>
                        </a:rPr>
                        <a:t>300</a:t>
                      </a:r>
                    </a:p>
                  </a:txBody>
                  <a:tcPr marL="95250" marR="95250" marT="76200" marB="76200"/>
                </a:tc>
                <a:tc>
                  <a:txBody>
                    <a:bodyPr/>
                    <a:lstStyle/>
                    <a:p>
                      <a:r>
                        <a:rPr sz="1125">
                          <a:solidFill>
                            <a:srgbClr val="000000"/>
                          </a:solidFill>
                          <a:latin typeface="Arial"/>
                          <a:ea typeface="Arial"/>
                          <a:cs typeface="Arial"/>
                        </a:rPr>
                        <a:t>133</a:t>
                      </a:r>
                    </a:p>
                  </a:txBody>
                  <a:tcPr marL="95250" marR="95250" marT="76200" marB="76200"/>
                </a:tc>
              </a:tr>
            </a:tbl>
          </a:graphicData>
        </a:graphic>
      </p:graphicFrame>
      <p:graphicFrame>
        <p:nvGraphicFramePr>
          <p:cNvPr id="18" name=""/>
          <p:cNvGraphicFramePr/>
          <p:nvPr/>
        </p:nvGraphicFramePr>
        <p:xfrm>
          <a:off xmlns:a="http://schemas.openxmlformats.org/drawingml/2006/main" x="6343650" y="2895600"/>
          <a:ext xmlns:a="http://schemas.openxmlformats.org/drawingml/2006/main" cx="5314950" cy="2705100"/>
        </p:xfrm>
        <a:graphic xmlns:a="http://schemas.openxmlformats.org/drawingml/2006/main">
          <a:graphicData uri="http://schemas.openxmlformats.org/drawingml/2006/table">
            <a:tbl>
              <a:tblPr/>
              <a:tblGrid>
                <a:gridCol w="2190750"/>
                <a:gridCol w="1104900"/>
                <a:gridCol w="914400"/>
                <a:gridCol w="1104900"/>
              </a:tblGrid>
              <a:tr h="541020">
                <a:tc>
                  <a:txBody>
                    <a:bodyPr/>
                    <a:lstStyle/>
                    <a:p>
                      <a:r>
                        <a:rPr sz="1200" b="1">
                          <a:solidFill>
                            <a:srgbClr val="FFFFFF"/>
                          </a:solidFill>
                          <a:latin typeface="Arial"/>
                          <a:ea typeface="Arial"/>
                          <a:cs typeface="Arial"/>
                        </a:rPr>
                        <a:t>SKU</a:t>
                      </a:r>
                    </a:p>
                  </a:txBody>
                  <a:tcPr marL="95250" marR="95250" marT="76200" marB="76200">
                    <a:solidFill>
                      <a:srgbClr val="0B2545"/>
                    </a:solidFill>
                  </a:tcPr>
                </a:tc>
                <a:tc>
                  <a:txBody>
                    <a:bodyPr/>
                    <a:lstStyle/>
                    <a:p>
                      <a:r>
                        <a:rPr sz="1200" b="1">
                          <a:solidFill>
                            <a:srgbClr val="FFFFFF"/>
                          </a:solidFill>
                          <a:latin typeface="Arial"/>
                          <a:ea typeface="Arial"/>
                          <a:cs typeface="Arial"/>
                        </a:rPr>
                        <a:t>Fulfillable</a:t>
                      </a:r>
                    </a:p>
                  </a:txBody>
                  <a:tcPr marL="95250" marR="95250" marT="76200" marB="76200">
                    <a:solidFill>
                      <a:srgbClr val="0B2545"/>
                    </a:solidFill>
                  </a:tcPr>
                </a:tc>
                <a:tc>
                  <a:txBody>
                    <a:bodyPr/>
                    <a:lstStyle/>
                    <a:p>
                      <a:r>
                        <a:rPr sz="1200" b="1">
                          <a:solidFill>
                            <a:srgbClr val="FFFFFF"/>
                          </a:solidFill>
                          <a:latin typeface="Arial"/>
                          <a:ea typeface="Arial"/>
                          <a:cs typeface="Arial"/>
                        </a:rPr>
                        <a:t>Inbound</a:t>
                      </a:r>
                    </a:p>
                  </a:txBody>
                  <a:tcPr marL="95250" marR="95250" marT="76200" marB="76200">
                    <a:solidFill>
                      <a:srgbClr val="0B2545"/>
                    </a:solidFill>
                  </a:tcPr>
                </a:tc>
                <a:tc>
                  <a:txBody>
                    <a:bodyPr/>
                    <a:lstStyle/>
                    <a:p>
                      <a:r>
                        <a:rPr sz="1200" b="1">
                          <a:solidFill>
                            <a:srgbClr val="FFFFFF"/>
                          </a:solidFill>
                          <a:latin typeface="Arial"/>
                          <a:ea typeface="Arial"/>
                          <a:cs typeface="Arial"/>
                        </a:rPr>
                        <a:t>Days cover</a:t>
                      </a:r>
                    </a:p>
                  </a:txBody>
                  <a:tcPr marL="95250" marR="95250" marT="76200" marB="76200">
                    <a:solidFill>
                      <a:srgbClr val="0B2545"/>
                    </a:solidFill>
                  </a:tcPr>
                </a:tc>
              </a:tr>
              <a:tr h="541020">
                <a:tc>
                  <a:txBody>
                    <a:bodyPr/>
                    <a:lstStyle/>
                    <a:p>
                      <a:r>
                        <a:rPr sz="1125">
                          <a:solidFill>
                            <a:srgbClr val="000000"/>
                          </a:solidFill>
                          <a:latin typeface="Arial"/>
                          <a:ea typeface="Arial"/>
                          <a:cs typeface="Arial"/>
                        </a:rPr>
                        <a:t>GT-LIP-BALM</a:t>
                      </a:r>
                    </a:p>
                  </a:txBody>
                  <a:tcPr marL="95250" marR="95250" marT="76200" marB="76200"/>
                </a:tc>
                <a:tc>
                  <a:txBody>
                    <a:bodyPr/>
                    <a:lstStyle/>
                    <a:p>
                      <a:r>
                        <a:rPr sz="1125">
                          <a:solidFill>
                            <a:srgbClr val="000000"/>
                          </a:solidFill>
                          <a:latin typeface="Arial"/>
                          <a:ea typeface="Arial"/>
                          <a:cs typeface="Arial"/>
                        </a:rPr>
                        <a:t>1,182</a:t>
                      </a:r>
                    </a:p>
                  </a:txBody>
                  <a:tcPr marL="95250" marR="95250" marT="76200" marB="76200"/>
                </a:tc>
                <a:tc>
                  <a:txBody>
                    <a:bodyPr/>
                    <a:lstStyle/>
                    <a:p>
                      <a:r>
                        <a:rPr sz="1125">
                          <a:solidFill>
                            <a:srgbClr val="000000"/>
                          </a:solidFill>
                          <a:latin typeface="Arial"/>
                          <a:ea typeface="Arial"/>
                          <a:cs typeface="Arial"/>
                        </a:rPr>
                        <a:t>300</a:t>
                      </a:r>
                    </a:p>
                  </a:txBody>
                  <a:tcPr marL="95250" marR="95250" marT="76200" marB="76200"/>
                </a:tc>
                <a:tc>
                  <a:txBody>
                    <a:bodyPr/>
                    <a:lstStyle/>
                    <a:p>
                      <a:r>
                        <a:rPr sz="1125">
                          <a:solidFill>
                            <a:srgbClr val="000000"/>
                          </a:solidFill>
                          <a:latin typeface="Arial"/>
                          <a:ea typeface="Arial"/>
                          <a:cs typeface="Arial"/>
                        </a:rPr>
                        <a:t>4,677</a:t>
                      </a:r>
                    </a:p>
                  </a:txBody>
                  <a:tcPr marL="95250" marR="95250" marT="76200" marB="76200"/>
                </a:tc>
              </a:tr>
              <a:tr h="541020">
                <a:tc>
                  <a:txBody>
                    <a:bodyPr/>
                    <a:lstStyle/>
                    <a:p>
                      <a:r>
                        <a:rPr sz="1125">
                          <a:solidFill>
                            <a:srgbClr val="000000"/>
                          </a:solidFill>
                          <a:latin typeface="Arial"/>
                          <a:ea typeface="Arial"/>
                          <a:cs typeface="Arial"/>
                        </a:rPr>
                        <a:t>GT-ROLLER-JADE</a:t>
                      </a:r>
                    </a:p>
                  </a:txBody>
                  <a:tcPr marL="95250" marR="95250" marT="76200" marB="76200"/>
                </a:tc>
                <a:tc>
                  <a:txBody>
                    <a:bodyPr/>
                    <a:lstStyle/>
                    <a:p>
                      <a:r>
                        <a:rPr sz="1125">
                          <a:solidFill>
                            <a:srgbClr val="000000"/>
                          </a:solidFill>
                          <a:latin typeface="Arial"/>
                          <a:ea typeface="Arial"/>
                          <a:cs typeface="Arial"/>
                        </a:rPr>
                        <a:t>1,068</a:t>
                      </a:r>
                    </a:p>
                  </a:txBody>
                  <a:tcPr marL="95250" marR="95250" marT="76200" marB="76200"/>
                </a:tc>
                <a:tc>
                  <a:txBody>
                    <a:bodyPr/>
                    <a:lstStyle/>
                    <a:p>
                      <a:r>
                        <a:rPr sz="1125">
                          <a:solidFill>
                            <a:srgbClr val="000000"/>
                          </a:solidFill>
                          <a:latin typeface="Arial"/>
                          <a:ea typeface="Arial"/>
                          <a:cs typeface="Arial"/>
                        </a:rPr>
                        <a:t>300</a:t>
                      </a:r>
                    </a:p>
                  </a:txBody>
                  <a:tcPr marL="95250" marR="95250" marT="76200" marB="76200"/>
                </a:tc>
                <a:tc>
                  <a:txBody>
                    <a:bodyPr/>
                    <a:lstStyle/>
                    <a:p>
                      <a:r>
                        <a:rPr sz="1125">
                          <a:solidFill>
                            <a:srgbClr val="000000"/>
                          </a:solidFill>
                          <a:latin typeface="Arial"/>
                          <a:ea typeface="Arial"/>
                          <a:cs typeface="Arial"/>
                        </a:rPr>
                        <a:t>992</a:t>
                      </a:r>
                    </a:p>
                  </a:txBody>
                  <a:tcPr marL="95250" marR="95250" marT="76200" marB="76200"/>
                </a:tc>
              </a:tr>
              <a:tr h="541020">
                <a:tc>
                  <a:txBody>
                    <a:bodyPr/>
                    <a:lstStyle/>
                    <a:p>
                      <a:r>
                        <a:rPr sz="1125">
                          <a:solidFill>
                            <a:srgbClr val="000000"/>
                          </a:solidFill>
                          <a:latin typeface="Arial"/>
                          <a:ea typeface="Arial"/>
                          <a:cs typeface="Arial"/>
                        </a:rPr>
                        <a:t>PF-VEGAN-CHOC</a:t>
                      </a:r>
                    </a:p>
                  </a:txBody>
                  <a:tcPr marL="95250" marR="95250" marT="76200" marB="76200"/>
                </a:tc>
                <a:tc>
                  <a:txBody>
                    <a:bodyPr/>
                    <a:lstStyle/>
                    <a:p>
                      <a:r>
                        <a:rPr sz="1125">
                          <a:solidFill>
                            <a:srgbClr val="000000"/>
                          </a:solidFill>
                          <a:latin typeface="Arial"/>
                          <a:ea typeface="Arial"/>
                          <a:cs typeface="Arial"/>
                        </a:rPr>
                        <a:t>801</a:t>
                      </a:r>
                    </a:p>
                  </a:txBody>
                  <a:tcPr marL="95250" marR="95250" marT="76200" marB="76200"/>
                </a:tc>
                <a:tc>
                  <a:txBody>
                    <a:bodyPr/>
                    <a:lstStyle/>
                    <a:p>
                      <a:r>
                        <a:rPr sz="1125">
                          <a:solidFill>
                            <a:srgbClr val="000000"/>
                          </a:solidFill>
                          <a:latin typeface="Arial"/>
                          <a:ea typeface="Arial"/>
                          <a:cs typeface="Arial"/>
                        </a:rPr>
                        <a:t>0</a:t>
                      </a:r>
                    </a:p>
                  </a:txBody>
                  <a:tcPr marL="95250" marR="95250" marT="76200" marB="76200"/>
                </a:tc>
                <a:tc>
                  <a:txBody>
                    <a:bodyPr/>
                    <a:lstStyle/>
                    <a:p>
                      <a:r>
                        <a:rPr sz="1125">
                          <a:solidFill>
                            <a:srgbClr val="000000"/>
                          </a:solidFill>
                          <a:latin typeface="Arial"/>
                          <a:ea typeface="Arial"/>
                          <a:cs typeface="Arial"/>
                        </a:rPr>
                        <a:t>838</a:t>
                      </a:r>
                    </a:p>
                  </a:txBody>
                  <a:tcPr marL="95250" marR="95250" marT="76200" marB="76200"/>
                </a:tc>
              </a:tr>
              <a:tr h="541020">
                <a:tc>
                  <a:txBody>
                    <a:bodyPr/>
                    <a:lstStyle/>
                    <a:p>
                      <a:r>
                        <a:rPr sz="1125">
                          <a:solidFill>
                            <a:srgbClr val="000000"/>
                          </a:solidFill>
                          <a:latin typeface="Arial"/>
                          <a:ea typeface="Arial"/>
                          <a:cs typeface="Arial"/>
                        </a:rPr>
                        <a:t>GT-CLEANSE-150</a:t>
                      </a:r>
                    </a:p>
                  </a:txBody>
                  <a:tcPr marL="95250" marR="95250" marT="76200" marB="76200"/>
                </a:tc>
                <a:tc>
                  <a:txBody>
                    <a:bodyPr/>
                    <a:lstStyle/>
                    <a:p>
                      <a:r>
                        <a:rPr sz="1125">
                          <a:solidFill>
                            <a:srgbClr val="000000"/>
                          </a:solidFill>
                          <a:latin typeface="Arial"/>
                          <a:ea typeface="Arial"/>
                          <a:cs typeface="Arial"/>
                        </a:rPr>
                        <a:t>1,302</a:t>
                      </a:r>
                    </a:p>
                  </a:txBody>
                  <a:tcPr marL="95250" marR="95250" marT="76200" marB="76200"/>
                </a:tc>
                <a:tc>
                  <a:txBody>
                    <a:bodyPr/>
                    <a:lstStyle/>
                    <a:p>
                      <a:r>
                        <a:rPr sz="1125">
                          <a:solidFill>
                            <a:srgbClr val="000000"/>
                          </a:solidFill>
                          <a:latin typeface="Arial"/>
                          <a:ea typeface="Arial"/>
                          <a:cs typeface="Arial"/>
                        </a:rPr>
                        <a:t>0</a:t>
                      </a:r>
                    </a:p>
                  </a:txBody>
                  <a:tcPr marL="95250" marR="95250" marT="76200" marB="76200"/>
                </a:tc>
                <a:tc>
                  <a:txBody>
                    <a:bodyPr/>
                    <a:lstStyle/>
                    <a:p>
                      <a:r>
                        <a:rPr sz="1125">
                          <a:solidFill>
                            <a:srgbClr val="000000"/>
                          </a:solidFill>
                          <a:latin typeface="Arial"/>
                          <a:ea typeface="Arial"/>
                          <a:cs typeface="Arial"/>
                        </a:rPr>
                        <a:t>705</a:t>
                      </a:r>
                    </a:p>
                  </a:txBody>
                  <a:tcPr marL="95250" marR="95250" marT="76200" marB="76200"/>
                </a:tc>
              </a:tr>
            </a:tbl>
          </a:graphicData>
        </a:graphic>
      </p:graphicFrame>
      <p:sp>
        <p:nvSpPr>
          <p:cNvPr id="9" name="s8-bottom">
            <a:extLst xmlns:a="http://schemas.openxmlformats.org/drawingml/2006/main">
              <a:ext uri="{FF2B5EF4-FFF2-40B4-BE49-F238E27FC236}">
                <a16:creationId xmlns:a16="http://schemas.microsoft.com/office/drawing/2014/main" id="{3F2D99D9-F148-4EED-8283-BF8E48D900C1}"/>
              </a:ext>
            </a:extLst>
          </p:cNvPr>
          <p:cNvSpPr>
            <a:spLocks xmlns:a="http://schemas.openxmlformats.org/drawingml/2006/main" noGrp="1"/>
          </p:cNvSpPr>
          <p:nvPr/>
        </p:nvSpPr>
        <p:spPr>
          <a:xfrm xmlns:a="http://schemas.openxmlformats.org/drawingml/2006/main">
            <a:off x="533400" y="5772150"/>
            <a:ext cx="11125200" cy="533400"/>
          </a:xfrm>
          <a:prstGeom xmlns:a="http://schemas.openxmlformats.org/drawingml/2006/main" prst="rect">
            <a:avLst/>
          </a:prstGeom>
          <a:solidFill xmlns:a="http://schemas.openxmlformats.org/drawingml/2006/main">
            <a:srgbClr val="FFF4CC"/>
          </a:solidFill>
          <a:ln xmlns:a="http://schemas.openxmlformats.org/drawingml/2006/main" w="0">
            <a:noFill/>
            <a:prstDash val="solid"/>
          </a:ln>
        </p:spPr>
      </p:sp>
      <p:sp>
        <p:nvSpPr>
          <p:cNvPr id="10" name="s8-bottom-text">
            <a:extLst xmlns:a="http://schemas.openxmlformats.org/drawingml/2006/main">
              <a:ext uri="{FF2B5EF4-FFF2-40B4-BE49-F238E27FC236}">
                <a16:creationId xmlns:a16="http://schemas.microsoft.com/office/drawing/2014/main" id="{941366A6-F1D4-4FD9-9C50-A8FB38A672C1}"/>
              </a:ext>
            </a:extLst>
          </p:cNvPr>
          <p:cNvSpPr>
            <a:spLocks xmlns:a="http://schemas.openxmlformats.org/drawingml/2006/main" noGrp="1"/>
          </p:cNvSpPr>
          <p:nvPr/>
        </p:nvSpPr>
        <p:spPr>
          <a:xfrm xmlns:a="http://schemas.openxmlformats.org/drawingml/2006/main">
            <a:off x="742950" y="5905500"/>
            <a:ext cx="10706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1">
                <a:solidFill>
                  <a:srgbClr val="9A6700"/>
                </a:solidFill>
                <a:latin typeface="Arial"/>
                <a:ea typeface="Arial"/>
                <a:cs typeface="Arial"/>
              </a:defRPr>
            </a:pPr>
            <a:r>
              <a:rPr sz="1425" b="1">
                <a:solidFill>
                  <a:srgbClr val="9A6700"/>
                </a:solidFill>
                <a:latin typeface="Arial"/>
                <a:ea typeface="Arial"/>
                <a:cs typeface="Arial"/>
              </a:rPr>
              <a:t>13 of 24 SKUs exceed one year of fulfillable cover at Q2 demand—review replenishment, promotions, bundles, and purchase commitments.</a:t>
            </a:r>
          </a:p>
        </p:txBody>
      </p:sp>
    </p:spTree>
    <p:extLst>
      <p:ext uri="{BB962C8B-B14F-4D97-AF65-F5344CB8AC3E}">
        <p14:creationId xmlns:p14="http://schemas.microsoft.com/office/powerpoint/2010/main" val="172859703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eyebrow-9">
            <a:extLst xmlns:a="http://schemas.openxmlformats.org/drawingml/2006/main">
              <a:ext uri="{FF2B5EF4-FFF2-40B4-BE49-F238E27FC236}">
                <a16:creationId xmlns:a16="http://schemas.microsoft.com/office/drawing/2014/main" id="{34A9D187-9B8E-4C2F-B0D1-DB2C28E251F5}"/>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FIRST 90 DAYS</a:t>
            </a:r>
          </a:p>
        </p:txBody>
      </p:sp>
      <p:sp>
        <p:nvSpPr>
          <p:cNvPr id="2" name="title-9">
            <a:extLst xmlns:a="http://schemas.openxmlformats.org/drawingml/2006/main">
              <a:ext uri="{FF2B5EF4-FFF2-40B4-BE49-F238E27FC236}">
                <a16:creationId xmlns:a16="http://schemas.microsoft.com/office/drawing/2014/main" id="{065B9C9C-36D7-4693-8C6B-533A46BAC86D}"/>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Automate trust first, the management P&amp;L second, and forward-looking actions third</a:t>
            </a:r>
          </a:p>
        </p:txBody>
      </p:sp>
      <p:sp>
        <p:nvSpPr>
          <p:cNvPr id="3" name="footer-9">
            <a:extLst xmlns:a="http://schemas.openxmlformats.org/drawingml/2006/main">
              <a:ext uri="{FF2B5EF4-FFF2-40B4-BE49-F238E27FC236}">
                <a16:creationId xmlns:a16="http://schemas.microsoft.com/office/drawing/2014/main" id="{3D395EF6-653D-4F92-BCCB-EF98E6B20273}"/>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9</a:t>
            </a:r>
          </a:p>
        </p:txBody>
      </p:sp>
      <p:sp>
        <p:nvSpPr>
          <p:cNvPr id="4" name="s9-intro">
            <a:extLst xmlns:a="http://schemas.openxmlformats.org/drawingml/2006/main">
              <a:ext uri="{FF2B5EF4-FFF2-40B4-BE49-F238E27FC236}">
                <a16:creationId xmlns:a16="http://schemas.microsoft.com/office/drawing/2014/main" id="{7B65B4B7-F9C4-490D-885A-C340703C29B1}"/>
              </a:ext>
            </a:extLst>
          </p:cNvPr>
          <p:cNvSpPr>
            <a:spLocks xmlns:a="http://schemas.openxmlformats.org/drawingml/2006/main" noGrp="1"/>
          </p:cNvSpPr>
          <p:nvPr/>
        </p:nvSpPr>
        <p:spPr>
          <a:xfrm xmlns:a="http://schemas.openxmlformats.org/drawingml/2006/main">
            <a:off x="533400" y="1466850"/>
            <a:ext cx="111252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556070"/>
                </a:solidFill>
                <a:latin typeface="Arial"/>
                <a:ea typeface="Arial"/>
                <a:cs typeface="Arial"/>
              </a:defRPr>
            </a:pPr>
            <a:r>
              <a:rPr sz="1650" b="0">
                <a:solidFill>
                  <a:srgbClr val="556070"/>
                </a:solidFill>
                <a:latin typeface="Arial"/>
                <a:ea typeface="Arial"/>
                <a:cs typeface="Arial"/>
              </a:rPr>
              <a:t>Each phase creates the controlled inputs required by the next. The objective is a faster close and better decisions—not a larger tool stack.</a:t>
            </a:r>
          </a:p>
        </p:txBody>
      </p:sp>
      <p:sp>
        <p:nvSpPr>
          <p:cNvPr id="5" name="s9-phase-0">
            <a:extLst xmlns:a="http://schemas.openxmlformats.org/drawingml/2006/main">
              <a:ext uri="{FF2B5EF4-FFF2-40B4-BE49-F238E27FC236}">
                <a16:creationId xmlns:a16="http://schemas.microsoft.com/office/drawing/2014/main" id="{18D8701B-A94C-4AAC-9401-EBFBB2DDF243}"/>
              </a:ext>
            </a:extLst>
          </p:cNvPr>
          <p:cNvSpPr>
            <a:spLocks xmlns:a="http://schemas.openxmlformats.org/drawingml/2006/main" noGrp="1"/>
          </p:cNvSpPr>
          <p:nvPr/>
        </p:nvSpPr>
        <p:spPr>
          <a:xfrm xmlns:a="http://schemas.openxmlformats.org/drawingml/2006/main">
            <a:off x="533400" y="2571750"/>
            <a:ext cx="3429000" cy="3143250"/>
          </a:xfrm>
          <a:prstGeom xmlns:a="http://schemas.openxmlformats.org/drawingml/2006/main" prst="rect">
            <a:avLst/>
          </a:prstGeom>
          <a:solidFill xmlns:a="http://schemas.openxmlformats.org/drawingml/2006/main">
            <a:srgbClr val="D0EDFA"/>
          </a:solidFill>
          <a:ln xmlns:a="http://schemas.openxmlformats.org/drawingml/2006/main" w="9525">
            <a:solidFill>
              <a:srgbClr val="B8BCC4"/>
            </a:solidFill>
            <a:prstDash val="solid"/>
          </a:ln>
        </p:spPr>
      </p:sp>
      <p:sp>
        <p:nvSpPr>
          <p:cNvPr id="6" name="s9-time-0">
            <a:extLst xmlns:a="http://schemas.openxmlformats.org/drawingml/2006/main">
              <a:ext uri="{FF2B5EF4-FFF2-40B4-BE49-F238E27FC236}">
                <a16:creationId xmlns:a16="http://schemas.microsoft.com/office/drawing/2014/main" id="{FA5964A6-CD9E-49C2-B171-9DF8A36D9E21}"/>
              </a:ext>
            </a:extLst>
          </p:cNvPr>
          <p:cNvSpPr>
            <a:spLocks xmlns:a="http://schemas.openxmlformats.org/drawingml/2006/main" noGrp="1"/>
          </p:cNvSpPr>
          <p:nvPr/>
        </p:nvSpPr>
        <p:spPr>
          <a:xfrm xmlns:a="http://schemas.openxmlformats.org/drawingml/2006/main">
            <a:off x="762000" y="278130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3D8DFF"/>
                </a:solidFill>
                <a:latin typeface="Arial"/>
                <a:ea typeface="Arial"/>
                <a:cs typeface="Arial"/>
              </a:defRPr>
            </a:pPr>
            <a:r>
              <a:rPr sz="1500" b="1">
                <a:solidFill>
                  <a:srgbClr val="3D8DFF"/>
                </a:solidFill>
                <a:latin typeface="Arial"/>
                <a:ea typeface="Arial"/>
                <a:cs typeface="Arial"/>
              </a:rPr>
              <a:t>Days 1–30</a:t>
            </a:r>
          </a:p>
        </p:txBody>
      </p:sp>
      <p:sp>
        <p:nvSpPr>
          <p:cNvPr id="7" name="s9-title-0">
            <a:extLst xmlns:a="http://schemas.openxmlformats.org/drawingml/2006/main">
              <a:ext uri="{FF2B5EF4-FFF2-40B4-BE49-F238E27FC236}">
                <a16:creationId xmlns:a16="http://schemas.microsoft.com/office/drawing/2014/main" id="{23EF11A4-6AD5-48BE-9999-34FCE94378E6}"/>
              </a:ext>
            </a:extLst>
          </p:cNvPr>
          <p:cNvSpPr>
            <a:spLocks xmlns:a="http://schemas.openxmlformats.org/drawingml/2006/main" noGrp="1"/>
          </p:cNvSpPr>
          <p:nvPr/>
        </p:nvSpPr>
        <p:spPr>
          <a:xfrm xmlns:a="http://schemas.openxmlformats.org/drawingml/2006/main">
            <a:off x="762000" y="3238500"/>
            <a:ext cx="2971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Control the sources</a:t>
            </a:r>
          </a:p>
        </p:txBody>
      </p:sp>
      <p:sp>
        <p:nvSpPr>
          <p:cNvPr id="8" name="s9-body-0">
            <a:extLst xmlns:a="http://schemas.openxmlformats.org/drawingml/2006/main">
              <a:ext uri="{FF2B5EF4-FFF2-40B4-BE49-F238E27FC236}">
                <a16:creationId xmlns:a16="http://schemas.microsoft.com/office/drawing/2014/main" id="{13A52EB9-97F3-4D86-9D58-8E819DF99BBF}"/>
              </a:ext>
            </a:extLst>
          </p:cNvPr>
          <p:cNvSpPr>
            <a:spLocks xmlns:a="http://schemas.openxmlformats.org/drawingml/2006/main" noGrp="1"/>
          </p:cNvSpPr>
          <p:nvPr/>
        </p:nvSpPr>
        <p:spPr>
          <a:xfrm xmlns:a="http://schemas.openxmlformats.org/drawingml/2006/main">
            <a:off x="762000" y="4000500"/>
            <a:ext cx="2971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Scheduled ingestion</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Product/UOM/alias governance</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Freshness, schema, amount tests</a:t>
            </a:r>
          </a:p>
        </p:txBody>
      </p:sp>
      <p:sp>
        <p:nvSpPr>
          <p:cNvPr id="9" name="s9-output-0">
            <a:extLst xmlns:a="http://schemas.openxmlformats.org/drawingml/2006/main">
              <a:ext uri="{FF2B5EF4-FFF2-40B4-BE49-F238E27FC236}">
                <a16:creationId xmlns:a16="http://schemas.microsoft.com/office/drawing/2014/main" id="{E650AF52-E550-47F9-BCC4-5D0F87E5A5C0}"/>
              </a:ext>
            </a:extLst>
          </p:cNvPr>
          <p:cNvSpPr>
            <a:spLocks xmlns:a="http://schemas.openxmlformats.org/drawingml/2006/main" noGrp="1"/>
          </p:cNvSpPr>
          <p:nvPr/>
        </p:nvSpPr>
        <p:spPr>
          <a:xfrm xmlns:a="http://schemas.openxmlformats.org/drawingml/2006/main">
            <a:off x="762000" y="5048250"/>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556070"/>
                </a:solidFill>
                <a:latin typeface="Arial"/>
                <a:ea typeface="Arial"/>
                <a:cs typeface="Arial"/>
              </a:defRPr>
            </a:pPr>
            <a:r>
              <a:rPr sz="1275" b="1">
                <a:solidFill>
                  <a:srgbClr val="556070"/>
                </a:solidFill>
                <a:latin typeface="Arial"/>
                <a:ea typeface="Arial"/>
                <a:cs typeface="Arial"/>
              </a:rPr>
              <a:t>Daily source-control dashboard</a:t>
            </a:r>
          </a:p>
          <a:p xmlns:a="http://schemas.openxmlformats.org/drawingml/2006/main">
            <a:pPr algn="l">
              <a:defRPr sz="1275" b="1">
                <a:solidFill>
                  <a:srgbClr val="556070"/>
                </a:solidFill>
                <a:latin typeface="Arial"/>
                <a:ea typeface="Arial"/>
                <a:cs typeface="Arial"/>
              </a:defRPr>
            </a:pPr>
            <a:r>
              <a:rPr sz="1275" b="1">
                <a:solidFill>
                  <a:srgbClr val="556070"/>
                </a:solidFill>
                <a:latin typeface="Arial"/>
                <a:ea typeface="Arial"/>
                <a:cs typeface="Arial"/>
              </a:rPr>
              <a:t>Owned exception queue</a:t>
            </a:r>
          </a:p>
        </p:txBody>
      </p:sp>
      <p:sp>
        <p:nvSpPr>
          <p:cNvPr id="10" name="s9-phase-1">
            <a:extLst xmlns:a="http://schemas.openxmlformats.org/drawingml/2006/main">
              <a:ext uri="{FF2B5EF4-FFF2-40B4-BE49-F238E27FC236}">
                <a16:creationId xmlns:a16="http://schemas.microsoft.com/office/drawing/2014/main" id="{2A8B0CAC-D42A-438F-96FA-56D5F1114A6A}"/>
              </a:ext>
            </a:extLst>
          </p:cNvPr>
          <p:cNvSpPr>
            <a:spLocks xmlns:a="http://schemas.openxmlformats.org/drawingml/2006/main" noGrp="1"/>
          </p:cNvSpPr>
          <p:nvPr/>
        </p:nvSpPr>
        <p:spPr>
          <a:xfrm xmlns:a="http://schemas.openxmlformats.org/drawingml/2006/main">
            <a:off x="4381500" y="2571750"/>
            <a:ext cx="3429000" cy="31432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1" name="s9-time-1">
            <a:extLst xmlns:a="http://schemas.openxmlformats.org/drawingml/2006/main">
              <a:ext uri="{FF2B5EF4-FFF2-40B4-BE49-F238E27FC236}">
                <a16:creationId xmlns:a16="http://schemas.microsoft.com/office/drawing/2014/main" id="{A036B72A-06CE-43E3-BA55-D942F2614577}"/>
              </a:ext>
            </a:extLst>
          </p:cNvPr>
          <p:cNvSpPr>
            <a:spLocks xmlns:a="http://schemas.openxmlformats.org/drawingml/2006/main" noGrp="1"/>
          </p:cNvSpPr>
          <p:nvPr/>
        </p:nvSpPr>
        <p:spPr>
          <a:xfrm xmlns:a="http://schemas.openxmlformats.org/drawingml/2006/main">
            <a:off x="4610100" y="278130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3D8DFF"/>
                </a:solidFill>
                <a:latin typeface="Arial"/>
                <a:ea typeface="Arial"/>
                <a:cs typeface="Arial"/>
              </a:defRPr>
            </a:pPr>
            <a:r>
              <a:rPr sz="1500" b="1">
                <a:solidFill>
                  <a:srgbClr val="3D8DFF"/>
                </a:solidFill>
                <a:latin typeface="Arial"/>
                <a:ea typeface="Arial"/>
                <a:cs typeface="Arial"/>
              </a:rPr>
              <a:t>Days 31–60</a:t>
            </a:r>
          </a:p>
        </p:txBody>
      </p:sp>
      <p:sp>
        <p:nvSpPr>
          <p:cNvPr id="12" name="s9-title-1">
            <a:extLst xmlns:a="http://schemas.openxmlformats.org/drawingml/2006/main">
              <a:ext uri="{FF2B5EF4-FFF2-40B4-BE49-F238E27FC236}">
                <a16:creationId xmlns:a16="http://schemas.microsoft.com/office/drawing/2014/main" id="{E3E177F5-B3CD-4CF5-9B1C-DE1DA1265F23}"/>
              </a:ext>
            </a:extLst>
          </p:cNvPr>
          <p:cNvSpPr>
            <a:spLocks xmlns:a="http://schemas.openxmlformats.org/drawingml/2006/main" noGrp="1"/>
          </p:cNvSpPr>
          <p:nvPr/>
        </p:nvSpPr>
        <p:spPr>
          <a:xfrm xmlns:a="http://schemas.openxmlformats.org/drawingml/2006/main">
            <a:off x="4610100" y="3238500"/>
            <a:ext cx="2971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Automate the management P&amp;L</a:t>
            </a:r>
          </a:p>
        </p:txBody>
      </p:sp>
      <p:sp>
        <p:nvSpPr>
          <p:cNvPr id="13" name="s9-body-1">
            <a:extLst xmlns:a="http://schemas.openxmlformats.org/drawingml/2006/main">
              <a:ext uri="{FF2B5EF4-FFF2-40B4-BE49-F238E27FC236}">
                <a16:creationId xmlns:a16="http://schemas.microsoft.com/office/drawing/2014/main" id="{A9108A31-9FA4-4CA6-AC95-25FF211A8EB0}"/>
              </a:ext>
            </a:extLst>
          </p:cNvPr>
          <p:cNvSpPr>
            <a:spLocks xmlns:a="http://schemas.openxmlformats.org/drawingml/2006/main" noGrp="1"/>
          </p:cNvSpPr>
          <p:nvPr/>
        </p:nvSpPr>
        <p:spPr>
          <a:xfrm xmlns:a="http://schemas.openxmlformats.org/drawingml/2006/main">
            <a:off x="4610100" y="4000500"/>
            <a:ext cx="2971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Marketplace, cost, inventory, ad, GL facts</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SKU CM drill-through</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Amazon-to-QuickBooks reconciliation</a:t>
            </a:r>
          </a:p>
        </p:txBody>
      </p:sp>
      <p:sp>
        <p:nvSpPr>
          <p:cNvPr id="14" name="s9-output-1">
            <a:extLst xmlns:a="http://schemas.openxmlformats.org/drawingml/2006/main">
              <a:ext uri="{FF2B5EF4-FFF2-40B4-BE49-F238E27FC236}">
                <a16:creationId xmlns:a16="http://schemas.microsoft.com/office/drawing/2014/main" id="{C1629A2C-765C-404C-BDD1-EBBC24F788CA}"/>
              </a:ext>
            </a:extLst>
          </p:cNvPr>
          <p:cNvSpPr>
            <a:spLocks xmlns:a="http://schemas.openxmlformats.org/drawingml/2006/main" noGrp="1"/>
          </p:cNvSpPr>
          <p:nvPr/>
        </p:nvSpPr>
        <p:spPr>
          <a:xfrm xmlns:a="http://schemas.openxmlformats.org/drawingml/2006/main">
            <a:off x="4610100" y="5048250"/>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556070"/>
                </a:solidFill>
                <a:latin typeface="Arial"/>
                <a:ea typeface="Arial"/>
                <a:cs typeface="Arial"/>
              </a:defRPr>
            </a:pPr>
            <a:r>
              <a:rPr sz="1275" b="1">
                <a:solidFill>
                  <a:srgbClr val="556070"/>
                </a:solidFill>
                <a:latin typeface="Arial"/>
                <a:ea typeface="Arial"/>
                <a:cs typeface="Arial"/>
              </a:rPr>
              <a:t>Close-ready channel P&amp;L</a:t>
            </a:r>
          </a:p>
          <a:p xmlns:a="http://schemas.openxmlformats.org/drawingml/2006/main">
            <a:pPr algn="l">
              <a:defRPr sz="1275" b="1">
                <a:solidFill>
                  <a:srgbClr val="556070"/>
                </a:solidFill>
                <a:latin typeface="Arial"/>
                <a:ea typeface="Arial"/>
                <a:cs typeface="Arial"/>
              </a:defRPr>
            </a:pPr>
            <a:r>
              <a:rPr sz="1275" b="1">
                <a:solidFill>
                  <a:srgbClr val="556070"/>
                </a:solidFill>
                <a:latin typeface="Arial"/>
                <a:ea typeface="Arial"/>
                <a:cs typeface="Arial"/>
              </a:rPr>
              <a:t>Connected Sheets outputs</a:t>
            </a:r>
          </a:p>
        </p:txBody>
      </p:sp>
      <p:sp>
        <p:nvSpPr>
          <p:cNvPr id="15" name="s9-phase-2">
            <a:extLst xmlns:a="http://schemas.openxmlformats.org/drawingml/2006/main">
              <a:ext uri="{FF2B5EF4-FFF2-40B4-BE49-F238E27FC236}">
                <a16:creationId xmlns:a16="http://schemas.microsoft.com/office/drawing/2014/main" id="{A506477B-9B95-4FF1-A729-9A9890571B0A}"/>
              </a:ext>
            </a:extLst>
          </p:cNvPr>
          <p:cNvSpPr>
            <a:spLocks xmlns:a="http://schemas.openxmlformats.org/drawingml/2006/main" noGrp="1"/>
          </p:cNvSpPr>
          <p:nvPr/>
        </p:nvSpPr>
        <p:spPr>
          <a:xfrm xmlns:a="http://schemas.openxmlformats.org/drawingml/2006/main">
            <a:off x="8229600" y="2571750"/>
            <a:ext cx="3429000" cy="31432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6" name="s9-time-2">
            <a:extLst xmlns:a="http://schemas.openxmlformats.org/drawingml/2006/main">
              <a:ext uri="{FF2B5EF4-FFF2-40B4-BE49-F238E27FC236}">
                <a16:creationId xmlns:a16="http://schemas.microsoft.com/office/drawing/2014/main" id="{A875ED48-1F9A-45A5-AF88-C4EEEBDDA206}"/>
              </a:ext>
            </a:extLst>
          </p:cNvPr>
          <p:cNvSpPr>
            <a:spLocks xmlns:a="http://schemas.openxmlformats.org/drawingml/2006/main" noGrp="1"/>
          </p:cNvSpPr>
          <p:nvPr/>
        </p:nvSpPr>
        <p:spPr>
          <a:xfrm xmlns:a="http://schemas.openxmlformats.org/drawingml/2006/main">
            <a:off x="8458200" y="278130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3D8DFF"/>
                </a:solidFill>
                <a:latin typeface="Arial"/>
                <a:ea typeface="Arial"/>
                <a:cs typeface="Arial"/>
              </a:defRPr>
            </a:pPr>
            <a:r>
              <a:rPr sz="1500" b="1">
                <a:solidFill>
                  <a:srgbClr val="3D8DFF"/>
                </a:solidFill>
                <a:latin typeface="Arial"/>
                <a:ea typeface="Arial"/>
                <a:cs typeface="Arial"/>
              </a:rPr>
              <a:t>Days 61–90</a:t>
            </a:r>
          </a:p>
        </p:txBody>
      </p:sp>
      <p:sp>
        <p:nvSpPr>
          <p:cNvPr id="17" name="s9-title-2">
            <a:extLst xmlns:a="http://schemas.openxmlformats.org/drawingml/2006/main">
              <a:ext uri="{FF2B5EF4-FFF2-40B4-BE49-F238E27FC236}">
                <a16:creationId xmlns:a16="http://schemas.microsoft.com/office/drawing/2014/main" id="{4F0609C4-8F16-434B-AFD9-13013C9DD259}"/>
              </a:ext>
            </a:extLst>
          </p:cNvPr>
          <p:cNvSpPr>
            <a:spLocks xmlns:a="http://schemas.openxmlformats.org/drawingml/2006/main" noGrp="1"/>
          </p:cNvSpPr>
          <p:nvPr/>
        </p:nvSpPr>
        <p:spPr>
          <a:xfrm xmlns:a="http://schemas.openxmlformats.org/drawingml/2006/main">
            <a:off x="8458200" y="3238500"/>
            <a:ext cx="2971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Turn history into action</a:t>
            </a:r>
          </a:p>
        </p:txBody>
      </p:sp>
      <p:sp>
        <p:nvSpPr>
          <p:cNvPr id="18" name="s9-body-2">
            <a:extLst xmlns:a="http://schemas.openxmlformats.org/drawingml/2006/main">
              <a:ext uri="{FF2B5EF4-FFF2-40B4-BE49-F238E27FC236}">
                <a16:creationId xmlns:a16="http://schemas.microsoft.com/office/drawing/2014/main" id="{D1301218-3BDC-4F6E-9E6C-37F427DD2513}"/>
              </a:ext>
            </a:extLst>
          </p:cNvPr>
          <p:cNvSpPr>
            <a:spLocks xmlns:a="http://schemas.openxmlformats.org/drawingml/2006/main" noGrp="1"/>
          </p:cNvSpPr>
          <p:nvPr/>
        </p:nvSpPr>
        <p:spPr>
          <a:xfrm xmlns:a="http://schemas.openxmlformats.org/drawingml/2006/main">
            <a:off x="8458200" y="4000500"/>
            <a:ext cx="2971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PO lifecycle + receipts</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Stockout/excess/cash alerts</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Campaign-SKU attribution + forecast</a:t>
            </a:r>
          </a:p>
        </p:txBody>
      </p:sp>
      <p:sp>
        <p:nvSpPr>
          <p:cNvPr id="19" name="s9-output-2">
            <a:extLst xmlns:a="http://schemas.openxmlformats.org/drawingml/2006/main">
              <a:ext uri="{FF2B5EF4-FFF2-40B4-BE49-F238E27FC236}">
                <a16:creationId xmlns:a16="http://schemas.microsoft.com/office/drawing/2014/main" id="{04D71B60-054F-46F0-80CB-993497819957}"/>
              </a:ext>
            </a:extLst>
          </p:cNvPr>
          <p:cNvSpPr>
            <a:spLocks xmlns:a="http://schemas.openxmlformats.org/drawingml/2006/main" noGrp="1"/>
          </p:cNvSpPr>
          <p:nvPr/>
        </p:nvSpPr>
        <p:spPr>
          <a:xfrm xmlns:a="http://schemas.openxmlformats.org/drawingml/2006/main">
            <a:off x="8458200" y="5048250"/>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0B7A53"/>
                </a:solidFill>
                <a:latin typeface="Arial"/>
                <a:ea typeface="Arial"/>
                <a:cs typeface="Arial"/>
              </a:defRPr>
            </a:pPr>
            <a:r>
              <a:rPr sz="1275" b="1">
                <a:solidFill>
                  <a:srgbClr val="0B7A53"/>
                </a:solidFill>
                <a:latin typeface="Arial"/>
                <a:ea typeface="Arial"/>
                <a:cs typeface="Arial"/>
              </a:rPr>
              <a:t>Inventory/action dashboard</a:t>
            </a:r>
          </a:p>
          <a:p xmlns:a="http://schemas.openxmlformats.org/drawingml/2006/main">
            <a:pPr algn="l">
              <a:defRPr sz="1275" b="1">
                <a:solidFill>
                  <a:srgbClr val="0B7A53"/>
                </a:solidFill>
                <a:latin typeface="Arial"/>
                <a:ea typeface="Arial"/>
                <a:cs typeface="Arial"/>
              </a:defRPr>
            </a:pPr>
            <a:r>
              <a:rPr sz="1275" b="1">
                <a:solidFill>
                  <a:srgbClr val="0B7A53"/>
                </a:solidFill>
                <a:latin typeface="Arial"/>
                <a:ea typeface="Arial"/>
                <a:cs typeface="Arial"/>
              </a:rPr>
              <a:t>13-week cash/inventory outlook</a:t>
            </a:r>
          </a:p>
        </p:txBody>
      </p:sp>
    </p:spTree>
    <p:extLst>
      <p:ext uri="{BB962C8B-B14F-4D97-AF65-F5344CB8AC3E}">
        <p14:creationId xmlns:p14="http://schemas.microsoft.com/office/powerpoint/2010/main" val="108836665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eyebrow-10">
            <a:extLst xmlns:a="http://schemas.openxmlformats.org/drawingml/2006/main">
              <a:ext uri="{FF2B5EF4-FFF2-40B4-BE49-F238E27FC236}">
                <a16:creationId xmlns:a16="http://schemas.microsoft.com/office/drawing/2014/main" id="{17DADCB7-2F07-4E7E-826F-50CFE628280A}"/>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RECOMMENDED LEADERSHIP DECISIONS</a:t>
            </a:r>
          </a:p>
        </p:txBody>
      </p:sp>
      <p:sp>
        <p:nvSpPr>
          <p:cNvPr id="2" name="title-10">
            <a:extLst xmlns:a="http://schemas.openxmlformats.org/drawingml/2006/main">
              <a:ext uri="{FF2B5EF4-FFF2-40B4-BE49-F238E27FC236}">
                <a16:creationId xmlns:a16="http://schemas.microsoft.com/office/drawing/2014/main" id="{D34ABF4A-3A0B-4C66-BA9D-F45BABC3EC2D}"/>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The opportunity is a controlled finance operating system—not another spreadsheet</a:t>
            </a:r>
          </a:p>
        </p:txBody>
      </p:sp>
      <p:sp>
        <p:nvSpPr>
          <p:cNvPr id="3" name="footer-10">
            <a:extLst xmlns:a="http://schemas.openxmlformats.org/drawingml/2006/main">
              <a:ext uri="{FF2B5EF4-FFF2-40B4-BE49-F238E27FC236}">
                <a16:creationId xmlns:a16="http://schemas.microsoft.com/office/drawing/2014/main" id="{F7B8594F-365E-424C-A3E1-B59ED60EF907}"/>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10</a:t>
            </a:r>
          </a:p>
        </p:txBody>
      </p:sp>
      <p:sp>
        <p:nvSpPr>
          <p:cNvPr id="4" name="s10-lead">
            <a:extLst xmlns:a="http://schemas.openxmlformats.org/drawingml/2006/main">
              <a:ext uri="{FF2B5EF4-FFF2-40B4-BE49-F238E27FC236}">
                <a16:creationId xmlns:a16="http://schemas.microsoft.com/office/drawing/2014/main" id="{C36F0BC3-5500-406B-894C-BDC04F49F565}"/>
              </a:ext>
            </a:extLst>
          </p:cNvPr>
          <p:cNvSpPr>
            <a:spLocks xmlns:a="http://schemas.openxmlformats.org/drawingml/2006/main" noGrp="1"/>
          </p:cNvSpPr>
          <p:nvPr/>
        </p:nvSpPr>
        <p:spPr>
          <a:xfrm xmlns:a="http://schemas.openxmlformats.org/drawingml/2006/main">
            <a:off x="533400" y="1504950"/>
            <a:ext cx="111252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556070"/>
                </a:solidFill>
                <a:latin typeface="Arial"/>
                <a:ea typeface="Arial"/>
                <a:cs typeface="Arial"/>
              </a:defRPr>
            </a:pPr>
            <a:r>
              <a:rPr sz="1800" b="0">
                <a:solidFill>
                  <a:srgbClr val="556070"/>
                </a:solidFill>
                <a:latin typeface="Arial"/>
                <a:ea typeface="Arial"/>
                <a:cs typeface="Arial"/>
              </a:rPr>
              <a:t>The data is sufficient to act now, while three targeted data gaps should be closed before precision decisions are automated.</a:t>
            </a:r>
          </a:p>
        </p:txBody>
      </p:sp>
      <p:sp>
        <p:nvSpPr>
          <p:cNvPr id="5" name="s10-num-0">
            <a:extLst xmlns:a="http://schemas.openxmlformats.org/drawingml/2006/main">
              <a:ext uri="{FF2B5EF4-FFF2-40B4-BE49-F238E27FC236}">
                <a16:creationId xmlns:a16="http://schemas.microsoft.com/office/drawing/2014/main" id="{705D7C6B-E48A-43BF-A989-6CC3CBC5D875}"/>
              </a:ext>
            </a:extLst>
          </p:cNvPr>
          <p:cNvSpPr>
            <a:spLocks xmlns:a="http://schemas.openxmlformats.org/drawingml/2006/main" noGrp="1"/>
          </p:cNvSpPr>
          <p:nvPr/>
        </p:nvSpPr>
        <p:spPr>
          <a:xfrm xmlns:a="http://schemas.openxmlformats.org/drawingml/2006/main">
            <a:off x="685800" y="2571750"/>
            <a:ext cx="666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300" b="1">
                <a:solidFill>
                  <a:srgbClr val="3D8DFF"/>
                </a:solidFill>
                <a:latin typeface="Arial"/>
                <a:ea typeface="Arial"/>
                <a:cs typeface="Arial"/>
              </a:defRPr>
            </a:pPr>
            <a:r>
              <a:rPr sz="3300" b="1">
                <a:solidFill>
                  <a:srgbClr val="3D8DFF"/>
                </a:solidFill>
                <a:latin typeface="Arial"/>
                <a:ea typeface="Arial"/>
                <a:cs typeface="Arial"/>
              </a:rPr>
              <a:t>1</a:t>
            </a:r>
          </a:p>
        </p:txBody>
      </p:sp>
      <p:sp>
        <p:nvSpPr>
          <p:cNvPr id="6" name="s10-title-0">
            <a:extLst xmlns:a="http://schemas.openxmlformats.org/drawingml/2006/main">
              <a:ext uri="{FF2B5EF4-FFF2-40B4-BE49-F238E27FC236}">
                <a16:creationId xmlns:a16="http://schemas.microsoft.com/office/drawing/2014/main" id="{2B0DD78C-D554-4707-8550-D9C4976F67FB}"/>
              </a:ext>
            </a:extLst>
          </p:cNvPr>
          <p:cNvSpPr>
            <a:spLocks xmlns:a="http://schemas.openxmlformats.org/drawingml/2006/main" noGrp="1"/>
          </p:cNvSpPr>
          <p:nvPr/>
        </p:nvSpPr>
        <p:spPr>
          <a:xfrm xmlns:a="http://schemas.openxmlformats.org/drawingml/2006/main">
            <a:off x="1638300" y="2571750"/>
            <a:ext cx="3333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Protect the profit pool</a:t>
            </a:r>
          </a:p>
        </p:txBody>
      </p:sp>
      <p:sp>
        <p:nvSpPr>
          <p:cNvPr id="7" name="s10-body-0">
            <a:extLst xmlns:a="http://schemas.openxmlformats.org/drawingml/2006/main">
              <a:ext uri="{FF2B5EF4-FFF2-40B4-BE49-F238E27FC236}">
                <a16:creationId xmlns:a16="http://schemas.microsoft.com/office/drawing/2014/main" id="{E848B346-95AD-445D-893D-38EDA3C50151}"/>
              </a:ext>
            </a:extLst>
          </p:cNvPr>
          <p:cNvSpPr>
            <a:spLocks xmlns:a="http://schemas.openxmlformats.org/drawingml/2006/main" noGrp="1"/>
          </p:cNvSpPr>
          <p:nvPr/>
        </p:nvSpPr>
        <p:spPr>
          <a:xfrm xmlns:a="http://schemas.openxmlformats.org/drawingml/2006/main">
            <a:off x="5219700" y="2571750"/>
            <a:ext cx="6115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000000"/>
                </a:solidFill>
                <a:latin typeface="Arial"/>
                <a:ea typeface="Arial"/>
                <a:cs typeface="Arial"/>
              </a:defRPr>
            </a:pPr>
            <a:r>
              <a:rPr sz="1575" b="0">
                <a:solidFill>
                  <a:srgbClr val="000000"/>
                </a:solidFill>
                <a:latin typeface="Arial"/>
                <a:ea typeface="Arial"/>
                <a:cs typeface="Arial"/>
              </a:rPr>
              <a:t>Keep PF-WHEY-CHOC and GT-SERUM-VITC in stock; manage ad spend to post-ad contribution.</a:t>
            </a:r>
          </a:p>
        </p:txBody>
      </p:sp>
      <p:sp>
        <p:nvSpPr>
          <p:cNvPr id="8" name="s10-rule-0">
            <a:extLst xmlns:a="http://schemas.openxmlformats.org/drawingml/2006/main">
              <a:ext uri="{FF2B5EF4-FFF2-40B4-BE49-F238E27FC236}">
                <a16:creationId xmlns:a16="http://schemas.microsoft.com/office/drawing/2014/main" id="{B02D2F60-5ED2-46D6-851A-D7B1C26E4EF8}"/>
              </a:ext>
            </a:extLst>
          </p:cNvPr>
          <p:cNvSpPr>
            <a:spLocks xmlns:a="http://schemas.openxmlformats.org/drawingml/2006/main" noGrp="1"/>
          </p:cNvSpPr>
          <p:nvPr/>
        </p:nvSpPr>
        <p:spPr>
          <a:xfrm xmlns:a="http://schemas.openxmlformats.org/drawingml/2006/main">
            <a:off x="1638300" y="3409950"/>
            <a:ext cx="969645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9" name="s10-num-1">
            <a:extLst xmlns:a="http://schemas.openxmlformats.org/drawingml/2006/main">
              <a:ext uri="{FF2B5EF4-FFF2-40B4-BE49-F238E27FC236}">
                <a16:creationId xmlns:a16="http://schemas.microsoft.com/office/drawing/2014/main" id="{D0AA3F25-035A-4E4F-A836-FE6E11A40E1B}"/>
              </a:ext>
            </a:extLst>
          </p:cNvPr>
          <p:cNvSpPr>
            <a:spLocks xmlns:a="http://schemas.openxmlformats.org/drawingml/2006/main" noGrp="1"/>
          </p:cNvSpPr>
          <p:nvPr/>
        </p:nvSpPr>
        <p:spPr>
          <a:xfrm xmlns:a="http://schemas.openxmlformats.org/drawingml/2006/main">
            <a:off x="685800" y="3676650"/>
            <a:ext cx="666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300" b="1">
                <a:solidFill>
                  <a:srgbClr val="3D8DFF"/>
                </a:solidFill>
                <a:latin typeface="Arial"/>
                <a:ea typeface="Arial"/>
                <a:cs typeface="Arial"/>
              </a:defRPr>
            </a:pPr>
            <a:r>
              <a:rPr sz="3300" b="1">
                <a:solidFill>
                  <a:srgbClr val="3D8DFF"/>
                </a:solidFill>
                <a:latin typeface="Arial"/>
                <a:ea typeface="Arial"/>
                <a:cs typeface="Arial"/>
              </a:rPr>
              <a:t>2</a:t>
            </a:r>
          </a:p>
        </p:txBody>
      </p:sp>
      <p:sp>
        <p:nvSpPr>
          <p:cNvPr id="10" name="s10-title-1">
            <a:extLst xmlns:a="http://schemas.openxmlformats.org/drawingml/2006/main">
              <a:ext uri="{FF2B5EF4-FFF2-40B4-BE49-F238E27FC236}">
                <a16:creationId xmlns:a16="http://schemas.microsoft.com/office/drawing/2014/main" id="{CECFF9C0-6AA4-47D0-A17E-404EDFB90B05}"/>
              </a:ext>
            </a:extLst>
          </p:cNvPr>
          <p:cNvSpPr>
            <a:spLocks xmlns:a="http://schemas.openxmlformats.org/drawingml/2006/main" noGrp="1"/>
          </p:cNvSpPr>
          <p:nvPr/>
        </p:nvSpPr>
        <p:spPr>
          <a:xfrm xmlns:a="http://schemas.openxmlformats.org/drawingml/2006/main">
            <a:off x="1638300" y="3676650"/>
            <a:ext cx="3333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Free inventory cash</a:t>
            </a:r>
          </a:p>
        </p:txBody>
      </p:sp>
      <p:sp>
        <p:nvSpPr>
          <p:cNvPr id="11" name="s10-body-1">
            <a:extLst xmlns:a="http://schemas.openxmlformats.org/drawingml/2006/main">
              <a:ext uri="{FF2B5EF4-FFF2-40B4-BE49-F238E27FC236}">
                <a16:creationId xmlns:a16="http://schemas.microsoft.com/office/drawing/2014/main" id="{51C58DB9-2EE4-4C25-A1BA-3EFBB888D0A5}"/>
              </a:ext>
            </a:extLst>
          </p:cNvPr>
          <p:cNvSpPr>
            <a:spLocks xmlns:a="http://schemas.openxmlformats.org/drawingml/2006/main" noGrp="1"/>
          </p:cNvSpPr>
          <p:nvPr/>
        </p:nvSpPr>
        <p:spPr>
          <a:xfrm xmlns:a="http://schemas.openxmlformats.org/drawingml/2006/main">
            <a:off x="5219700" y="3676650"/>
            <a:ext cx="6115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000000"/>
                </a:solidFill>
                <a:latin typeface="Arial"/>
                <a:ea typeface="Arial"/>
                <a:cs typeface="Arial"/>
              </a:defRPr>
            </a:pPr>
            <a:r>
              <a:rPr sz="1575" b="0">
                <a:solidFill>
                  <a:srgbClr val="000000"/>
                </a:solidFill>
                <a:latin typeface="Arial"/>
                <a:ea typeface="Arial"/>
                <a:cs typeface="Arial"/>
              </a:rPr>
              <a:t>Pause blanket replenishment; review the 13 SKUs above one year of cover and open commitments.</a:t>
            </a:r>
          </a:p>
        </p:txBody>
      </p:sp>
      <p:sp>
        <p:nvSpPr>
          <p:cNvPr id="12" name="s10-rule-1">
            <a:extLst xmlns:a="http://schemas.openxmlformats.org/drawingml/2006/main">
              <a:ext uri="{FF2B5EF4-FFF2-40B4-BE49-F238E27FC236}">
                <a16:creationId xmlns:a16="http://schemas.microsoft.com/office/drawing/2014/main" id="{1B956796-928F-47DD-A1C4-4A9BD06B3E21}"/>
              </a:ext>
            </a:extLst>
          </p:cNvPr>
          <p:cNvSpPr>
            <a:spLocks xmlns:a="http://schemas.openxmlformats.org/drawingml/2006/main" noGrp="1"/>
          </p:cNvSpPr>
          <p:nvPr/>
        </p:nvSpPr>
        <p:spPr>
          <a:xfrm xmlns:a="http://schemas.openxmlformats.org/drawingml/2006/main">
            <a:off x="1638300" y="4514850"/>
            <a:ext cx="969645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3" name="s10-num-2">
            <a:extLst xmlns:a="http://schemas.openxmlformats.org/drawingml/2006/main">
              <a:ext uri="{FF2B5EF4-FFF2-40B4-BE49-F238E27FC236}">
                <a16:creationId xmlns:a16="http://schemas.microsoft.com/office/drawing/2014/main" id="{090FF9D9-A412-4525-99D4-C37DAF06F504}"/>
              </a:ext>
            </a:extLst>
          </p:cNvPr>
          <p:cNvSpPr>
            <a:spLocks xmlns:a="http://schemas.openxmlformats.org/drawingml/2006/main" noGrp="1"/>
          </p:cNvSpPr>
          <p:nvPr/>
        </p:nvSpPr>
        <p:spPr>
          <a:xfrm xmlns:a="http://schemas.openxmlformats.org/drawingml/2006/main">
            <a:off x="685800" y="4781550"/>
            <a:ext cx="666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300" b="1">
                <a:solidFill>
                  <a:srgbClr val="3D8DFF"/>
                </a:solidFill>
                <a:latin typeface="Arial"/>
                <a:ea typeface="Arial"/>
                <a:cs typeface="Arial"/>
              </a:defRPr>
            </a:pPr>
            <a:r>
              <a:rPr sz="3300" b="1">
                <a:solidFill>
                  <a:srgbClr val="3D8DFF"/>
                </a:solidFill>
                <a:latin typeface="Arial"/>
                <a:ea typeface="Arial"/>
                <a:cs typeface="Arial"/>
              </a:rPr>
              <a:t>3</a:t>
            </a:r>
          </a:p>
        </p:txBody>
      </p:sp>
      <p:sp>
        <p:nvSpPr>
          <p:cNvPr id="14" name="s10-title-2">
            <a:extLst xmlns:a="http://schemas.openxmlformats.org/drawingml/2006/main">
              <a:ext uri="{FF2B5EF4-FFF2-40B4-BE49-F238E27FC236}">
                <a16:creationId xmlns:a16="http://schemas.microsoft.com/office/drawing/2014/main" id="{39BA55C2-87C3-4327-BEF7-58CE1D583CF7}"/>
              </a:ext>
            </a:extLst>
          </p:cNvPr>
          <p:cNvSpPr>
            <a:spLocks xmlns:a="http://schemas.openxmlformats.org/drawingml/2006/main" noGrp="1"/>
          </p:cNvSpPr>
          <p:nvPr/>
        </p:nvSpPr>
        <p:spPr>
          <a:xfrm xmlns:a="http://schemas.openxmlformats.org/drawingml/2006/main">
            <a:off x="1638300" y="4781550"/>
            <a:ext cx="3333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Fund the data foundation</a:t>
            </a:r>
          </a:p>
        </p:txBody>
      </p:sp>
      <p:sp>
        <p:nvSpPr>
          <p:cNvPr id="15" name="s10-body-2">
            <a:extLst xmlns:a="http://schemas.openxmlformats.org/drawingml/2006/main">
              <a:ext uri="{FF2B5EF4-FFF2-40B4-BE49-F238E27FC236}">
                <a16:creationId xmlns:a16="http://schemas.microsoft.com/office/drawing/2014/main" id="{D6C2FCFA-317F-4A59-8D34-79EADEC90D72}"/>
              </a:ext>
            </a:extLst>
          </p:cNvPr>
          <p:cNvSpPr>
            <a:spLocks xmlns:a="http://schemas.openxmlformats.org/drawingml/2006/main" noGrp="1"/>
          </p:cNvSpPr>
          <p:nvPr/>
        </p:nvSpPr>
        <p:spPr>
          <a:xfrm xmlns:a="http://schemas.openxmlformats.org/drawingml/2006/main">
            <a:off x="5219700" y="4781550"/>
            <a:ext cx="6115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000000"/>
                </a:solidFill>
                <a:latin typeface="Arial"/>
                <a:ea typeface="Arial"/>
                <a:cs typeface="Arial"/>
              </a:defRPr>
            </a:pPr>
            <a:r>
              <a:rPr sz="1575" b="0">
                <a:solidFill>
                  <a:srgbClr val="000000"/>
                </a:solidFill>
                <a:latin typeface="Arial"/>
                <a:ea typeface="Arial"/>
                <a:cs typeface="Arial"/>
              </a:rPr>
              <a:t>Approve BigQuery + dbt/Dataform controls, SKU/cost governance, and Amazon-to-QuickBooks reconciliation.</a:t>
            </a:r>
          </a:p>
        </p:txBody>
      </p:sp>
      <p:sp>
        <p:nvSpPr>
          <p:cNvPr id="16" name="s10-final">
            <a:extLst xmlns:a="http://schemas.openxmlformats.org/drawingml/2006/main">
              <a:ext uri="{FF2B5EF4-FFF2-40B4-BE49-F238E27FC236}">
                <a16:creationId xmlns:a16="http://schemas.microsoft.com/office/drawing/2014/main" id="{49EEB1E3-A940-487A-9BB5-ED3F7604A7A0}"/>
              </a:ext>
            </a:extLst>
          </p:cNvPr>
          <p:cNvSpPr>
            <a:spLocks xmlns:a="http://schemas.openxmlformats.org/drawingml/2006/main" noGrp="1"/>
          </p:cNvSpPr>
          <p:nvPr/>
        </p:nvSpPr>
        <p:spPr>
          <a:xfrm xmlns:a="http://schemas.openxmlformats.org/drawingml/2006/main">
            <a:off x="533400" y="5924550"/>
            <a:ext cx="11125200" cy="4381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17" name="s10-final-text">
            <a:extLst xmlns:a="http://schemas.openxmlformats.org/drawingml/2006/main">
              <a:ext uri="{FF2B5EF4-FFF2-40B4-BE49-F238E27FC236}">
                <a16:creationId xmlns:a16="http://schemas.microsoft.com/office/drawing/2014/main" id="{AF54CC89-5FE0-483D-B786-4A4C7C2957B3}"/>
              </a:ext>
            </a:extLst>
          </p:cNvPr>
          <p:cNvSpPr>
            <a:spLocks xmlns:a="http://schemas.openxmlformats.org/drawingml/2006/main" noGrp="1"/>
          </p:cNvSpPr>
          <p:nvPr/>
        </p:nvSpPr>
        <p:spPr>
          <a:xfrm xmlns:a="http://schemas.openxmlformats.org/drawingml/2006/main">
            <a:off x="723900" y="6029325"/>
            <a:ext cx="107442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B2545"/>
                </a:solidFill>
                <a:latin typeface="Arial"/>
                <a:ea typeface="Arial"/>
                <a:cs typeface="Arial"/>
              </a:defRPr>
            </a:pPr>
            <a:r>
              <a:rPr sz="1350" b="1">
                <a:solidFill>
                  <a:srgbClr val="0B2545"/>
                </a:solidFill>
                <a:latin typeface="Arial"/>
                <a:ea typeface="Arial"/>
                <a:cs typeface="Arial"/>
              </a:rPr>
              <a:t>Next discussion: costing policy • advertising attribution • PO/receipt lifecycle • ownership and close SLAs</a:t>
            </a:r>
          </a:p>
        </p:txBody>
      </p:sp>
    </p:spTree>
    <p:extLst>
      <p:ext uri="{BB962C8B-B14F-4D97-AF65-F5344CB8AC3E}">
        <p14:creationId xmlns:p14="http://schemas.microsoft.com/office/powerpoint/2010/main" val="20227731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2026-08-26T01:06:48.2340000Z</dcterms:created>
  <dcterms:modified xsi:type="dcterms:W3CDTF">2026-08-26T01:06:48.2340000Z</dcterms:modified>
</coreProperties>
</file>