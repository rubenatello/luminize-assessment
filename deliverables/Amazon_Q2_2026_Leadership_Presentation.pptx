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457275e74a4249" /><Relationship Type="http://schemas.openxmlformats.org/officeDocument/2006/relationships/extended-properties" Target="/docProps/app.xml" Id="Ree1d868701e343f5" /><Relationship Type="http://schemas.openxmlformats.org/officeDocument/2006/relationships/officeDocument" Target="/ppt/presentation.xml" Id="R4e923bfb40b948d3" /></Relationships>
</file>

<file path=ppt/presentation.xml><?xml version="1.0" encoding="utf-8"?>
<p:presentation xmlns:p="http://schemas.openxmlformats.org/presentationml/2006/main">
  <p:sldMasterIdLst>
    <p:sldMasterId xmlns:r="http://schemas.openxmlformats.org/officeDocument/2006/relationships" id="2147483648" r:id="R000d33a8c46b4e7a"/>
  </p:sldMasterIdLst>
  <p:notesMasterIdLst>
    <p:notesMasterId xmlns:r="http://schemas.openxmlformats.org/officeDocument/2006/relationships" r:id="R2e37060f78144ef5"/>
  </p:notesMasterIdLst>
  <p:sldIdLst>
    <p:sldId xmlns:r="http://schemas.openxmlformats.org/officeDocument/2006/relationships" id="256" r:id="R6be0aee02adf41fc"/>
    <p:sldId xmlns:r="http://schemas.openxmlformats.org/officeDocument/2006/relationships" id="257" r:id="Rb1dce1597c264c7a"/>
    <p:sldId xmlns:r="http://schemas.openxmlformats.org/officeDocument/2006/relationships" id="258" r:id="Rfe27d1b911be4571"/>
    <p:sldId xmlns:r="http://schemas.openxmlformats.org/officeDocument/2006/relationships" id="259" r:id="R6c3a4c91b12d4327"/>
    <p:sldId xmlns:r="http://schemas.openxmlformats.org/officeDocument/2006/relationships" id="260" r:id="Ra01e6eb7cc164f92"/>
    <p:sldId xmlns:r="http://schemas.openxmlformats.org/officeDocument/2006/relationships" id="261" r:id="R5d69351410554c73"/>
    <p:sldId xmlns:r="http://schemas.openxmlformats.org/officeDocument/2006/relationships" id="262" r:id="Rd16ad4e6eb6a4c02"/>
    <p:sldId xmlns:r="http://schemas.openxmlformats.org/officeDocument/2006/relationships" id="263" r:id="Race9d69108f1487c"/>
    <p:sldId xmlns:r="http://schemas.openxmlformats.org/officeDocument/2006/relationships" id="264" r:id="Rd405850ae0cf434d"/>
    <p:sldId xmlns:r="http://schemas.openxmlformats.org/officeDocument/2006/relationships" id="265" r:id="R5529a233bbe14f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100875c8e54111" /><Relationship Type="http://schemas.openxmlformats.org/officeDocument/2006/relationships/slideMaster" Target="/ppt/slideMasters/slideMaster1.xml" Id="R000d33a8c46b4e7a" /><Relationship Type="http://schemas.openxmlformats.org/officeDocument/2006/relationships/notesMaster" Target="/ppt/notesMasters/notesMaster1.xml" Id="R2e37060f78144ef5" /><Relationship Type="http://schemas.openxmlformats.org/officeDocument/2006/relationships/presProps" Target="/ppt/presProps.xml" Id="Raa1ea1f590674745" /><Relationship Type="http://schemas.openxmlformats.org/officeDocument/2006/relationships/tableStyles" Target="/ppt/tableStyles.xml" Id="R99907a4d17424169" /><Relationship Type="http://schemas.openxmlformats.org/officeDocument/2006/relationships/slide" Target="/ppt/slides/slide1.xml" Id="R6be0aee02adf41fc" /><Relationship Type="http://schemas.openxmlformats.org/officeDocument/2006/relationships/slide" Target="/ppt/slides/slide2.xml" Id="Rb1dce1597c264c7a" /><Relationship Type="http://schemas.openxmlformats.org/officeDocument/2006/relationships/slide" Target="/ppt/slides/slide3.xml" Id="Rfe27d1b911be4571" /><Relationship Type="http://schemas.openxmlformats.org/officeDocument/2006/relationships/slide" Target="/ppt/slides/slide4.xml" Id="R6c3a4c91b12d4327" /><Relationship Type="http://schemas.openxmlformats.org/officeDocument/2006/relationships/slide" Target="/ppt/slides/slide5.xml" Id="Ra01e6eb7cc164f92" /><Relationship Type="http://schemas.openxmlformats.org/officeDocument/2006/relationships/slide" Target="/ppt/slides/slide6.xml" Id="R5d69351410554c73" /><Relationship Type="http://schemas.openxmlformats.org/officeDocument/2006/relationships/slide" Target="/ppt/slides/slide7.xml" Id="Rd16ad4e6eb6a4c02" /><Relationship Type="http://schemas.openxmlformats.org/officeDocument/2006/relationships/slide" Target="/ppt/slides/slide8.xml" Id="Race9d69108f1487c" /><Relationship Type="http://schemas.openxmlformats.org/officeDocument/2006/relationships/slide" Target="/ppt/slides/slide9.xml" Id="Rd405850ae0cf434d" /><Relationship Type="http://schemas.openxmlformats.org/officeDocument/2006/relationships/slide" Target="/ppt/slides/slide10.xml" Id="R5529a233bbe14f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b32fc93ca247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b8c24b053a41dc" /><Relationship Type="http://schemas.openxmlformats.org/officeDocument/2006/relationships/notesMaster" Target="/ppt/notesMasters/notesMaster1.xml" Id="Rdda865de501b44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76e1fb364a41fb" /><Relationship Type="http://schemas.openxmlformats.org/officeDocument/2006/relationships/notesMaster" Target="/ppt/notesMasters/notesMaster1.xml" Id="R35bbaff9acf64b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10471b6b7a499d" /><Relationship Type="http://schemas.openxmlformats.org/officeDocument/2006/relationships/notesMaster" Target="/ppt/notesMasters/notesMaster1.xml" Id="Rb6991ae6ac9943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c3d6728e0a415d" /><Relationship Type="http://schemas.openxmlformats.org/officeDocument/2006/relationships/notesMaster" Target="/ppt/notesMasters/notesMaster1.xml" Id="R428c855ea1de40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a93f2d8d13415c" /><Relationship Type="http://schemas.openxmlformats.org/officeDocument/2006/relationships/notesMaster" Target="/ppt/notesMasters/notesMaster1.xml" Id="Rfd6ca847bef945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8fafcf3c114f37" /><Relationship Type="http://schemas.openxmlformats.org/officeDocument/2006/relationships/notesMaster" Target="/ppt/notesMasters/notesMaster1.xml" Id="R304b59fbc44345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05c292953e431b" /><Relationship Type="http://schemas.openxmlformats.org/officeDocument/2006/relationships/notesMaster" Target="/ppt/notesMasters/notesMaster1.xml" Id="R4615e77cf88a42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e5222c88784542" /><Relationship Type="http://schemas.openxmlformats.org/officeDocument/2006/relationships/notesMaster" Target="/ppt/notesMasters/notesMaster1.xml" Id="Ra8d60e72dd724f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46de5cb269f41b8" /><Relationship Type="http://schemas.openxmlformats.org/officeDocument/2006/relationships/notesMaster" Target="/ppt/notesMasters/notesMaster1.xml" Id="R0fc5767408224c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836aa350d04cef" /><Relationship Type="http://schemas.openxmlformats.org/officeDocument/2006/relationships/notesMaster" Target="/ppt/notesMasters/notesMaster1.xml" Id="R7bbac2ca9e5d4f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main result: product contribution margin is positive, but the platform costs reported without SKU keys make the quarter negative. Explain that the analysis does not force those costs across products.</a:t>
            </a:r>
          </a:p>
          <a:p xmlns:a="http://schemas.openxmlformats.org/drawingml/2006/main">
            <a:r>
              <a:t/>
            </a:r>
          </a:p>
          <a:p xmlns:a="http://schemas.openxmlformats.org/drawingml/2006/main">
            <a:r>
              <a:t>[Sources]</a:t>
            </a:r>
          </a:p>
          <a:p xmlns:a="http://schemas.openxmlformats.org/drawingml/2006/main">
            <a:r>
              <a:t>- Supplied Amazon settlements, purchase orders, inventory snapshot, and SKU mapping CSV files.</a:t>
            </a:r>
          </a:p>
          <a:p xmlns:a="http://schemas.openxmlformats.org/drawingml/2006/main">
            <a:r>
              <a:t>- Candidate calculations in profitability_analysis.py and the verified analysis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contribution margin, explain why unallocated charges are shown separately, and state that the final negative result is a management signal—not a forced SKU allocation.</a:t>
            </a:r>
          </a:p>
          <a:p xmlns:a="http://schemas.openxmlformats.org/drawingml/2006/main">
            <a:r>
              <a:t/>
            </a:r>
          </a:p>
          <a:p xmlns:a="http://schemas.openxmlformats.org/drawingml/2006/main">
            <a:r>
              <a:t>[Sources]</a:t>
            </a:r>
          </a:p>
          <a:p xmlns:a="http://schemas.openxmlformats.org/drawingml/2006/main">
            <a:r>
              <a:t>- Copy of amazon_settlements_apr-jun_2026.csv.</a:t>
            </a:r>
          </a:p>
          <a:p xmlns:a="http://schemas.openxmlformats.org/drawingml/2006/main">
            <a:r>
              <a:t>- Copy of purchase_orders_landed_cost.csv.</a:t>
            </a:r>
          </a:p>
          <a:p xmlns:a="http://schemas.openxmlformats.org/drawingml/2006/main">
            <a:r>
              <a:t>- Processed profit_bridge.csv and brand_profitability.csv.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Bronze, Silver, and Gold are business contracts rather than vendor-specific labels. The identifier bridge is the key scaling decision: SKU is authoritative in this sample, while aliases, ASINs, marketplaces, and effective dates resolve once before facts publish.</a:t>
            </a:r>
          </a:p>
          <a:p xmlns:a="http://schemas.openxmlformats.org/drawingml/2006/main">
            <a:r>
              <a:t/>
            </a:r>
          </a:p>
          <a:p xmlns:a="http://schemas.openxmlformats.org/drawingml/2006/main">
            <a:r>
              <a:t>[Sources]</a:t>
            </a:r>
          </a:p>
          <a:p xmlns:a="http://schemas.openxmlformats.org/drawingml/2006/main">
            <a:r>
              <a:t>- Assessment prompt listing QuickBooks, REACH, Google Sheets, and Amazon data.</a:t>
            </a:r>
          </a:p>
          <a:p xmlns:a="http://schemas.openxmlformats.org/drawingml/2006/main">
            <a:r>
              <a:t>- Candidate-proposed architecture documented in data_model.md, architecture_options.md, and the assessment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out the difference between a one-time cleanup and an operating control. The UOM issue changes economics materially; the ASIN collision shows why ASIN should not be assumed unique without marketplace and effective dates.</a:t>
            </a:r>
          </a:p>
          <a:p xmlns:a="http://schemas.openxmlformats.org/drawingml/2006/main">
            <a:r>
              <a:t/>
            </a:r>
          </a:p>
          <a:p xmlns:a="http://schemas.openxmlformats.org/drawingml/2006/main">
            <a:r>
              <a:t>[Sources]</a:t>
            </a:r>
          </a:p>
          <a:p xmlns:a="http://schemas.openxmlformats.org/drawingml/2006/main">
            <a:r>
              <a:t>- All four supplied CSV files.</a:t>
            </a:r>
          </a:p>
          <a:p xmlns:a="http://schemas.openxmlformats.org/drawingml/2006/main">
            <a:r>
              <a:t>- Processed data_quality_register.csv and po_unit_costs.csv.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chart to shift from total-company economics to management ownership. GlowTheory has the best rate; Peak Fuel has the largest dollars; PawHaus needs product-level intervention, not a blanket brand conclusion.</a:t>
            </a:r>
          </a:p>
          <a:p xmlns:a="http://schemas.openxmlformats.org/drawingml/2006/main">
            <a:r>
              <a:t/>
            </a:r>
          </a:p>
          <a:p xmlns:a="http://schemas.openxmlformats.org/drawingml/2006/main">
            <a:r>
              <a:t>[Sources]</a:t>
            </a:r>
          </a:p>
          <a:p xmlns:a="http://schemas.openxmlformats.org/drawingml/2006/main">
            <a:r>
              <a:t>- Processed brand_profitability.csv generated from supplied Amazon settlements and PO landed-cost data.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 an action split: protect availability and efficient acquisition on the top contributors; separately validate the two missing-cost SKUs before pricing or assortment decisions. Mention that PH-BED-MED-GRY has known cost and only a 6.1% margin.</a:t>
            </a:r>
          </a:p>
          <a:p xmlns:a="http://schemas.openxmlformats.org/drawingml/2006/main">
            <a:r>
              <a:t/>
            </a:r>
          </a:p>
          <a:p xmlns:a="http://schemas.openxmlformats.org/drawingml/2006/main">
            <a:r>
              <a:t>[Sources]</a:t>
            </a:r>
          </a:p>
          <a:p xmlns:a="http://schemas.openxmlformats.org/drawingml/2006/main">
            <a:r>
              <a:t>- Processed sku_profitability.csv generated from the supplied settlement, PO, and mapping files.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this is not a causal SKU-level ad profitability result because the supplied ad rows have no SKU. It is a company-level warning that the profit pool is almost entirely consumed by advertising. The first automation priority is obtaining the detail needed to manage it.</a:t>
            </a:r>
          </a:p>
          <a:p xmlns:a="http://schemas.openxmlformats.org/drawingml/2006/main">
            <a:r>
              <a:t/>
            </a:r>
          </a:p>
          <a:p xmlns:a="http://schemas.openxmlformats.org/drawingml/2006/main">
            <a:r>
              <a:t>[Sources]</a:t>
            </a:r>
          </a:p>
          <a:p xmlns:a="http://schemas.openxmlformats.org/drawingml/2006/main">
            <a:r>
              <a:t>- Copy of amazon_settlements_apr-jun_2026.csv, including Advertising Cost, FBA Storage Fee, Subscription Fee, and Adjustment rows.</a:t>
            </a:r>
          </a:p>
          <a:p xmlns:a="http://schemas.openxmlformats.org/drawingml/2006/main">
            <a:r>
              <a:t>- Processed profit_bridge.csv.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this as a cash-allocation problem, not just an inventory dashboard. The two lowest-cover SKUs are major CM contributors. The longest-cover SKUs should trigger commercial and purchasing actions, but not automatic conclusions because demand seasonality and lead times were not provided.</a:t>
            </a:r>
          </a:p>
          <a:p xmlns:a="http://schemas.openxmlformats.org/drawingml/2006/main">
            <a:r>
              <a:t/>
            </a:r>
          </a:p>
          <a:p xmlns:a="http://schemas.openxmlformats.org/drawingml/2006/main">
            <a:r>
              <a:t>[Sources]</a:t>
            </a:r>
          </a:p>
          <a:p xmlns:a="http://schemas.openxmlformats.org/drawingml/2006/main">
            <a:r>
              <a:t>- Copy of inventory_snapshot_2026-06-30.csv.</a:t>
            </a:r>
          </a:p>
          <a:p xmlns:a="http://schemas.openxmlformats.org/drawingml/2006/main">
            <a:r>
              <a:t>- Copy of amazon_settlements_apr-jun_2026.csv for Q2 unit demand.</a:t>
            </a:r>
          </a:p>
          <a:p xmlns:a="http://schemas.openxmlformats.org/drawingml/2006/main">
            <a:r>
              <a:t>- Processed inventory_health.csv.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 first month as common and non-negotiable. Recommend the efficient path unless connector reliability and implementation speed justify managed ELT. Both options still deliver the management P&amp;L by day 60 and forward-looking inventory/ad actions by day 90 because the Bronze-Silver-Gold contracts are identical.</a:t>
            </a:r>
          </a:p>
          <a:p xmlns:a="http://schemas.openxmlformats.org/drawingml/2006/main">
            <a:r>
              <a:t/>
            </a:r>
          </a:p>
          <a:p xmlns:a="http://schemas.openxmlformats.org/drawingml/2006/main">
            <a:r>
              <a:t>[Sources]</a:t>
            </a:r>
          </a:p>
          <a:p xmlns:a="http://schemas.openxmlformats.org/drawingml/2006/main">
            <a:r>
              <a:t>- Assessment prompt describing QuickBooks, REACH, and Google Sheets.</a:t>
            </a:r>
          </a:p>
          <a:p xmlns:a="http://schemas.openxmlformats.org/drawingml/2006/main">
            <a:r>
              <a:t>- Candidate automation proposal documented in automation_90_day_plan.md, architecture_options.md, and the assessment brief.</a:t>
            </a:r>
          </a:p>
          <a:p xmlns:a="http://schemas.openxmlformats.org/drawingml/2006/main">
            <a:r>
              <a:t>- https://docs.cloud.google.com/dataform/docs/overview</a:t>
            </a:r>
          </a:p>
          <a:p xmlns:a="http://schemas.openxmlformats.org/drawingml/2006/main">
            <a:r>
              <a:t>- https://docs.cloud.google.com/bigquery/docs/connected-sheets</a:t>
            </a:r>
          </a:p>
          <a:p xmlns:a="http://schemas.openxmlformats.org/drawingml/2006/main">
            <a:r>
              <a:t>- https://fivetran.com/docs/connectors/applications/amazon-selling-partner/setup-guide</a:t>
            </a:r>
          </a:p>
          <a:p xmlns:a="http://schemas.openxmlformats.org/drawingml/2006/main">
            <a:r>
              <a:t>- https://fivetran.com/docs/connectors/applications/quickbooks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asking leadership which decision they want to go deeper on. Keep the discussion anchored to governance, economics, and operating cadence. If asked about Databricks, explain that the included notebook demonstrates portability but BigQuery is the lower-friction finance production recommendation.</a:t>
            </a:r>
          </a:p>
          <a:p xmlns:a="http://schemas.openxmlformats.org/drawingml/2006/main">
            <a:r>
              <a:t/>
            </a:r>
          </a:p>
          <a:p xmlns:a="http://schemas.openxmlformats.org/drawingml/2006/main">
            <a:r>
              <a:t>[Sources]</a:t>
            </a:r>
          </a:p>
          <a:p xmlns:a="http://schemas.openxmlformats.org/drawingml/2006/main">
            <a:r>
              <a:t>- Synthesis of all supplied CSV analysis and the candidate data model/automation proposal.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bc2baf4c0548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cfef0a71524174" /><Relationship Type="http://schemas.openxmlformats.org/officeDocument/2006/relationships/slideLayout" Target="/ppt/slideLayouts/slideLayout1.xml" Id="R84614172942748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614172942748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d1e5ebecc145fa" /><Relationship Type="http://schemas.openxmlformats.org/officeDocument/2006/relationships/notesSlide" Target="/ppt/notesSlides/notesSlide1.xml" Id="R66f7086587ac4a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4f9edaeb274e56" /><Relationship Type="http://schemas.openxmlformats.org/officeDocument/2006/relationships/notesSlide" Target="/ppt/notesSlides/notesSlide2.xml" Id="R96b9b2bbdbab46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9ea1529ecc14589" /><Relationship Type="http://schemas.openxmlformats.org/officeDocument/2006/relationships/notesSlide" Target="/ppt/notesSlides/notesSlide3.xml" Id="Rf80bc4c879f14d2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9ede1d52e624e92" /><Relationship Type="http://schemas.openxmlformats.org/officeDocument/2006/relationships/notesSlide" Target="/ppt/notesSlides/notesSlide4.xml" Id="Rc2c3c96cbe3c4a1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6c8eaa50974ea2" /><Relationship Type="http://schemas.openxmlformats.org/officeDocument/2006/relationships/chart" Target="/ppt/slides/charts/chart1.xml" Id="R431766dc35c645c3" /><Relationship Type="http://schemas.openxmlformats.org/officeDocument/2006/relationships/notesSlide" Target="/ppt/notesSlides/notesSlide5.xml" Id="Rbe8a1dc7271442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77bbf408a042e8" /><Relationship Type="http://schemas.openxmlformats.org/officeDocument/2006/relationships/chart" Target="/ppt/slides/charts/chart2.xml" Id="Ra137e4bf29314e72" /><Relationship Type="http://schemas.openxmlformats.org/officeDocument/2006/relationships/notesSlide" Target="/ppt/notesSlides/notesSlide6.xml" Id="R4c016ece6a124b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817ed3267a4923" /><Relationship Type="http://schemas.openxmlformats.org/officeDocument/2006/relationships/chart" Target="/ppt/slides/charts/chart3.xml" Id="R3026d7b1fd584efb" /><Relationship Type="http://schemas.openxmlformats.org/officeDocument/2006/relationships/notesSlide" Target="/ppt/notesSlides/notesSlide7.xml" Id="Ra5710668ab0442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f8df59113514a3f" /><Relationship Type="http://schemas.openxmlformats.org/officeDocument/2006/relationships/notesSlide" Target="/ppt/notesSlides/notesSlide8.xml" Id="R06e5af42007540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a4e7f142db04edd" /><Relationship Type="http://schemas.openxmlformats.org/officeDocument/2006/relationships/notesSlide" Target="/ppt/notesSlides/notesSlide9.xml" Id="R91517b24acde4a5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eada4a670a84359" /><Relationship Type="http://schemas.openxmlformats.org/officeDocument/2006/relationships/notesSlide" Target="/ppt/notesSlides/notesSlide10.xml" Id="R7fa953ff68cd4e35" /></Relationships>
</file>

<file path=ppt/slides/charts/chart1.xml><?xml version="1.0" encoding="utf-8"?>
<c:chartSpace xmlns:c="http://schemas.openxmlformats.org/drawingml/2006/chart">
  <c:lang val="en-US"/>
  <c:chart>
    <c:plotArea>
      <c:barChart>
        <c:barDir val="bar"/>
        <c:grouping val="clustered"/>
        <c:varyColors val="0"/>
        <c:ser>
          <c:idx val="0"/>
          <c:order val="0"/>
          <c:tx>
            <c:v>Contribution margin</c:v>
          </c:tx>
          <c:spPr>
            <a:solidFill xmlns:a="http://schemas.openxmlformats.org/drawingml/2006/main">
              <a:srgbClr val="3D8DFF"/>
            </a:solidFill>
          </c:spPr>
          <c:cat>
            <c:strLit>
              <c:ptCount val="3"/>
              <c:pt idx="0">
                <c:v>Peak Fuel</c:v>
              </c:pt>
              <c:pt idx="1">
                <c:v>GlowTheory</c:v>
              </c:pt>
              <c:pt idx="2">
                <c:v>PawHaus</c:v>
              </c:pt>
            </c:strLit>
          </c:cat>
          <c:val>
            <c:numLit>
              <c:formatCode>General</c:formatCode>
              <c:ptCount val="3"/>
              <c:pt idx="0">
                <c:v>22027</c:v>
              </c:pt>
              <c:pt idx="1">
                <c:v>20548</c:v>
              </c:pt>
              <c:pt idx="2">
                <c:v>8667</c:v>
              </c:pt>
            </c:numLit>
          </c:val>
        </c:ser>
        <c:dLbls>
          <c:txPr>
            <a:bodyPr xmlns:a="http://schemas.openxmlformats.org/drawingml/2006/main" anchorCtr="1"/>
            <a:lstStyle xmlns:a="http://schemas.openxmlformats.org/drawingml/2006/main"/>
            <a:p xmlns:a="http://schemas.openxmlformats.org/drawingml/2006/main">
              <a:pPr>
                <a:defRPr sz="1125" b="1">
                  <a:solidFill>
                    <a:srgbClr val="000000"/>
                  </a:solidFill>
                </a:defRPr>
              </a:pPr>
            </a:p>
          </c:txPr>
          <c:dLblPos val="outEnd"/>
          <c:showLegendKey val="0"/>
          <c:showVal val="1"/>
          <c:showCatName val="0"/>
          <c:showSerName val="0"/>
          <c:showPercent val="0"/>
          <c:showBubbleSize val="0"/>
          <c:showLeaderLines val="0"/>
        </c:dLbls>
        <c:gapWidth val="52"/>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Contribution margin</c:v>
          </c:tx>
          <c:spPr>
            <a:solidFill xmlns:a="http://schemas.openxmlformats.org/drawingml/2006/main">
              <a:srgbClr val="3D8DFF"/>
            </a:solidFill>
          </c:spPr>
          <c:cat>
            <c:strLit>
              <c:ptCount val="6"/>
              <c:pt idx="0">
                <c:v>GT-SERUM-VITC</c:v>
              </c:pt>
              <c:pt idx="1">
                <c:v>PF-WHEY-CHOC</c:v>
              </c:pt>
              <c:pt idx="2">
                <c:v>GT-SERUM-HA</c:v>
              </c:pt>
              <c:pt idx="3">
                <c:v>PF-CREATINE-300</c:v>
              </c:pt>
              <c:pt idx="4">
                <c:v>PF-WHEY-VAN</c:v>
              </c:pt>
              <c:pt idx="5">
                <c:v>PF-PREWKT-BERRY</c:v>
              </c:pt>
            </c:strLit>
          </c:cat>
          <c:val>
            <c:numLit>
              <c:formatCode>General</c:formatCode>
              <c:ptCount val="6"/>
              <c:pt idx="0">
                <c:v>7521</c:v>
              </c:pt>
              <c:pt idx="1">
                <c:v>6604</c:v>
              </c:pt>
              <c:pt idx="2">
                <c:v>4853</c:v>
              </c:pt>
              <c:pt idx="3">
                <c:v>4517</c:v>
              </c:pt>
              <c:pt idx="4">
                <c:v>4172</c:v>
              </c:pt>
              <c:pt idx="5">
                <c:v>2723</c:v>
              </c:pt>
            </c:numLit>
          </c:val>
        </c:ser>
        <c:dLbls>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dLblPos val="outEnd"/>
          <c:showLegendKey val="0"/>
          <c:showVal val="1"/>
          <c:showCatName val="0"/>
          <c:showSerName val="0"/>
          <c:showPercent val="0"/>
          <c:showBubbleSize val="0"/>
          <c:showLeaderLines val="0"/>
        </c:dLbls>
        <c:gapWidth val="38"/>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1"/>
        <c:ser>
          <c:idx val="0"/>
          <c:order val="0"/>
          <c:tx>
            <c:v>Signed amount</c:v>
          </c:tx>
          <c:spPr>
            <a:solidFill xmlns:a="http://schemas.openxmlformats.org/drawingml/2006/main">
              <a:srgbClr val="3D8DFF"/>
            </a:solidFill>
          </c:spPr>
          <c:invertIfNegative val="0"/>
          <c:dPt>
            <c:idx val="0"/>
            <c:invertIfNegative val="0"/>
            <c:spPr>
              <a:solidFill xmlns:a="http://schemas.openxmlformats.org/drawingml/2006/main">
                <a:srgbClr val="0B7A53"/>
              </a:solidFill>
            </c:spPr>
          </c:dPt>
          <c:dPt>
            <c:idx val="1"/>
            <c:invertIfNegative val="0"/>
            <c:spPr>
              <a:solidFill xmlns:a="http://schemas.openxmlformats.org/drawingml/2006/main">
                <a:srgbClr val="B42318"/>
              </a:solidFill>
            </c:spPr>
          </c:dPt>
          <c:dPt>
            <c:idx val="2"/>
            <c:invertIfNegative val="0"/>
            <c:spPr>
              <a:solidFill xmlns:a="http://schemas.openxmlformats.org/drawingml/2006/main">
                <a:srgbClr val="B42318"/>
              </a:solidFill>
            </c:spPr>
          </c:dPt>
          <c:dPt>
            <c:idx val="3"/>
            <c:invertIfNegative val="0"/>
            <c:spPr>
              <a:solidFill xmlns:a="http://schemas.openxmlformats.org/drawingml/2006/main">
                <a:srgbClr val="B42318"/>
              </a:solidFill>
            </c:spPr>
          </c:dPt>
          <c:dPt>
            <c:idx val="4"/>
            <c:invertIfNegative val="0"/>
            <c:spPr>
              <a:solidFill xmlns:a="http://schemas.openxmlformats.org/drawingml/2006/main">
                <a:srgbClr val="3D8DFF"/>
              </a:solidFill>
            </c:spPr>
          </c:dPt>
          <c:dPt>
            <c:idx val="5"/>
            <c:invertIfNegative val="0"/>
            <c:spPr>
              <a:solidFill xmlns:a="http://schemas.openxmlformats.org/drawingml/2006/main">
                <a:srgbClr val="B42318"/>
              </a:solidFill>
            </c:spPr>
          </c:dPt>
          <c:cat>
            <c:strLit>
              <c:ptCount val="6"/>
              <c:pt idx="0">
                <c:v>Contribution</c:v>
              </c:pt>
              <c:pt idx="1">
                <c:v>Advertising</c:v>
              </c:pt>
              <c:pt idx="2">
                <c:v>Storage</c:v>
              </c:pt>
              <c:pt idx="3">
                <c:v>Subscription</c:v>
              </c:pt>
              <c:pt idx="4">
                <c:v>Adjustments</c:v>
              </c:pt>
              <c:pt idx="5">
                <c:v>Final</c:v>
              </c:pt>
            </c:strLit>
          </c:cat>
          <c:val>
            <c:numLit>
              <c:formatCode>$#,##0;($#,##0)</c:formatCode>
              <c:ptCount val="6"/>
              <c:pt idx="0">
                <c:v>51243</c:v>
              </c:pt>
              <c:pt idx="1">
                <c:v>-50576</c:v>
              </c:pt>
              <c:pt idx="2">
                <c:v>-6119</c:v>
              </c:pt>
              <c:pt idx="3">
                <c:v>-120</c:v>
              </c:pt>
              <c:pt idx="4">
                <c:v>89</c:v>
              </c:pt>
              <c:pt idx="5">
                <c:v>-5483</c:v>
              </c:pt>
            </c:numLit>
          </c:val>
        </c:ser>
        <c:dLbls>
          <c:txPr>
            <a:bodyPr xmlns:a="http://schemas.openxmlformats.org/drawingml/2006/main" anchorCtr="1"/>
            <a:lstStyle xmlns:a="http://schemas.openxmlformats.org/drawingml/2006/main"/>
            <a:p xmlns:a="http://schemas.openxmlformats.org/drawingml/2006/main">
              <a:pPr>
                <a:defRPr sz="975" b="1">
                  <a:solidFill>
                    <a:srgbClr val="000000"/>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000000"/>
                </a:solidFill>
              </a:defRPr>
            </a:pPr>
          </a:p>
        </c:txPr>
        <c:crossAx val="48672768"/>
      </c:catAx>
      <c:valAx>
        <c:axId val="48672768"/>
        <c:scaling>
          <c:orientation val="minMax"/>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ver-eyebrow">
            <a:extLst xmlns:a="http://schemas.openxmlformats.org/drawingml/2006/main">
              <a:ext uri="{FF2B5EF4-FFF2-40B4-BE49-F238E27FC236}">
                <a16:creationId xmlns:a16="http://schemas.microsoft.com/office/drawing/2014/main" id="{F1C2A517-9904-421D-8E66-8606AC637A3C}"/>
              </a:ext>
            </a:extLst>
          </p:cNvPr>
          <p:cNvSpPr>
            <a:spLocks xmlns:a="http://schemas.openxmlformats.org/drawingml/2006/main" noGrp="1"/>
          </p:cNvSpPr>
          <p:nvPr/>
        </p:nvSpPr>
        <p:spPr>
          <a:xfrm xmlns:a="http://schemas.openxmlformats.org/drawingml/2006/main">
            <a:off x="533400" y="45720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556070"/>
                </a:solidFill>
                <a:latin typeface="Arial"/>
                <a:ea typeface="Arial"/>
                <a:cs typeface="Arial"/>
              </a:defRPr>
            </a:pPr>
            <a:r>
              <a:rPr sz="1125" b="1">
                <a:solidFill>
                  <a:srgbClr val="556070"/>
                </a:solidFill>
                <a:latin typeface="Arial"/>
                <a:ea typeface="Arial"/>
                <a:cs typeface="Arial"/>
              </a:rPr>
              <a:t>FINANCE ANALYTICS ASSESSMENT</a:t>
            </a:r>
          </a:p>
        </p:txBody>
      </p:sp>
      <p:sp>
        <p:nvSpPr>
          <p:cNvPr id="2" name="cover-title">
            <a:extLst xmlns:a="http://schemas.openxmlformats.org/drawingml/2006/main">
              <a:ext uri="{FF2B5EF4-FFF2-40B4-BE49-F238E27FC236}">
                <a16:creationId xmlns:a16="http://schemas.microsoft.com/office/drawing/2014/main" id="{3600AAAA-18E4-4530-9D0D-9620F5525859}"/>
              </a:ext>
            </a:extLst>
          </p:cNvPr>
          <p:cNvSpPr>
            <a:spLocks xmlns:a="http://schemas.openxmlformats.org/drawingml/2006/main" noGrp="1"/>
          </p:cNvSpPr>
          <p:nvPr/>
        </p:nvSpPr>
        <p:spPr>
          <a:xfrm xmlns:a="http://schemas.openxmlformats.org/drawingml/2006/main">
            <a:off x="533400" y="1524000"/>
            <a:ext cx="6572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00000"/>
                </a:solidFill>
                <a:latin typeface="Arial"/>
                <a:ea typeface="Arial"/>
                <a:cs typeface="Arial"/>
              </a:defRPr>
            </a:pPr>
            <a:r>
              <a:rPr sz="4200" b="1">
                <a:solidFill>
                  <a:srgbClr val="000000"/>
                </a:solidFill>
                <a:latin typeface="Arial"/>
                <a:ea typeface="Arial"/>
                <a:cs typeface="Arial"/>
              </a:rPr>
              <a:t>Q2 Amazon economics reveal a profitable core—and an unprofitable spend layer</a:t>
            </a:r>
          </a:p>
        </p:txBody>
      </p:sp>
      <p:sp>
        <p:nvSpPr>
          <p:cNvPr id="3" name="cover-subtitle">
            <a:extLst xmlns:a="http://schemas.openxmlformats.org/drawingml/2006/main">
              <a:ext uri="{FF2B5EF4-FFF2-40B4-BE49-F238E27FC236}">
                <a16:creationId xmlns:a16="http://schemas.microsoft.com/office/drawing/2014/main" id="{17000180-C834-4E3C-B6FB-B5D8BD425959}"/>
              </a:ext>
            </a:extLst>
          </p:cNvPr>
          <p:cNvSpPr>
            <a:spLocks xmlns:a="http://schemas.openxmlformats.org/drawingml/2006/main" noGrp="1"/>
          </p:cNvSpPr>
          <p:nvPr/>
        </p:nvSpPr>
        <p:spPr>
          <a:xfrm xmlns:a="http://schemas.openxmlformats.org/drawingml/2006/main">
            <a:off x="533400" y="4495800"/>
            <a:ext cx="619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Contribution margin, inventory signals, scalable data model, and a first-90-day automation plan</a:t>
            </a:r>
          </a:p>
        </p:txBody>
      </p:sp>
      <p:sp>
        <p:nvSpPr>
          <p:cNvPr id="4" name="cover-field">
            <a:extLst xmlns:a="http://schemas.openxmlformats.org/drawingml/2006/main">
              <a:ext uri="{FF2B5EF4-FFF2-40B4-BE49-F238E27FC236}">
                <a16:creationId xmlns:a16="http://schemas.microsoft.com/office/drawing/2014/main" id="{9BA6C61A-DAE5-48C1-B72F-174034C56998}"/>
              </a:ext>
            </a:extLst>
          </p:cNvPr>
          <p:cNvSpPr>
            <a:spLocks xmlns:a="http://schemas.openxmlformats.org/drawingml/2006/main" noGrp="1"/>
          </p:cNvSpPr>
          <p:nvPr/>
        </p:nvSpPr>
        <p:spPr>
          <a:xfrm xmlns:a="http://schemas.openxmlformats.org/drawingml/2006/main">
            <a:off x="7810500" y="457200"/>
            <a:ext cx="3848100" cy="56197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5" name="cover-field-value">
            <a:extLst xmlns:a="http://schemas.openxmlformats.org/drawingml/2006/main">
              <a:ext uri="{FF2B5EF4-FFF2-40B4-BE49-F238E27FC236}">
                <a16:creationId xmlns:a16="http://schemas.microsoft.com/office/drawing/2014/main" id="{E007C754-76F5-4A5E-880E-C7015A63773B}"/>
              </a:ext>
            </a:extLst>
          </p:cNvPr>
          <p:cNvSpPr>
            <a:spLocks xmlns:a="http://schemas.openxmlformats.org/drawingml/2006/main" noGrp="1"/>
          </p:cNvSpPr>
          <p:nvPr/>
        </p:nvSpPr>
        <p:spPr>
          <a:xfrm xmlns:a="http://schemas.openxmlformats.org/drawingml/2006/main">
            <a:off x="8248650" y="1885950"/>
            <a:ext cx="2952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500" b="1">
                <a:solidFill>
                  <a:srgbClr val="0B2545"/>
                </a:solidFill>
                <a:latin typeface="Arial"/>
                <a:ea typeface="Arial"/>
                <a:cs typeface="Arial"/>
              </a:defRPr>
            </a:pPr>
            <a:r>
              <a:rPr sz="4500" b="1">
                <a:solidFill>
                  <a:srgbClr val="0B2545"/>
                </a:solidFill>
                <a:latin typeface="Arial"/>
                <a:ea typeface="Arial"/>
                <a:cs typeface="Arial"/>
              </a:rPr>
              <a:t>$51.2K</a:t>
            </a:r>
          </a:p>
        </p:txBody>
      </p:sp>
      <p:sp>
        <p:nvSpPr>
          <p:cNvPr id="6" name="cover-field-label">
            <a:extLst xmlns:a="http://schemas.openxmlformats.org/drawingml/2006/main">
              <a:ext uri="{FF2B5EF4-FFF2-40B4-BE49-F238E27FC236}">
                <a16:creationId xmlns:a16="http://schemas.microsoft.com/office/drawing/2014/main" id="{A492E893-0F17-4DBC-86E6-57BE1E867715}"/>
              </a:ext>
            </a:extLst>
          </p:cNvPr>
          <p:cNvSpPr>
            <a:spLocks xmlns:a="http://schemas.openxmlformats.org/drawingml/2006/main" noGrp="1"/>
          </p:cNvSpPr>
          <p:nvPr/>
        </p:nvSpPr>
        <p:spPr>
          <a:xfrm xmlns:a="http://schemas.openxmlformats.org/drawingml/2006/main">
            <a:off x="8248650" y="28575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00000"/>
                </a:solidFill>
                <a:latin typeface="Arial"/>
                <a:ea typeface="Arial"/>
                <a:cs typeface="Arial"/>
              </a:defRPr>
            </a:pPr>
            <a:r>
              <a:rPr sz="1800" b="1">
                <a:solidFill>
                  <a:srgbClr val="000000"/>
                </a:solidFill>
                <a:latin typeface="Arial"/>
                <a:ea typeface="Arial"/>
                <a:cs typeface="Arial"/>
              </a:rPr>
              <a:t>Contribution margin</a:t>
            </a:r>
          </a:p>
        </p:txBody>
      </p:sp>
      <p:sp>
        <p:nvSpPr>
          <p:cNvPr id="7" name="cover-field-note">
            <a:extLst xmlns:a="http://schemas.openxmlformats.org/drawingml/2006/main">
              <a:ext uri="{FF2B5EF4-FFF2-40B4-BE49-F238E27FC236}">
                <a16:creationId xmlns:a16="http://schemas.microsoft.com/office/drawing/2014/main" id="{AB50ADD1-AEAD-4CDC-9F74-B79C5AD5897E}"/>
              </a:ext>
            </a:extLst>
          </p:cNvPr>
          <p:cNvSpPr>
            <a:spLocks xmlns:a="http://schemas.openxmlformats.org/drawingml/2006/main" noGrp="1"/>
          </p:cNvSpPr>
          <p:nvPr/>
        </p:nvSpPr>
        <p:spPr>
          <a:xfrm xmlns:a="http://schemas.openxmlformats.org/drawingml/2006/main">
            <a:off x="8248650" y="36004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556070"/>
                </a:solidFill>
                <a:latin typeface="Arial"/>
                <a:ea typeface="Arial"/>
                <a:cs typeface="Arial"/>
              </a:defRPr>
            </a:pPr>
            <a:r>
              <a:rPr sz="1350" b="0">
                <a:solidFill>
                  <a:srgbClr val="556070"/>
                </a:solidFill>
                <a:latin typeface="Arial"/>
                <a:ea typeface="Arial"/>
                <a:cs typeface="Arial"/>
              </a:rPr>
              <a:t>Quarter ended June 30, 2026</a:t>
            </a:r>
          </a:p>
        </p:txBody>
      </p:sp>
      <p:sp>
        <p:nvSpPr>
          <p:cNvPr id="8" name="cover-footer">
            <a:extLst xmlns:a="http://schemas.openxmlformats.org/drawingml/2006/main">
              <a:ext uri="{FF2B5EF4-FFF2-40B4-BE49-F238E27FC236}">
                <a16:creationId xmlns:a16="http://schemas.microsoft.com/office/drawing/2014/main" id="{B5E2F4F7-153F-4DE4-BAB7-36023B385291}"/>
              </a:ext>
            </a:extLst>
          </p:cNvPr>
          <p:cNvSpPr>
            <a:spLocks xmlns:a="http://schemas.openxmlformats.org/drawingml/2006/main" noGrp="1"/>
          </p:cNvSpPr>
          <p:nvPr/>
        </p:nvSpPr>
        <p:spPr>
          <a:xfrm xmlns:a="http://schemas.openxmlformats.org/drawingml/2006/main">
            <a:off x="533400" y="63436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0">
                <a:solidFill>
                  <a:srgbClr val="556070"/>
                </a:solidFill>
                <a:latin typeface="Arial"/>
                <a:ea typeface="Arial"/>
                <a:cs typeface="Arial"/>
              </a:defRPr>
            </a:pPr>
            <a:r>
              <a:rPr sz="1050" b="0">
                <a:solidFill>
                  <a:srgbClr val="556070"/>
                </a:solidFill>
                <a:latin typeface="Arial"/>
                <a:ea typeface="Arial"/>
                <a:cs typeface="Arial"/>
              </a:rPr>
              <a:t>Finance leadership discussion</a:t>
            </a:r>
          </a:p>
        </p:txBody>
      </p:sp>
    </p:spTree>
    <p:extLst>
      <p:ext uri="{BB962C8B-B14F-4D97-AF65-F5344CB8AC3E}">
        <p14:creationId xmlns:p14="http://schemas.microsoft.com/office/powerpoint/2010/main" val="2753153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2">
            <a:extLst xmlns:a="http://schemas.openxmlformats.org/drawingml/2006/main">
              <a:ext uri="{FF2B5EF4-FFF2-40B4-BE49-F238E27FC236}">
                <a16:creationId xmlns:a16="http://schemas.microsoft.com/office/drawing/2014/main" id="{B1EFFD2B-19EF-48F2-85CE-FC8A2C15858C}"/>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Q2 2026 AMAZON ECONOMICS</a:t>
            </a:r>
          </a:p>
        </p:txBody>
      </p:sp>
      <p:sp>
        <p:nvSpPr>
          <p:cNvPr id="2" name="title-2">
            <a:extLst xmlns:a="http://schemas.openxmlformats.org/drawingml/2006/main">
              <a:ext uri="{FF2B5EF4-FFF2-40B4-BE49-F238E27FC236}">
                <a16:creationId xmlns:a16="http://schemas.microsoft.com/office/drawing/2014/main" id="{8F3DCE6E-D6A4-40F5-BEB2-58E3356D813B}"/>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Contribution margin was 38.7%; unallocated platform costs made the quarter negative</a:t>
            </a:r>
          </a:p>
        </p:txBody>
      </p:sp>
      <p:sp>
        <p:nvSpPr>
          <p:cNvPr id="3" name="footer-2">
            <a:extLst xmlns:a="http://schemas.openxmlformats.org/drawingml/2006/main">
              <a:ext uri="{FF2B5EF4-FFF2-40B4-BE49-F238E27FC236}">
                <a16:creationId xmlns:a16="http://schemas.microsoft.com/office/drawing/2014/main" id="{0DFD388A-8C89-41C2-BC1C-B1F03F9240C7}"/>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2</a:t>
            </a:r>
          </a:p>
        </p:txBody>
      </p:sp>
      <p:sp>
        <p:nvSpPr>
          <p:cNvPr id="4" name="s2-context">
            <a:extLst xmlns:a="http://schemas.openxmlformats.org/drawingml/2006/main">
              <a:ext uri="{FF2B5EF4-FFF2-40B4-BE49-F238E27FC236}">
                <a16:creationId xmlns:a16="http://schemas.microsoft.com/office/drawing/2014/main" id="{0AF51C63-7C12-4C8A-9A03-7F6DEE6862BC}"/>
              </a:ext>
            </a:extLst>
          </p:cNvPr>
          <p:cNvSpPr>
            <a:spLocks xmlns:a="http://schemas.openxmlformats.org/drawingml/2006/main" noGrp="1"/>
          </p:cNvSpPr>
          <p:nvPr/>
        </p:nvSpPr>
        <p:spPr>
          <a:xfrm xmlns:a="http://schemas.openxmlformats.org/drawingml/2006/main">
            <a:off x="533400" y="1543050"/>
            <a:ext cx="111252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Contribution margin uses the costs that can be tied to SKU. Advertising, storage, subscriptions, and adjustments are shown separately because the file provides no reliable SKU allocation key.</a:t>
            </a:r>
          </a:p>
        </p:txBody>
      </p:sp>
      <p:sp>
        <p:nvSpPr>
          <p:cNvPr id="5" name="s2-net-sales-panel">
            <a:extLst xmlns:a="http://schemas.openxmlformats.org/drawingml/2006/main">
              <a:ext uri="{FF2B5EF4-FFF2-40B4-BE49-F238E27FC236}">
                <a16:creationId xmlns:a16="http://schemas.microsoft.com/office/drawing/2014/main" id="{B5852A6C-244E-40AF-A227-85D331FDECB0}"/>
              </a:ext>
            </a:extLst>
          </p:cNvPr>
          <p:cNvSpPr>
            <a:spLocks xmlns:a="http://schemas.openxmlformats.org/drawingml/2006/main" noGrp="1"/>
          </p:cNvSpPr>
          <p:nvPr/>
        </p:nvSpPr>
        <p:spPr>
          <a:xfrm xmlns:a="http://schemas.openxmlformats.org/drawingml/2006/main">
            <a:off x="5334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2-net-sales-value">
            <a:extLst xmlns:a="http://schemas.openxmlformats.org/drawingml/2006/main">
              <a:ext uri="{FF2B5EF4-FFF2-40B4-BE49-F238E27FC236}">
                <a16:creationId xmlns:a16="http://schemas.microsoft.com/office/drawing/2014/main" id="{3DCDF81D-2AA9-4708-8CAE-2AE041301A43}"/>
              </a:ext>
            </a:extLst>
          </p:cNvPr>
          <p:cNvSpPr>
            <a:spLocks xmlns:a="http://schemas.openxmlformats.org/drawingml/2006/main" noGrp="1"/>
          </p:cNvSpPr>
          <p:nvPr/>
        </p:nvSpPr>
        <p:spPr>
          <a:xfrm xmlns:a="http://schemas.openxmlformats.org/drawingml/2006/main">
            <a:off x="8001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2545"/>
                </a:solidFill>
                <a:latin typeface="Arial"/>
                <a:ea typeface="Arial"/>
                <a:cs typeface="Arial"/>
              </a:defRPr>
            </a:pPr>
            <a:r>
              <a:rPr sz="3600" b="1">
                <a:solidFill>
                  <a:srgbClr val="0B2545"/>
                </a:solidFill>
                <a:latin typeface="Arial"/>
                <a:ea typeface="Arial"/>
                <a:cs typeface="Arial"/>
              </a:rPr>
              <a:t>$132.3K</a:t>
            </a:r>
          </a:p>
        </p:txBody>
      </p:sp>
      <p:sp>
        <p:nvSpPr>
          <p:cNvPr id="7" name="s2-net-sales-label">
            <a:extLst xmlns:a="http://schemas.openxmlformats.org/drawingml/2006/main">
              <a:ext uri="{FF2B5EF4-FFF2-40B4-BE49-F238E27FC236}">
                <a16:creationId xmlns:a16="http://schemas.microsoft.com/office/drawing/2014/main" id="{70712A01-F2D1-41C2-B3E6-7A71068457B3}"/>
              </a:ext>
            </a:extLst>
          </p:cNvPr>
          <p:cNvSpPr>
            <a:spLocks xmlns:a="http://schemas.openxmlformats.org/drawingml/2006/main" noGrp="1"/>
          </p:cNvSpPr>
          <p:nvPr/>
        </p:nvSpPr>
        <p:spPr>
          <a:xfrm xmlns:a="http://schemas.openxmlformats.org/drawingml/2006/main">
            <a:off x="8001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Net sales</a:t>
            </a:r>
          </a:p>
        </p:txBody>
      </p:sp>
      <p:sp>
        <p:nvSpPr>
          <p:cNvPr id="8" name="s2-net-sales-detail">
            <a:extLst xmlns:a="http://schemas.openxmlformats.org/drawingml/2006/main">
              <a:ext uri="{FF2B5EF4-FFF2-40B4-BE49-F238E27FC236}">
                <a16:creationId xmlns:a16="http://schemas.microsoft.com/office/drawing/2014/main" id="{0A05B59F-EF4C-4453-822D-95E3DE3060B0}"/>
              </a:ext>
            </a:extLst>
          </p:cNvPr>
          <p:cNvSpPr>
            <a:spLocks xmlns:a="http://schemas.openxmlformats.org/drawingml/2006/main" noGrp="1"/>
          </p:cNvSpPr>
          <p:nvPr/>
        </p:nvSpPr>
        <p:spPr>
          <a:xfrm xmlns:a="http://schemas.openxmlformats.org/drawingml/2006/main">
            <a:off x="8001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Product sales net of refunds and promotions</a:t>
            </a:r>
          </a:p>
        </p:txBody>
      </p:sp>
      <p:sp>
        <p:nvSpPr>
          <p:cNvPr id="9" name="s2-cm-panel">
            <a:extLst xmlns:a="http://schemas.openxmlformats.org/drawingml/2006/main">
              <a:ext uri="{FF2B5EF4-FFF2-40B4-BE49-F238E27FC236}">
                <a16:creationId xmlns:a16="http://schemas.microsoft.com/office/drawing/2014/main" id="{B43ED053-25F2-4554-B32D-5C8DF77DAE84}"/>
              </a:ext>
            </a:extLst>
          </p:cNvPr>
          <p:cNvSpPr>
            <a:spLocks xmlns:a="http://schemas.openxmlformats.org/drawingml/2006/main" noGrp="1"/>
          </p:cNvSpPr>
          <p:nvPr/>
        </p:nvSpPr>
        <p:spPr>
          <a:xfrm xmlns:a="http://schemas.openxmlformats.org/drawingml/2006/main">
            <a:off x="43815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2-cm-value">
            <a:extLst xmlns:a="http://schemas.openxmlformats.org/drawingml/2006/main">
              <a:ext uri="{FF2B5EF4-FFF2-40B4-BE49-F238E27FC236}">
                <a16:creationId xmlns:a16="http://schemas.microsoft.com/office/drawing/2014/main" id="{C3A8C5C8-4666-44EF-AF8B-3BEE1872DEB5}"/>
              </a:ext>
            </a:extLst>
          </p:cNvPr>
          <p:cNvSpPr>
            <a:spLocks xmlns:a="http://schemas.openxmlformats.org/drawingml/2006/main" noGrp="1"/>
          </p:cNvSpPr>
          <p:nvPr/>
        </p:nvSpPr>
        <p:spPr>
          <a:xfrm xmlns:a="http://schemas.openxmlformats.org/drawingml/2006/main">
            <a:off x="46482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7A53"/>
                </a:solidFill>
                <a:latin typeface="Arial"/>
                <a:ea typeface="Arial"/>
                <a:cs typeface="Arial"/>
              </a:defRPr>
            </a:pPr>
            <a:r>
              <a:rPr sz="3600" b="1">
                <a:solidFill>
                  <a:srgbClr val="0B7A53"/>
                </a:solidFill>
                <a:latin typeface="Arial"/>
                <a:ea typeface="Arial"/>
                <a:cs typeface="Arial"/>
              </a:rPr>
              <a:t>$51.2K</a:t>
            </a:r>
          </a:p>
        </p:txBody>
      </p:sp>
      <p:sp>
        <p:nvSpPr>
          <p:cNvPr id="11" name="s2-cm-label">
            <a:extLst xmlns:a="http://schemas.openxmlformats.org/drawingml/2006/main">
              <a:ext uri="{FF2B5EF4-FFF2-40B4-BE49-F238E27FC236}">
                <a16:creationId xmlns:a16="http://schemas.microsoft.com/office/drawing/2014/main" id="{E6553178-3768-4861-9296-2D1D60AFA2BB}"/>
              </a:ext>
            </a:extLst>
          </p:cNvPr>
          <p:cNvSpPr>
            <a:spLocks xmlns:a="http://schemas.openxmlformats.org/drawingml/2006/main" noGrp="1"/>
          </p:cNvSpPr>
          <p:nvPr/>
        </p:nvSpPr>
        <p:spPr>
          <a:xfrm xmlns:a="http://schemas.openxmlformats.org/drawingml/2006/main">
            <a:off x="46482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Contribution margin</a:t>
            </a:r>
          </a:p>
        </p:txBody>
      </p:sp>
      <p:sp>
        <p:nvSpPr>
          <p:cNvPr id="12" name="s2-cm-detail">
            <a:extLst xmlns:a="http://schemas.openxmlformats.org/drawingml/2006/main">
              <a:ext uri="{FF2B5EF4-FFF2-40B4-BE49-F238E27FC236}">
                <a16:creationId xmlns:a16="http://schemas.microsoft.com/office/drawing/2014/main" id="{9137A265-BF55-4972-8A1E-CCA24A324BAF}"/>
              </a:ext>
            </a:extLst>
          </p:cNvPr>
          <p:cNvSpPr>
            <a:spLocks xmlns:a="http://schemas.openxmlformats.org/drawingml/2006/main" noGrp="1"/>
          </p:cNvSpPr>
          <p:nvPr/>
        </p:nvSpPr>
        <p:spPr>
          <a:xfrm xmlns:a="http://schemas.openxmlformats.org/drawingml/2006/main">
            <a:off x="46482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38.7% of net sales after promotions</a:t>
            </a:r>
          </a:p>
        </p:txBody>
      </p:sp>
      <p:sp>
        <p:nvSpPr>
          <p:cNvPr id="13" name="s2-after-panel">
            <a:extLst xmlns:a="http://schemas.openxmlformats.org/drawingml/2006/main">
              <a:ext uri="{FF2B5EF4-FFF2-40B4-BE49-F238E27FC236}">
                <a16:creationId xmlns:a16="http://schemas.microsoft.com/office/drawing/2014/main" id="{9B9766DC-ABB0-4A29-BA0B-A4AB8C5FF1D3}"/>
              </a:ext>
            </a:extLst>
          </p:cNvPr>
          <p:cNvSpPr>
            <a:spLocks xmlns:a="http://schemas.openxmlformats.org/drawingml/2006/main" noGrp="1"/>
          </p:cNvSpPr>
          <p:nvPr/>
        </p:nvSpPr>
        <p:spPr>
          <a:xfrm xmlns:a="http://schemas.openxmlformats.org/drawingml/2006/main">
            <a:off x="82296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4" name="s2-after-value">
            <a:extLst xmlns:a="http://schemas.openxmlformats.org/drawingml/2006/main">
              <a:ext uri="{FF2B5EF4-FFF2-40B4-BE49-F238E27FC236}">
                <a16:creationId xmlns:a16="http://schemas.microsoft.com/office/drawing/2014/main" id="{3501B475-5B1D-4951-85EF-D5A1A7FCBCCA}"/>
              </a:ext>
            </a:extLst>
          </p:cNvPr>
          <p:cNvSpPr>
            <a:spLocks xmlns:a="http://schemas.openxmlformats.org/drawingml/2006/main" noGrp="1"/>
          </p:cNvSpPr>
          <p:nvPr/>
        </p:nvSpPr>
        <p:spPr>
          <a:xfrm xmlns:a="http://schemas.openxmlformats.org/drawingml/2006/main">
            <a:off x="84963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B42318"/>
                </a:solidFill>
                <a:latin typeface="Arial"/>
                <a:ea typeface="Arial"/>
                <a:cs typeface="Arial"/>
              </a:defRPr>
            </a:pPr>
            <a:r>
              <a:rPr sz="3600" b="1">
                <a:solidFill>
                  <a:srgbClr val="B42318"/>
                </a:solidFill>
                <a:latin typeface="Arial"/>
                <a:ea typeface="Arial"/>
                <a:cs typeface="Arial"/>
              </a:rPr>
              <a:t>($5.5K)</a:t>
            </a:r>
          </a:p>
        </p:txBody>
      </p:sp>
      <p:sp>
        <p:nvSpPr>
          <p:cNvPr id="15" name="s2-after-label">
            <a:extLst xmlns:a="http://schemas.openxmlformats.org/drawingml/2006/main">
              <a:ext uri="{FF2B5EF4-FFF2-40B4-BE49-F238E27FC236}">
                <a16:creationId xmlns:a16="http://schemas.microsoft.com/office/drawing/2014/main" id="{BA3C3ACF-36DF-4218-8643-09614A4CA569}"/>
              </a:ext>
            </a:extLst>
          </p:cNvPr>
          <p:cNvSpPr>
            <a:spLocks xmlns:a="http://schemas.openxmlformats.org/drawingml/2006/main" noGrp="1"/>
          </p:cNvSpPr>
          <p:nvPr/>
        </p:nvSpPr>
        <p:spPr>
          <a:xfrm xmlns:a="http://schemas.openxmlformats.org/drawingml/2006/main">
            <a:off x="84963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After platform costs</a:t>
            </a:r>
          </a:p>
        </p:txBody>
      </p:sp>
      <p:sp>
        <p:nvSpPr>
          <p:cNvPr id="16" name="s2-after-detail">
            <a:extLst xmlns:a="http://schemas.openxmlformats.org/drawingml/2006/main">
              <a:ext uri="{FF2B5EF4-FFF2-40B4-BE49-F238E27FC236}">
                <a16:creationId xmlns:a16="http://schemas.microsoft.com/office/drawing/2014/main" id="{4028C59D-1FAA-449A-8C65-F1426158C0C9}"/>
              </a:ext>
            </a:extLst>
          </p:cNvPr>
          <p:cNvSpPr>
            <a:spLocks xmlns:a="http://schemas.openxmlformats.org/drawingml/2006/main" noGrp="1"/>
          </p:cNvSpPr>
          <p:nvPr/>
        </p:nvSpPr>
        <p:spPr>
          <a:xfrm xmlns:a="http://schemas.openxmlformats.org/drawingml/2006/main">
            <a:off x="84963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$56.8K of costs, plus $89 of adjustments</a:t>
            </a:r>
          </a:p>
        </p:txBody>
      </p:sp>
    </p:spTree>
    <p:extLst>
      <p:ext uri="{BB962C8B-B14F-4D97-AF65-F5344CB8AC3E}">
        <p14:creationId xmlns:p14="http://schemas.microsoft.com/office/powerpoint/2010/main" val="6209102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eyebrow-3">
            <a:extLst xmlns:a="http://schemas.openxmlformats.org/drawingml/2006/main">
              <a:ext uri="{FF2B5EF4-FFF2-40B4-BE49-F238E27FC236}">
                <a16:creationId xmlns:a16="http://schemas.microsoft.com/office/drawing/2014/main" id="{50C07E64-80D3-4337-9646-736E83C07282}"/>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DELIVERABLE 1 • BIGQUERY DATA MODEL</a:t>
            </a:r>
          </a:p>
        </p:txBody>
      </p:sp>
      <p:sp>
        <p:nvSpPr>
          <p:cNvPr id="2" name="title-3">
            <a:extLst xmlns:a="http://schemas.openxmlformats.org/drawingml/2006/main">
              <a:ext uri="{FF2B5EF4-FFF2-40B4-BE49-F238E27FC236}">
                <a16:creationId xmlns:a16="http://schemas.microsoft.com/office/drawing/2014/main" id="{45804015-E953-4E1F-8D44-88C76FC47699}"/>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BigQuery model stays the same under either implementation option</a:t>
            </a:r>
          </a:p>
        </p:txBody>
      </p:sp>
      <p:sp>
        <p:nvSpPr>
          <p:cNvPr id="3" name="footer-3">
            <a:extLst xmlns:a="http://schemas.openxmlformats.org/drawingml/2006/main">
              <a:ext uri="{FF2B5EF4-FFF2-40B4-BE49-F238E27FC236}">
                <a16:creationId xmlns:a16="http://schemas.microsoft.com/office/drawing/2014/main" id="{25671065-CDBC-4DE5-8F3E-22DB8FB6D435}"/>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3</a:t>
            </a:r>
          </a:p>
        </p:txBody>
      </p:sp>
      <p:sp>
        <p:nvSpPr>
          <p:cNvPr id="4" name="s3-intro">
            <a:extLst xmlns:a="http://schemas.openxmlformats.org/drawingml/2006/main">
              <a:ext uri="{FF2B5EF4-FFF2-40B4-BE49-F238E27FC236}">
                <a16:creationId xmlns:a16="http://schemas.microsoft.com/office/drawing/2014/main" id="{8E0EFD88-F9E4-4614-B64A-723294044275}"/>
              </a:ext>
            </a:extLst>
          </p:cNvPr>
          <p:cNvSpPr>
            <a:spLocks xmlns:a="http://schemas.openxmlformats.org/drawingml/2006/main" noGrp="1"/>
          </p:cNvSpPr>
          <p:nvPr/>
        </p:nvSpPr>
        <p:spPr>
          <a:xfrm xmlns:a="http://schemas.openxmlformats.org/drawingml/2006/main">
            <a:off x="533400" y="148590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Keep the business contracts stable; choose whether the team owns or buys ingestion, orchestration, and observability.</a:t>
            </a:r>
          </a:p>
        </p:txBody>
      </p:sp>
      <p:sp>
        <p:nvSpPr>
          <p:cNvPr id="5" name="s3-arrow-0">
            <a:extLst xmlns:a="http://schemas.openxmlformats.org/drawingml/2006/main">
              <a:ext uri="{FF2B5EF4-FFF2-40B4-BE49-F238E27FC236}">
                <a16:creationId xmlns:a16="http://schemas.microsoft.com/office/drawing/2014/main" id="{C6D4E155-DB01-4310-AD1F-65C29D53BE66}"/>
              </a:ext>
            </a:extLst>
          </p:cNvPr>
          <p:cNvSpPr>
            <a:spLocks xmlns:a="http://schemas.openxmlformats.org/drawingml/2006/main" noGrp="1"/>
          </p:cNvSpPr>
          <p:nvPr/>
        </p:nvSpPr>
        <p:spPr>
          <a:xfrm xmlns:a="http://schemas.openxmlformats.org/drawingml/2006/main">
            <a:off x="24193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6" name="s3-arrow-1">
            <a:extLst xmlns:a="http://schemas.openxmlformats.org/drawingml/2006/main">
              <a:ext uri="{FF2B5EF4-FFF2-40B4-BE49-F238E27FC236}">
                <a16:creationId xmlns:a16="http://schemas.microsoft.com/office/drawing/2014/main" id="{D5D31743-0B06-42B2-A761-8104F0107AA0}"/>
              </a:ext>
            </a:extLst>
          </p:cNvPr>
          <p:cNvSpPr>
            <a:spLocks xmlns:a="http://schemas.openxmlformats.org/drawingml/2006/main" noGrp="1"/>
          </p:cNvSpPr>
          <p:nvPr/>
        </p:nvSpPr>
        <p:spPr>
          <a:xfrm xmlns:a="http://schemas.openxmlformats.org/drawingml/2006/main">
            <a:off x="47434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7" name="s3-arrow-2">
            <a:extLst xmlns:a="http://schemas.openxmlformats.org/drawingml/2006/main">
              <a:ext uri="{FF2B5EF4-FFF2-40B4-BE49-F238E27FC236}">
                <a16:creationId xmlns:a16="http://schemas.microsoft.com/office/drawing/2014/main" id="{6C4668C1-AA05-4A43-AE2B-2E6C308739DC}"/>
              </a:ext>
            </a:extLst>
          </p:cNvPr>
          <p:cNvSpPr>
            <a:spLocks xmlns:a="http://schemas.openxmlformats.org/drawingml/2006/main" noGrp="1"/>
          </p:cNvSpPr>
          <p:nvPr/>
        </p:nvSpPr>
        <p:spPr>
          <a:xfrm xmlns:a="http://schemas.openxmlformats.org/drawingml/2006/main">
            <a:off x="70675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8" name="s3-arrow-3">
            <a:extLst xmlns:a="http://schemas.openxmlformats.org/drawingml/2006/main">
              <a:ext uri="{FF2B5EF4-FFF2-40B4-BE49-F238E27FC236}">
                <a16:creationId xmlns:a16="http://schemas.microsoft.com/office/drawing/2014/main" id="{8FD633F0-CCDF-49EC-BF8E-7D966EEEFF3D}"/>
              </a:ext>
            </a:extLst>
          </p:cNvPr>
          <p:cNvSpPr>
            <a:spLocks xmlns:a="http://schemas.openxmlformats.org/drawingml/2006/main" noGrp="1"/>
          </p:cNvSpPr>
          <p:nvPr/>
        </p:nvSpPr>
        <p:spPr>
          <a:xfrm xmlns:a="http://schemas.openxmlformats.org/drawingml/2006/main">
            <a:off x="93916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9" name="s3-node-0">
            <a:extLst xmlns:a="http://schemas.openxmlformats.org/drawingml/2006/main">
              <a:ext uri="{FF2B5EF4-FFF2-40B4-BE49-F238E27FC236}">
                <a16:creationId xmlns:a16="http://schemas.microsoft.com/office/drawing/2014/main" id="{AF16CD62-6A54-41C0-88C1-FF41983BB88B}"/>
              </a:ext>
            </a:extLst>
          </p:cNvPr>
          <p:cNvSpPr>
            <a:spLocks xmlns:a="http://schemas.openxmlformats.org/drawingml/2006/main" noGrp="1"/>
          </p:cNvSpPr>
          <p:nvPr/>
        </p:nvSpPr>
        <p:spPr>
          <a:xfrm xmlns:a="http://schemas.openxmlformats.org/drawingml/2006/main">
            <a:off x="5334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s3-node-title-0">
            <a:extLst xmlns:a="http://schemas.openxmlformats.org/drawingml/2006/main">
              <a:ext uri="{FF2B5EF4-FFF2-40B4-BE49-F238E27FC236}">
                <a16:creationId xmlns:a16="http://schemas.microsoft.com/office/drawing/2014/main" id="{F36F00B3-F936-4922-8332-8840D74D7601}"/>
              </a:ext>
            </a:extLst>
          </p:cNvPr>
          <p:cNvSpPr>
            <a:spLocks xmlns:a="http://schemas.openxmlformats.org/drawingml/2006/main" noGrp="1"/>
          </p:cNvSpPr>
          <p:nvPr/>
        </p:nvSpPr>
        <p:spPr>
          <a:xfrm xmlns:a="http://schemas.openxmlformats.org/drawingml/2006/main">
            <a:off x="7048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Sources</a:t>
            </a:r>
          </a:p>
        </p:txBody>
      </p:sp>
      <p:sp>
        <p:nvSpPr>
          <p:cNvPr id="11" name="s3-node-body-0">
            <a:extLst xmlns:a="http://schemas.openxmlformats.org/drawingml/2006/main">
              <a:ext uri="{FF2B5EF4-FFF2-40B4-BE49-F238E27FC236}">
                <a16:creationId xmlns:a16="http://schemas.microsoft.com/office/drawing/2014/main" id="{412E5997-3679-43C4-ACC9-E4CBDC459683}"/>
              </a:ext>
            </a:extLst>
          </p:cNvPr>
          <p:cNvSpPr>
            <a:spLocks xmlns:a="http://schemas.openxmlformats.org/drawingml/2006/main" noGrp="1"/>
          </p:cNvSpPr>
          <p:nvPr/>
        </p:nvSpPr>
        <p:spPr>
          <a:xfrm xmlns:a="http://schemas.openxmlformats.org/drawingml/2006/main">
            <a:off x="7048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QuickBooks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REACH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Amazon</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Google Sheets</a:t>
            </a:r>
          </a:p>
        </p:txBody>
      </p:sp>
      <p:sp>
        <p:nvSpPr>
          <p:cNvPr id="12" name="s3-node-1">
            <a:extLst xmlns:a="http://schemas.openxmlformats.org/drawingml/2006/main">
              <a:ext uri="{FF2B5EF4-FFF2-40B4-BE49-F238E27FC236}">
                <a16:creationId xmlns:a16="http://schemas.microsoft.com/office/drawing/2014/main" id="{8B9A50C7-36A7-4F38-AB27-9C7D41AC9797}"/>
              </a:ext>
            </a:extLst>
          </p:cNvPr>
          <p:cNvSpPr>
            <a:spLocks xmlns:a="http://schemas.openxmlformats.org/drawingml/2006/main" noGrp="1"/>
          </p:cNvSpPr>
          <p:nvPr/>
        </p:nvSpPr>
        <p:spPr>
          <a:xfrm xmlns:a="http://schemas.openxmlformats.org/drawingml/2006/main">
            <a:off x="28575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s3-node-title-1">
            <a:extLst xmlns:a="http://schemas.openxmlformats.org/drawingml/2006/main">
              <a:ext uri="{FF2B5EF4-FFF2-40B4-BE49-F238E27FC236}">
                <a16:creationId xmlns:a16="http://schemas.microsoft.com/office/drawing/2014/main" id="{85131783-8634-44B4-9B7C-A11A6258D6BB}"/>
              </a:ext>
            </a:extLst>
          </p:cNvPr>
          <p:cNvSpPr>
            <a:spLocks xmlns:a="http://schemas.openxmlformats.org/drawingml/2006/main" noGrp="1"/>
          </p:cNvSpPr>
          <p:nvPr/>
        </p:nvSpPr>
        <p:spPr>
          <a:xfrm xmlns:a="http://schemas.openxmlformats.org/drawingml/2006/main">
            <a:off x="30289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Bronze</a:t>
            </a:r>
          </a:p>
        </p:txBody>
      </p:sp>
      <p:sp>
        <p:nvSpPr>
          <p:cNvPr id="14" name="s3-node-body-1">
            <a:extLst xmlns:a="http://schemas.openxmlformats.org/drawingml/2006/main">
              <a:ext uri="{FF2B5EF4-FFF2-40B4-BE49-F238E27FC236}">
                <a16:creationId xmlns:a16="http://schemas.microsoft.com/office/drawing/2014/main" id="{0E94E8E6-C91B-46BF-8346-55BB13DC4096}"/>
              </a:ext>
            </a:extLst>
          </p:cNvPr>
          <p:cNvSpPr>
            <a:spLocks xmlns:a="http://schemas.openxmlformats.org/drawingml/2006/main" noGrp="1"/>
          </p:cNvSpPr>
          <p:nvPr/>
        </p:nvSpPr>
        <p:spPr>
          <a:xfrm xmlns:a="http://schemas.openxmlformats.org/drawingml/2006/main">
            <a:off x="30289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Immutable raw</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Load metadata</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Row hashes</a:t>
            </a:r>
          </a:p>
        </p:txBody>
      </p:sp>
      <p:sp>
        <p:nvSpPr>
          <p:cNvPr id="15" name="s3-node-2">
            <a:extLst xmlns:a="http://schemas.openxmlformats.org/drawingml/2006/main">
              <a:ext uri="{FF2B5EF4-FFF2-40B4-BE49-F238E27FC236}">
                <a16:creationId xmlns:a16="http://schemas.microsoft.com/office/drawing/2014/main" id="{7B104197-CDEB-42FC-ADD7-1BC21B09CD8C}"/>
              </a:ext>
            </a:extLst>
          </p:cNvPr>
          <p:cNvSpPr>
            <a:spLocks xmlns:a="http://schemas.openxmlformats.org/drawingml/2006/main" noGrp="1"/>
          </p:cNvSpPr>
          <p:nvPr/>
        </p:nvSpPr>
        <p:spPr>
          <a:xfrm xmlns:a="http://schemas.openxmlformats.org/drawingml/2006/main">
            <a:off x="51816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3-node-title-2">
            <a:extLst xmlns:a="http://schemas.openxmlformats.org/drawingml/2006/main">
              <a:ext uri="{FF2B5EF4-FFF2-40B4-BE49-F238E27FC236}">
                <a16:creationId xmlns:a16="http://schemas.microsoft.com/office/drawing/2014/main" id="{DA4B2F3E-E5C6-4682-9236-5E659564D6A7}"/>
              </a:ext>
            </a:extLst>
          </p:cNvPr>
          <p:cNvSpPr>
            <a:spLocks xmlns:a="http://schemas.openxmlformats.org/drawingml/2006/main" noGrp="1"/>
          </p:cNvSpPr>
          <p:nvPr/>
        </p:nvSpPr>
        <p:spPr>
          <a:xfrm xmlns:a="http://schemas.openxmlformats.org/drawingml/2006/main">
            <a:off x="53530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Silver</a:t>
            </a:r>
          </a:p>
        </p:txBody>
      </p:sp>
      <p:sp>
        <p:nvSpPr>
          <p:cNvPr id="17" name="s3-node-body-2">
            <a:extLst xmlns:a="http://schemas.openxmlformats.org/drawingml/2006/main">
              <a:ext uri="{FF2B5EF4-FFF2-40B4-BE49-F238E27FC236}">
                <a16:creationId xmlns:a16="http://schemas.microsoft.com/office/drawing/2014/main" id="{B030A9F1-8DBB-4F7E-9A6D-D299755D8324}"/>
              </a:ext>
            </a:extLst>
          </p:cNvPr>
          <p:cNvSpPr>
            <a:spLocks xmlns:a="http://schemas.openxmlformats.org/drawingml/2006/main" noGrp="1"/>
          </p:cNvSpPr>
          <p:nvPr/>
        </p:nvSpPr>
        <p:spPr>
          <a:xfrm xmlns:a="http://schemas.openxmlformats.org/drawingml/2006/main">
            <a:off x="53530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Typed staging</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Replay-safe merge</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Contract tests</a:t>
            </a:r>
          </a:p>
        </p:txBody>
      </p:sp>
      <p:sp>
        <p:nvSpPr>
          <p:cNvPr id="18" name="s3-node-3">
            <a:extLst xmlns:a="http://schemas.openxmlformats.org/drawingml/2006/main">
              <a:ext uri="{FF2B5EF4-FFF2-40B4-BE49-F238E27FC236}">
                <a16:creationId xmlns:a16="http://schemas.microsoft.com/office/drawing/2014/main" id="{C0529E2D-CAEC-4A76-8F7D-1D19DF17E42F}"/>
              </a:ext>
            </a:extLst>
          </p:cNvPr>
          <p:cNvSpPr>
            <a:spLocks xmlns:a="http://schemas.openxmlformats.org/drawingml/2006/main" noGrp="1"/>
          </p:cNvSpPr>
          <p:nvPr/>
        </p:nvSpPr>
        <p:spPr>
          <a:xfrm xmlns:a="http://schemas.openxmlformats.org/drawingml/2006/main">
            <a:off x="7505700" y="2514600"/>
            <a:ext cx="1885950" cy="22669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19" name="s3-node-title-3">
            <a:extLst xmlns:a="http://schemas.openxmlformats.org/drawingml/2006/main">
              <a:ext uri="{FF2B5EF4-FFF2-40B4-BE49-F238E27FC236}">
                <a16:creationId xmlns:a16="http://schemas.microsoft.com/office/drawing/2014/main" id="{DC3446F5-5601-42A1-A657-580F69442741}"/>
              </a:ext>
            </a:extLst>
          </p:cNvPr>
          <p:cNvSpPr>
            <a:spLocks xmlns:a="http://schemas.openxmlformats.org/drawingml/2006/main" noGrp="1"/>
          </p:cNvSpPr>
          <p:nvPr/>
        </p:nvSpPr>
        <p:spPr>
          <a:xfrm xmlns:a="http://schemas.openxmlformats.org/drawingml/2006/main">
            <a:off x="76771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Silver core</a:t>
            </a:r>
          </a:p>
        </p:txBody>
      </p:sp>
      <p:sp>
        <p:nvSpPr>
          <p:cNvPr id="20" name="s3-node-body-3">
            <a:extLst xmlns:a="http://schemas.openxmlformats.org/drawingml/2006/main">
              <a:ext uri="{FF2B5EF4-FFF2-40B4-BE49-F238E27FC236}">
                <a16:creationId xmlns:a16="http://schemas.microsoft.com/office/drawing/2014/main" id="{9A70F1C4-E964-4962-AE09-0910E8746E35}"/>
              </a:ext>
            </a:extLst>
          </p:cNvPr>
          <p:cNvSpPr>
            <a:spLocks xmlns:a="http://schemas.openxmlformats.org/drawingml/2006/main" noGrp="1"/>
          </p:cNvSpPr>
          <p:nvPr/>
        </p:nvSpPr>
        <p:spPr>
          <a:xfrm xmlns:a="http://schemas.openxmlformats.org/drawingml/2006/main">
            <a:off x="76771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Dimensions + facts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Identifier/UOM bridges</a:t>
            </a:r>
          </a:p>
        </p:txBody>
      </p:sp>
      <p:sp>
        <p:nvSpPr>
          <p:cNvPr id="21" name="s3-node-4">
            <a:extLst xmlns:a="http://schemas.openxmlformats.org/drawingml/2006/main">
              <a:ext uri="{FF2B5EF4-FFF2-40B4-BE49-F238E27FC236}">
                <a16:creationId xmlns:a16="http://schemas.microsoft.com/office/drawing/2014/main" id="{ECB00461-8AE5-4349-80D2-C9F22E8EFCC3}"/>
              </a:ext>
            </a:extLst>
          </p:cNvPr>
          <p:cNvSpPr>
            <a:spLocks xmlns:a="http://schemas.openxmlformats.org/drawingml/2006/main" noGrp="1"/>
          </p:cNvSpPr>
          <p:nvPr/>
        </p:nvSpPr>
        <p:spPr>
          <a:xfrm xmlns:a="http://schemas.openxmlformats.org/drawingml/2006/main">
            <a:off x="98298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22" name="s3-node-title-4">
            <a:extLst xmlns:a="http://schemas.openxmlformats.org/drawingml/2006/main">
              <a:ext uri="{FF2B5EF4-FFF2-40B4-BE49-F238E27FC236}">
                <a16:creationId xmlns:a16="http://schemas.microsoft.com/office/drawing/2014/main" id="{3BB5F50D-F03D-46B1-AA89-1EDC6D420A4F}"/>
              </a:ext>
            </a:extLst>
          </p:cNvPr>
          <p:cNvSpPr>
            <a:spLocks xmlns:a="http://schemas.openxmlformats.org/drawingml/2006/main" noGrp="1"/>
          </p:cNvSpPr>
          <p:nvPr/>
        </p:nvSpPr>
        <p:spPr>
          <a:xfrm xmlns:a="http://schemas.openxmlformats.org/drawingml/2006/main">
            <a:off x="100012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Gold</a:t>
            </a:r>
          </a:p>
        </p:txBody>
      </p:sp>
      <p:sp>
        <p:nvSpPr>
          <p:cNvPr id="23" name="s3-node-body-4">
            <a:extLst xmlns:a="http://schemas.openxmlformats.org/drawingml/2006/main">
              <a:ext uri="{FF2B5EF4-FFF2-40B4-BE49-F238E27FC236}">
                <a16:creationId xmlns:a16="http://schemas.microsoft.com/office/drawing/2014/main" id="{2613BB0E-DB2B-4364-B6C7-C878877CC8E9}"/>
              </a:ext>
            </a:extLst>
          </p:cNvPr>
          <p:cNvSpPr>
            <a:spLocks xmlns:a="http://schemas.openxmlformats.org/drawingml/2006/main" noGrp="1"/>
          </p:cNvSpPr>
          <p:nvPr/>
        </p:nvSpPr>
        <p:spPr>
          <a:xfrm xmlns:a="http://schemas.openxmlformats.org/drawingml/2006/main">
            <a:off x="100012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SKU profitability</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Inventory health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Close reconciliation</a:t>
            </a:r>
          </a:p>
        </p:txBody>
      </p:sp>
      <p:sp>
        <p:nvSpPr>
          <p:cNvPr id="24" name="s3-quality">
            <a:extLst xmlns:a="http://schemas.openxmlformats.org/drawingml/2006/main">
              <a:ext uri="{FF2B5EF4-FFF2-40B4-BE49-F238E27FC236}">
                <a16:creationId xmlns:a16="http://schemas.microsoft.com/office/drawing/2014/main" id="{AD14A2CF-246E-4457-8911-D4DA1078D819}"/>
              </a:ext>
            </a:extLst>
          </p:cNvPr>
          <p:cNvSpPr>
            <a:spLocks xmlns:a="http://schemas.openxmlformats.org/drawingml/2006/main" noGrp="1"/>
          </p:cNvSpPr>
          <p:nvPr/>
        </p:nvSpPr>
        <p:spPr>
          <a:xfrm xmlns:a="http://schemas.openxmlformats.org/drawingml/2006/main">
            <a:off x="2857500" y="5238750"/>
            <a:ext cx="6972300" cy="781050"/>
          </a:xfrm>
          <a:prstGeom xmlns:a="http://schemas.openxmlformats.org/drawingml/2006/main" prst="rect">
            <a:avLst/>
          </a:prstGeom>
          <a:solidFill xmlns:a="http://schemas.openxmlformats.org/drawingml/2006/main">
            <a:srgbClr val="FFF4CC"/>
          </a:solidFill>
          <a:ln xmlns:a="http://schemas.openxmlformats.org/drawingml/2006/main" w="9525">
            <a:solidFill>
              <a:srgbClr val="E3B341"/>
            </a:solidFill>
            <a:prstDash val="solid"/>
          </a:ln>
        </p:spPr>
      </p:sp>
      <p:sp>
        <p:nvSpPr>
          <p:cNvPr id="25" name="s3-quality-text">
            <a:extLst xmlns:a="http://schemas.openxmlformats.org/drawingml/2006/main">
              <a:ext uri="{FF2B5EF4-FFF2-40B4-BE49-F238E27FC236}">
                <a16:creationId xmlns:a16="http://schemas.microsoft.com/office/drawing/2014/main" id="{88E2327B-DD13-4CF4-A158-E4AB738946C3}"/>
              </a:ext>
            </a:extLst>
          </p:cNvPr>
          <p:cNvSpPr>
            <a:spLocks xmlns:a="http://schemas.openxmlformats.org/drawingml/2006/main" noGrp="1"/>
          </p:cNvSpPr>
          <p:nvPr/>
        </p:nvSpPr>
        <p:spPr>
          <a:xfrm xmlns:a="http://schemas.openxmlformats.org/drawingml/2006/main">
            <a:off x="3105150" y="5448300"/>
            <a:ext cx="647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Checks: schema changes • duplicate handling • amount tie-outs • mapping coverage • open issues</a:t>
            </a:r>
          </a:p>
        </p:txBody>
      </p:sp>
    </p:spTree>
    <p:extLst>
      <p:ext uri="{BB962C8B-B14F-4D97-AF65-F5344CB8AC3E}">
        <p14:creationId xmlns:p14="http://schemas.microsoft.com/office/powerpoint/2010/main" val="14298305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eyebrow-4">
            <a:extLst xmlns:a="http://schemas.openxmlformats.org/drawingml/2006/main">
              <a:ext uri="{FF2B5EF4-FFF2-40B4-BE49-F238E27FC236}">
                <a16:creationId xmlns:a16="http://schemas.microsoft.com/office/drawing/2014/main" id="{F3F34B65-7F81-4D24-B856-C5E1E1FD7C25}"/>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DATA QUALITY FINDINGS</a:t>
            </a:r>
          </a:p>
        </p:txBody>
      </p:sp>
      <p:sp>
        <p:nvSpPr>
          <p:cNvPr id="2" name="title-4">
            <a:extLst xmlns:a="http://schemas.openxmlformats.org/drawingml/2006/main">
              <a:ext uri="{FF2B5EF4-FFF2-40B4-BE49-F238E27FC236}">
                <a16:creationId xmlns:a16="http://schemas.microsoft.com/office/drawing/2014/main" id="{D4D56A49-59F5-48F2-8FCD-9C4BBEF09B6C}"/>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Five material data issues become recurring controls</a:t>
            </a:r>
          </a:p>
        </p:txBody>
      </p:sp>
      <p:sp>
        <p:nvSpPr>
          <p:cNvPr id="3" name="footer-4">
            <a:extLst xmlns:a="http://schemas.openxmlformats.org/drawingml/2006/main">
              <a:ext uri="{FF2B5EF4-FFF2-40B4-BE49-F238E27FC236}">
                <a16:creationId xmlns:a16="http://schemas.microsoft.com/office/drawing/2014/main" id="{AA701FEC-56EA-4696-AB2F-535EA8C48974}"/>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4</a:t>
            </a:r>
          </a:p>
        </p:txBody>
      </p:sp>
      <p:sp>
        <p:nvSpPr>
          <p:cNvPr id="4" name="s4-intro">
            <a:extLst xmlns:a="http://schemas.openxmlformats.org/drawingml/2006/main">
              <a:ext uri="{FF2B5EF4-FFF2-40B4-BE49-F238E27FC236}">
                <a16:creationId xmlns:a16="http://schemas.microsoft.com/office/drawing/2014/main" id="{F93B31C8-7220-40D4-ACFF-3188C10E54B9}"/>
              </a:ext>
            </a:extLst>
          </p:cNvPr>
          <p:cNvSpPr>
            <a:spLocks xmlns:a="http://schemas.openxmlformats.org/drawingml/2006/main" noGrp="1"/>
          </p:cNvSpPr>
          <p:nvPr/>
        </p:nvSpPr>
        <p:spPr>
          <a:xfrm xmlns:a="http://schemas.openxmlformats.org/drawingml/2006/main">
            <a:off x="533400" y="1428750"/>
            <a:ext cx="11125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Every exception below is resolved explicitly in this analysis and translated into a recurring production test or workflow.</a:t>
            </a:r>
          </a:p>
        </p:txBody>
      </p:sp>
      <p:graphicFrame>
        <p:nvGraphicFramePr>
          <p:cNvPr id="11" name=""/>
          <p:cNvGraphicFramePr/>
          <p:nvPr/>
        </p:nvGraphicFramePr>
        <p:xfrm>
          <a:off xmlns:a="http://schemas.openxmlformats.org/drawingml/2006/main" x="533400" y="2133600"/>
          <a:ext xmlns:a="http://schemas.openxmlformats.org/drawingml/2006/main" cx="11125200" cy="3390900"/>
        </p:xfrm>
        <a:graphic xmlns:a="http://schemas.openxmlformats.org/drawingml/2006/main">
          <a:graphicData uri="http://schemas.openxmlformats.org/drawingml/2006/table">
            <a:tbl>
              <a:tblPr/>
              <a:tblGrid>
                <a:gridCol w="1143000"/>
                <a:gridCol w="3143250"/>
                <a:gridCol w="3048000"/>
                <a:gridCol w="3790950"/>
              </a:tblGrid>
              <a:tr h="565150">
                <a:tc>
                  <a:txBody>
                    <a:bodyPr/>
                    <a:lstStyle/>
                    <a:p>
                      <a:r>
                        <a:rPr sz="1200" b="1">
                          <a:solidFill>
                            <a:srgbClr val="FFFFFF"/>
                          </a:solidFill>
                          <a:latin typeface="Arial"/>
                          <a:ea typeface="Arial"/>
                          <a:cs typeface="Arial"/>
                        </a:rPr>
                        <a:t>Severity</a:t>
                      </a:r>
                    </a:p>
                  </a:txBody>
                  <a:tcPr marL="95250" marR="95250" marT="76200" marB="76200">
                    <a:solidFill>
                      <a:srgbClr val="0B2545"/>
                    </a:solidFill>
                  </a:tcPr>
                </a:tc>
                <a:tc>
                  <a:txBody>
                    <a:bodyPr/>
                    <a:lstStyle/>
                    <a:p>
                      <a:r>
                        <a:rPr sz="1200" b="1">
                          <a:solidFill>
                            <a:srgbClr val="FFFFFF"/>
                          </a:solidFill>
                          <a:latin typeface="Arial"/>
                          <a:ea typeface="Arial"/>
                          <a:cs typeface="Arial"/>
                        </a:rPr>
                        <a:t>Observed issue</a:t>
                      </a:r>
                    </a:p>
                  </a:txBody>
                  <a:tcPr marL="95250" marR="95250" marT="76200" marB="76200">
                    <a:solidFill>
                      <a:srgbClr val="0B2545"/>
                    </a:solidFill>
                  </a:tcPr>
                </a:tc>
                <a:tc>
                  <a:txBody>
                    <a:bodyPr/>
                    <a:lstStyle/>
                    <a:p>
                      <a:r>
                        <a:rPr sz="1200" b="1">
                          <a:solidFill>
                            <a:srgbClr val="FFFFFF"/>
                          </a:solidFill>
                          <a:latin typeface="Arial"/>
                          <a:ea typeface="Arial"/>
                          <a:cs typeface="Arial"/>
                        </a:rPr>
                        <a:t>Resolution now</a:t>
                      </a:r>
                    </a:p>
                  </a:txBody>
                  <a:tcPr marL="95250" marR="95250" marT="76200" marB="76200">
                    <a:solidFill>
                      <a:srgbClr val="0B2545"/>
                    </a:solidFill>
                  </a:tcPr>
                </a:tc>
                <a:tc>
                  <a:txBody>
                    <a:bodyPr/>
                    <a:lstStyle/>
                    <a:p>
                      <a:r>
                        <a:rPr sz="1200" b="1">
                          <a:solidFill>
                            <a:srgbClr val="FFFFFF"/>
                          </a:solidFill>
                          <a:latin typeface="Arial"/>
                          <a:ea typeface="Arial"/>
                          <a:cs typeface="Arial"/>
                        </a:rPr>
                        <a:t>Production control</a:t>
                      </a:r>
                    </a:p>
                  </a:txBody>
                  <a:tcPr marL="95250" marR="95250" marT="76200" marB="76200">
                    <a:solidFill>
                      <a:srgbClr val="0B2545"/>
                    </a:solidFill>
                  </a:tcPr>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2 sold SKUs lack PO cost</a:t>
                      </a:r>
                    </a:p>
                  </a:txBody>
                  <a:tcPr marL="95250" marR="95250" marT="76200" marB="76200"/>
                </a:tc>
                <a:tc>
                  <a:txBody>
                    <a:bodyPr/>
                    <a:lstStyle/>
                    <a:p>
                      <a:r>
                        <a:rPr sz="1125">
                          <a:solidFill>
                            <a:srgbClr val="000000"/>
                          </a:solidFill>
                          <a:latin typeface="Arial"/>
                          <a:ea typeface="Arial"/>
                          <a:cs typeface="Arial"/>
                        </a:rPr>
                        <a:t>Brand-median cost; flagged</a:t>
                      </a:r>
                    </a:p>
                  </a:txBody>
                  <a:tcPr marL="95250" marR="95250" marT="76200" marB="76200"/>
                </a:tc>
                <a:tc>
                  <a:txBody>
                    <a:bodyPr/>
                    <a:lstStyle/>
                    <a:p>
                      <a:r>
                        <a:rPr sz="1125">
                          <a:solidFill>
                            <a:srgbClr val="000000"/>
                          </a:solidFill>
                          <a:latin typeface="Arial"/>
                          <a:ea typeface="Arial"/>
                          <a:cs typeface="Arial"/>
                        </a:rPr>
                        <a:t>Block final reporting until approved</a:t>
                      </a:r>
                    </a:p>
                  </a:txBody>
                  <a:tcPr marL="95250" marR="95250" marT="76200" marB="76200"/>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Dental chews ordered by case of 12</a:t>
                      </a:r>
                    </a:p>
                  </a:txBody>
                  <a:tcPr marL="95250" marR="95250" marT="76200" marB="76200"/>
                </a:tc>
                <a:tc>
                  <a:txBody>
                    <a:bodyPr/>
                    <a:lstStyle/>
                    <a:p>
                      <a:r>
                        <a:rPr sz="1125">
                          <a:solidFill>
                            <a:srgbClr val="000000"/>
                          </a:solidFill>
                          <a:latin typeface="Arial"/>
                          <a:ea typeface="Arial"/>
                          <a:cs typeface="Arial"/>
                        </a:rPr>
                        <a:t>Convert 99 cases to 1,188 units</a:t>
                      </a:r>
                    </a:p>
                  </a:txBody>
                  <a:tcPr marL="95250" marR="95250" marT="76200" marB="76200"/>
                </a:tc>
                <a:tc>
                  <a:txBody>
                    <a:bodyPr/>
                    <a:lstStyle/>
                    <a:p>
                      <a:r>
                        <a:rPr sz="1125">
                          <a:solidFill>
                            <a:srgbClr val="000000"/>
                          </a:solidFill>
                          <a:latin typeface="Arial"/>
                          <a:ea typeface="Arial"/>
                          <a:cs typeface="Arial"/>
                        </a:rPr>
                        <a:t>Effective-dated UOM bridge</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PF-ELECTRO-CITRUS alias</a:t>
                      </a:r>
                    </a:p>
                  </a:txBody>
                  <a:tcPr marL="95250" marR="95250" marT="76200" marB="76200"/>
                </a:tc>
                <a:tc>
                  <a:txBody>
                    <a:bodyPr/>
                    <a:lstStyle/>
                    <a:p>
                      <a:r>
                        <a:rPr sz="1125">
                          <a:solidFill>
                            <a:srgbClr val="000000"/>
                          </a:solidFill>
                          <a:latin typeface="Arial"/>
                          <a:ea typeface="Arial"/>
                          <a:cs typeface="Arial"/>
                        </a:rPr>
                        <a:t>Map to PF-ELECTRO-CIT</a:t>
                      </a:r>
                    </a:p>
                  </a:txBody>
                  <a:tcPr marL="95250" marR="95250" marT="76200" marB="76200"/>
                </a:tc>
                <a:tc>
                  <a:txBody>
                    <a:bodyPr/>
                    <a:lstStyle/>
                    <a:p>
                      <a:r>
                        <a:rPr sz="1125">
                          <a:solidFill>
                            <a:srgbClr val="000000"/>
                          </a:solidFill>
                          <a:latin typeface="Arial"/>
                          <a:ea typeface="Arial"/>
                          <a:cs typeface="Arial"/>
                        </a:rPr>
                        <a:t>Identifier bridge + uniqueness</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Duplicate ASIN spans two brands</a:t>
                      </a:r>
                    </a:p>
                  </a:txBody>
                  <a:tcPr marL="95250" marR="95250" marT="76200" marB="76200"/>
                </a:tc>
                <a:tc>
                  <a:txBody>
                    <a:bodyPr/>
                    <a:lstStyle/>
                    <a:p>
                      <a:r>
                        <a:rPr sz="1125">
                          <a:solidFill>
                            <a:srgbClr val="000000"/>
                          </a:solidFill>
                          <a:latin typeface="Arial"/>
                          <a:ea typeface="Arial"/>
                          <a:cs typeface="Arial"/>
                        </a:rPr>
                        <a:t>Join by SKU; quarantine ASIN-only</a:t>
                      </a:r>
                    </a:p>
                  </a:txBody>
                  <a:tcPr marL="95250" marR="95250" marT="76200" marB="76200"/>
                </a:tc>
                <a:tc>
                  <a:txBody>
                    <a:bodyPr/>
                    <a:lstStyle/>
                    <a:p>
                      <a:r>
                        <a:rPr sz="1125">
                          <a:solidFill>
                            <a:srgbClr val="000000"/>
                          </a:solidFill>
                          <a:latin typeface="Arial"/>
                          <a:ea typeface="Arial"/>
                          <a:cs typeface="Arial"/>
                        </a:rPr>
                        <a:t>Marketplace-scoped ASIN test</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POs lack lifecycle/receipts</a:t>
                      </a:r>
                    </a:p>
                  </a:txBody>
                  <a:tcPr marL="95250" marR="95250" marT="76200" marB="76200"/>
                </a:tc>
                <a:tc>
                  <a:txBody>
                    <a:bodyPr/>
                    <a:lstStyle/>
                    <a:p>
                      <a:r>
                        <a:rPr sz="1125">
                          <a:solidFill>
                            <a:srgbClr val="000000"/>
                          </a:solidFill>
                          <a:latin typeface="Arial"/>
                          <a:ea typeface="Arial"/>
                          <a:cs typeface="Arial"/>
                        </a:rPr>
                        <a:t>Use only for WAC, not inbound</a:t>
                      </a:r>
                    </a:p>
                  </a:txBody>
                  <a:tcPr marL="95250" marR="95250" marT="76200" marB="76200"/>
                </a:tc>
                <a:tc>
                  <a:txBody>
                    <a:bodyPr/>
                    <a:lstStyle/>
                    <a:p>
                      <a:r>
                        <a:rPr sz="1125">
                          <a:solidFill>
                            <a:srgbClr val="000000"/>
                          </a:solidFill>
                          <a:latin typeface="Arial"/>
                          <a:ea typeface="Arial"/>
                          <a:cs typeface="Arial"/>
                        </a:rPr>
                        <a:t>Ingest status, ETA, receipts</a:t>
                      </a:r>
                    </a:p>
                  </a:txBody>
                  <a:tcPr marL="95250" marR="95250" marT="76200" marB="76200"/>
                </a:tc>
              </a:tr>
            </a:tbl>
          </a:graphicData>
        </a:graphic>
      </p:graphicFrame>
      <p:sp>
        <p:nvSpPr>
          <p:cNvPr id="6" name="s4-foot">
            <a:extLst xmlns:a="http://schemas.openxmlformats.org/drawingml/2006/main">
              <a:ext uri="{FF2B5EF4-FFF2-40B4-BE49-F238E27FC236}">
                <a16:creationId xmlns:a16="http://schemas.microsoft.com/office/drawing/2014/main" id="{D507122F-22D5-4F0D-AADA-7A5DBA8500D9}"/>
              </a:ext>
            </a:extLst>
          </p:cNvPr>
          <p:cNvSpPr>
            <a:spLocks xmlns:a="http://schemas.openxmlformats.org/drawingml/2006/main" noGrp="1"/>
          </p:cNvSpPr>
          <p:nvPr/>
        </p:nvSpPr>
        <p:spPr>
          <a:xfrm xmlns:a="http://schemas.openxmlformats.org/drawingml/2006/main">
            <a:off x="533400" y="5829300"/>
            <a:ext cx="1112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Also reconciled: settlement components to total, PO extended cost to total, Q2 date coverage, 24/24 inventory mappings.</a:t>
            </a:r>
          </a:p>
        </p:txBody>
      </p:sp>
    </p:spTree>
    <p:extLst>
      <p:ext uri="{BB962C8B-B14F-4D97-AF65-F5344CB8AC3E}">
        <p14:creationId xmlns:p14="http://schemas.microsoft.com/office/powerpoint/2010/main" val="12480687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5">
            <a:extLst xmlns:a="http://schemas.openxmlformats.org/drawingml/2006/main">
              <a:ext uri="{FF2B5EF4-FFF2-40B4-BE49-F238E27FC236}">
                <a16:creationId xmlns:a16="http://schemas.microsoft.com/office/drawing/2014/main" id="{06660144-426B-408E-9EF1-384643A27843}"/>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PROFITABILITY BY BRAND</a:t>
            </a:r>
          </a:p>
        </p:txBody>
      </p:sp>
      <p:sp>
        <p:nvSpPr>
          <p:cNvPr id="2" name="title-5">
            <a:extLst xmlns:a="http://schemas.openxmlformats.org/drawingml/2006/main">
              <a:ext uri="{FF2B5EF4-FFF2-40B4-BE49-F238E27FC236}">
                <a16:creationId xmlns:a16="http://schemas.microsoft.com/office/drawing/2014/main" id="{01150DCD-EE4F-46F2-B49B-5690DBDCA2E5}"/>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Peak Fuel + GlowTheory generate 83% of contribution margin</a:t>
            </a:r>
          </a:p>
        </p:txBody>
      </p:sp>
      <p:sp>
        <p:nvSpPr>
          <p:cNvPr id="3" name="footer-5">
            <a:extLst xmlns:a="http://schemas.openxmlformats.org/drawingml/2006/main">
              <a:ext uri="{FF2B5EF4-FFF2-40B4-BE49-F238E27FC236}">
                <a16:creationId xmlns:a16="http://schemas.microsoft.com/office/drawing/2014/main" id="{71BF67F6-AF3F-4E82-BCDE-CA9F941D2E38}"/>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5</a:t>
            </a:r>
          </a:p>
        </p:txBody>
      </p:sp>
      <p:graphicFrame>
        <p:nvGraphicFramePr>
          <p:cNvPr id="20" name="Chart"/>
          <p:cNvGraphicFramePr/>
          <p:nvPr/>
        </p:nvGraphicFramePr>
        <p:xfrm>
          <a:off xmlns:a="http://schemas.openxmlformats.org/drawingml/2006/main" x="533400" y="1600200"/>
          <a:ext xmlns:a="http://schemas.openxmlformats.org/drawingml/2006/main" cx="6096000" cy="4343400"/>
        </p:xfrm>
        <a:graphic xmlns:a="http://schemas.openxmlformats.org/drawingml/2006/main">
          <a:graphicData uri="http://schemas.openxmlformats.org/drawingml/2006/chart">
            <c:chart xmlns:r="http://schemas.openxmlformats.org/officeDocument/2006/relationships" xmlns:c="http://schemas.openxmlformats.org/drawingml/2006/chart" r:id="R431766dc35c645c3"/>
          </a:graphicData>
        </a:graphic>
      </p:graphicFrame>
      <p:sp>
        <p:nvSpPr>
          <p:cNvPr id="5" name="s5-rail-0">
            <a:extLst xmlns:a="http://schemas.openxmlformats.org/drawingml/2006/main">
              <a:ext uri="{FF2B5EF4-FFF2-40B4-BE49-F238E27FC236}">
                <a16:creationId xmlns:a16="http://schemas.microsoft.com/office/drawing/2014/main" id="{56EA329A-2C59-45D9-92C6-E90117F9BA8D}"/>
              </a:ext>
            </a:extLst>
          </p:cNvPr>
          <p:cNvSpPr>
            <a:spLocks xmlns:a="http://schemas.openxmlformats.org/drawingml/2006/main" noGrp="1"/>
          </p:cNvSpPr>
          <p:nvPr/>
        </p:nvSpPr>
        <p:spPr>
          <a:xfrm xmlns:a="http://schemas.openxmlformats.org/drawingml/2006/main">
            <a:off x="7086600" y="1581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5-rail-title-0">
            <a:extLst xmlns:a="http://schemas.openxmlformats.org/drawingml/2006/main">
              <a:ext uri="{FF2B5EF4-FFF2-40B4-BE49-F238E27FC236}">
                <a16:creationId xmlns:a16="http://schemas.microsoft.com/office/drawing/2014/main" id="{205570F1-D0E4-45EA-8779-A6359945031F}"/>
              </a:ext>
            </a:extLst>
          </p:cNvPr>
          <p:cNvSpPr>
            <a:spLocks xmlns:a="http://schemas.openxmlformats.org/drawingml/2006/main" noGrp="1"/>
          </p:cNvSpPr>
          <p:nvPr/>
        </p:nvSpPr>
        <p:spPr>
          <a:xfrm xmlns:a="http://schemas.openxmlformats.org/drawingml/2006/main">
            <a:off x="7353300" y="1771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GlowTheory</a:t>
            </a:r>
          </a:p>
        </p:txBody>
      </p:sp>
      <p:sp>
        <p:nvSpPr>
          <p:cNvPr id="7" name="s5-rail-stat-0">
            <a:extLst xmlns:a="http://schemas.openxmlformats.org/drawingml/2006/main">
              <a:ext uri="{FF2B5EF4-FFF2-40B4-BE49-F238E27FC236}">
                <a16:creationId xmlns:a16="http://schemas.microsoft.com/office/drawing/2014/main" id="{2AD1F3EA-4B93-489C-A99C-0C9C436C3E3C}"/>
              </a:ext>
            </a:extLst>
          </p:cNvPr>
          <p:cNvSpPr>
            <a:spLocks xmlns:a="http://schemas.openxmlformats.org/drawingml/2006/main" noGrp="1"/>
          </p:cNvSpPr>
          <p:nvPr/>
        </p:nvSpPr>
        <p:spPr>
          <a:xfrm xmlns:a="http://schemas.openxmlformats.org/drawingml/2006/main">
            <a:off x="9239250" y="1771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47.9% margin</a:t>
            </a:r>
          </a:p>
        </p:txBody>
      </p:sp>
      <p:sp>
        <p:nvSpPr>
          <p:cNvPr id="8" name="s5-rail-detail-0">
            <a:extLst xmlns:a="http://schemas.openxmlformats.org/drawingml/2006/main">
              <a:ext uri="{FF2B5EF4-FFF2-40B4-BE49-F238E27FC236}">
                <a16:creationId xmlns:a16="http://schemas.microsoft.com/office/drawing/2014/main" id="{B004B049-81D8-4694-B628-C90A9A611476}"/>
              </a:ext>
            </a:extLst>
          </p:cNvPr>
          <p:cNvSpPr>
            <a:spLocks xmlns:a="http://schemas.openxmlformats.org/drawingml/2006/main" noGrp="1"/>
          </p:cNvSpPr>
          <p:nvPr/>
        </p:nvSpPr>
        <p:spPr>
          <a:xfrm xmlns:a="http://schemas.openxmlformats.org/drawingml/2006/main">
            <a:off x="7353300" y="2171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Highest margin rate; led by Vitamin C and HA serums</a:t>
            </a:r>
          </a:p>
        </p:txBody>
      </p:sp>
      <p:sp>
        <p:nvSpPr>
          <p:cNvPr id="9" name="s5-rail-1">
            <a:extLst xmlns:a="http://schemas.openxmlformats.org/drawingml/2006/main">
              <a:ext uri="{FF2B5EF4-FFF2-40B4-BE49-F238E27FC236}">
                <a16:creationId xmlns:a16="http://schemas.microsoft.com/office/drawing/2014/main" id="{E39EEA27-3FFF-4D5C-8BB9-65CB23E8B8F9}"/>
              </a:ext>
            </a:extLst>
          </p:cNvPr>
          <p:cNvSpPr>
            <a:spLocks xmlns:a="http://schemas.openxmlformats.org/drawingml/2006/main" noGrp="1"/>
          </p:cNvSpPr>
          <p:nvPr/>
        </p:nvSpPr>
        <p:spPr>
          <a:xfrm xmlns:a="http://schemas.openxmlformats.org/drawingml/2006/main">
            <a:off x="7086600" y="3105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5-rail-title-1">
            <a:extLst xmlns:a="http://schemas.openxmlformats.org/drawingml/2006/main">
              <a:ext uri="{FF2B5EF4-FFF2-40B4-BE49-F238E27FC236}">
                <a16:creationId xmlns:a16="http://schemas.microsoft.com/office/drawing/2014/main" id="{B90879C1-BED2-423E-9AED-CAE7D490BA72}"/>
              </a:ext>
            </a:extLst>
          </p:cNvPr>
          <p:cNvSpPr>
            <a:spLocks xmlns:a="http://schemas.openxmlformats.org/drawingml/2006/main" noGrp="1"/>
          </p:cNvSpPr>
          <p:nvPr/>
        </p:nvSpPr>
        <p:spPr>
          <a:xfrm xmlns:a="http://schemas.openxmlformats.org/drawingml/2006/main">
            <a:off x="7353300" y="3295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Peak Fuel</a:t>
            </a:r>
          </a:p>
        </p:txBody>
      </p:sp>
      <p:sp>
        <p:nvSpPr>
          <p:cNvPr id="11" name="s5-rail-stat-1">
            <a:extLst xmlns:a="http://schemas.openxmlformats.org/drawingml/2006/main">
              <a:ext uri="{FF2B5EF4-FFF2-40B4-BE49-F238E27FC236}">
                <a16:creationId xmlns:a16="http://schemas.microsoft.com/office/drawing/2014/main" id="{EA79212C-18D1-40F7-9F4B-2BF79692E050}"/>
              </a:ext>
            </a:extLst>
          </p:cNvPr>
          <p:cNvSpPr>
            <a:spLocks xmlns:a="http://schemas.openxmlformats.org/drawingml/2006/main" noGrp="1"/>
          </p:cNvSpPr>
          <p:nvPr/>
        </p:nvSpPr>
        <p:spPr>
          <a:xfrm xmlns:a="http://schemas.openxmlformats.org/drawingml/2006/main">
            <a:off x="9239250" y="3295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$22.0K</a:t>
            </a:r>
          </a:p>
        </p:txBody>
      </p:sp>
      <p:sp>
        <p:nvSpPr>
          <p:cNvPr id="12" name="s5-rail-detail-1">
            <a:extLst xmlns:a="http://schemas.openxmlformats.org/drawingml/2006/main">
              <a:ext uri="{FF2B5EF4-FFF2-40B4-BE49-F238E27FC236}">
                <a16:creationId xmlns:a16="http://schemas.microsoft.com/office/drawing/2014/main" id="{5EC32FC1-2F2C-4055-A3FE-104A957D475F}"/>
              </a:ext>
            </a:extLst>
          </p:cNvPr>
          <p:cNvSpPr>
            <a:spLocks xmlns:a="http://schemas.openxmlformats.org/drawingml/2006/main" noGrp="1"/>
          </p:cNvSpPr>
          <p:nvPr/>
        </p:nvSpPr>
        <p:spPr>
          <a:xfrm xmlns:a="http://schemas.openxmlformats.org/drawingml/2006/main">
            <a:off x="7353300" y="3695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Largest contribution margin; protect whey and creatine availability</a:t>
            </a:r>
          </a:p>
        </p:txBody>
      </p:sp>
      <p:sp>
        <p:nvSpPr>
          <p:cNvPr id="13" name="s5-rail-2">
            <a:extLst xmlns:a="http://schemas.openxmlformats.org/drawingml/2006/main">
              <a:ext uri="{FF2B5EF4-FFF2-40B4-BE49-F238E27FC236}">
                <a16:creationId xmlns:a16="http://schemas.microsoft.com/office/drawing/2014/main" id="{AB48CB32-C1A8-4DA1-A6F4-14A14DD8F15C}"/>
              </a:ext>
            </a:extLst>
          </p:cNvPr>
          <p:cNvSpPr>
            <a:spLocks xmlns:a="http://schemas.openxmlformats.org/drawingml/2006/main" noGrp="1"/>
          </p:cNvSpPr>
          <p:nvPr/>
        </p:nvSpPr>
        <p:spPr>
          <a:xfrm xmlns:a="http://schemas.openxmlformats.org/drawingml/2006/main">
            <a:off x="7086600" y="4629150"/>
            <a:ext cx="4572000" cy="12573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4" name="s5-rail-title-2">
            <a:extLst xmlns:a="http://schemas.openxmlformats.org/drawingml/2006/main">
              <a:ext uri="{FF2B5EF4-FFF2-40B4-BE49-F238E27FC236}">
                <a16:creationId xmlns:a16="http://schemas.microsoft.com/office/drawing/2014/main" id="{4DAB305B-87AC-44CA-9BBE-1F4633993AF4}"/>
              </a:ext>
            </a:extLst>
          </p:cNvPr>
          <p:cNvSpPr>
            <a:spLocks xmlns:a="http://schemas.openxmlformats.org/drawingml/2006/main" noGrp="1"/>
          </p:cNvSpPr>
          <p:nvPr/>
        </p:nvSpPr>
        <p:spPr>
          <a:xfrm xmlns:a="http://schemas.openxmlformats.org/drawingml/2006/main">
            <a:off x="7353300" y="4819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PawHaus</a:t>
            </a:r>
          </a:p>
        </p:txBody>
      </p:sp>
      <p:sp>
        <p:nvSpPr>
          <p:cNvPr id="15" name="s5-rail-stat-2">
            <a:extLst xmlns:a="http://schemas.openxmlformats.org/drawingml/2006/main">
              <a:ext uri="{FF2B5EF4-FFF2-40B4-BE49-F238E27FC236}">
                <a16:creationId xmlns:a16="http://schemas.microsoft.com/office/drawing/2014/main" id="{35888AC2-FE0F-44C0-870F-F1510D856A1B}"/>
              </a:ext>
            </a:extLst>
          </p:cNvPr>
          <p:cNvSpPr>
            <a:spLocks xmlns:a="http://schemas.openxmlformats.org/drawingml/2006/main" noGrp="1"/>
          </p:cNvSpPr>
          <p:nvPr/>
        </p:nvSpPr>
        <p:spPr>
          <a:xfrm xmlns:a="http://schemas.openxmlformats.org/drawingml/2006/main">
            <a:off x="9239250" y="4819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9A6700"/>
                </a:solidFill>
                <a:latin typeface="Arial"/>
                <a:ea typeface="Arial"/>
                <a:cs typeface="Arial"/>
              </a:defRPr>
            </a:pPr>
            <a:r>
              <a:rPr sz="1650" b="1">
                <a:solidFill>
                  <a:srgbClr val="9A6700"/>
                </a:solidFill>
                <a:latin typeface="Arial"/>
                <a:ea typeface="Arial"/>
                <a:cs typeface="Arial"/>
              </a:rPr>
              <a:t>25.6% margin</a:t>
            </a:r>
          </a:p>
        </p:txBody>
      </p:sp>
      <p:sp>
        <p:nvSpPr>
          <p:cNvPr id="16" name="s5-rail-detail-2">
            <a:extLst xmlns:a="http://schemas.openxmlformats.org/drawingml/2006/main">
              <a:ext uri="{FF2B5EF4-FFF2-40B4-BE49-F238E27FC236}">
                <a16:creationId xmlns:a16="http://schemas.microsoft.com/office/drawing/2014/main" id="{118C79D7-7272-4A55-B5AD-98BD7CFD183A}"/>
              </a:ext>
            </a:extLst>
          </p:cNvPr>
          <p:cNvSpPr>
            <a:spLocks xmlns:a="http://schemas.openxmlformats.org/drawingml/2006/main" noGrp="1"/>
          </p:cNvSpPr>
          <p:nvPr/>
        </p:nvSpPr>
        <p:spPr>
          <a:xfrm xmlns:a="http://schemas.openxmlformats.org/drawingml/2006/main">
            <a:off x="7353300" y="5219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Bed economics and one imputed cost suppress the brand</a:t>
            </a:r>
          </a:p>
        </p:txBody>
      </p:sp>
    </p:spTree>
    <p:extLst>
      <p:ext uri="{BB962C8B-B14F-4D97-AF65-F5344CB8AC3E}">
        <p14:creationId xmlns:p14="http://schemas.microsoft.com/office/powerpoint/2010/main" val="19554669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6">
            <a:extLst xmlns:a="http://schemas.openxmlformats.org/drawingml/2006/main">
              <a:ext uri="{FF2B5EF4-FFF2-40B4-BE49-F238E27FC236}">
                <a16:creationId xmlns:a16="http://schemas.microsoft.com/office/drawing/2014/main" id="{24B838DA-0D1F-4A8A-8BA2-65DE0910430F}"/>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SKU PROFITABILITY</a:t>
            </a:r>
          </a:p>
        </p:txBody>
      </p:sp>
      <p:sp>
        <p:nvSpPr>
          <p:cNvPr id="2" name="title-6">
            <a:extLst xmlns:a="http://schemas.openxmlformats.org/drawingml/2006/main">
              <a:ext uri="{FF2B5EF4-FFF2-40B4-BE49-F238E27FC236}">
                <a16:creationId xmlns:a16="http://schemas.microsoft.com/office/drawing/2014/main" id="{F6D64C9D-6A3F-4AA7-8F08-A898F7448938}"/>
              </a:ext>
            </a:extLst>
          </p:cNvPr>
          <p:cNvSpPr>
            <a:spLocks xmlns:a="http://schemas.openxmlformats.org/drawingml/2006/main" noGrp="1"/>
          </p:cNvSpPr>
          <p:nvPr/>
        </p:nvSpPr>
        <p:spPr>
          <a:xfrm xmlns:a="http://schemas.openxmlformats.org/drawingml/2006/main">
            <a:off x="533400" y="76200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Two SKUs drive 28% of contribution margin</a:t>
            </a:r>
          </a:p>
        </p:txBody>
      </p:sp>
      <p:sp>
        <p:nvSpPr>
          <p:cNvPr id="3" name="footer-6">
            <a:extLst xmlns:a="http://schemas.openxmlformats.org/drawingml/2006/main">
              <a:ext uri="{FF2B5EF4-FFF2-40B4-BE49-F238E27FC236}">
                <a16:creationId xmlns:a16="http://schemas.microsoft.com/office/drawing/2014/main" id="{9CF8476B-B645-492C-9D3E-1D573DC139B8}"/>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6</a:t>
            </a:r>
          </a:p>
        </p:txBody>
      </p:sp>
      <p:graphicFrame>
        <p:nvGraphicFramePr>
          <p:cNvPr id="14" name="Chart"/>
          <p:cNvGraphicFramePr/>
          <p:nvPr/>
        </p:nvGraphicFramePr>
        <p:xfrm>
          <a:off xmlns:a="http://schemas.openxmlformats.org/drawingml/2006/main" x="533400" y="1562100"/>
          <a:ext xmlns:a="http://schemas.openxmlformats.org/drawingml/2006/main" cx="7239000" cy="4343400"/>
        </p:xfrm>
        <a:graphic xmlns:a="http://schemas.openxmlformats.org/drawingml/2006/main">
          <a:graphicData uri="http://schemas.openxmlformats.org/drawingml/2006/chart">
            <c:chart xmlns:r="http://schemas.openxmlformats.org/officeDocument/2006/relationships" xmlns:c="http://schemas.openxmlformats.org/drawingml/2006/chart" r:id="Ra137e4bf29314e72"/>
          </a:graphicData>
        </a:graphic>
      </p:graphicFrame>
      <p:sp>
        <p:nvSpPr>
          <p:cNvPr id="5" name="s6-callout-a">
            <a:extLst xmlns:a="http://schemas.openxmlformats.org/drawingml/2006/main">
              <a:ext uri="{FF2B5EF4-FFF2-40B4-BE49-F238E27FC236}">
                <a16:creationId xmlns:a16="http://schemas.microsoft.com/office/drawing/2014/main" id="{D3EE9B48-9E7B-440D-B3AD-705F03DEB8B2}"/>
              </a:ext>
            </a:extLst>
          </p:cNvPr>
          <p:cNvSpPr>
            <a:spLocks xmlns:a="http://schemas.openxmlformats.org/drawingml/2006/main" noGrp="1"/>
          </p:cNvSpPr>
          <p:nvPr/>
        </p:nvSpPr>
        <p:spPr>
          <a:xfrm xmlns:a="http://schemas.openxmlformats.org/drawingml/2006/main">
            <a:off x="8248650" y="1695450"/>
            <a:ext cx="3409950" cy="1657350"/>
          </a:xfrm>
          <a:prstGeom xmlns:a="http://schemas.openxmlformats.org/drawingml/2006/main" prst="rect">
            <a:avLst/>
          </a:prstGeom>
          <a:solidFill xmlns:a="http://schemas.openxmlformats.org/drawingml/2006/main">
            <a:srgbClr val="D1FAE5"/>
          </a:solidFill>
          <a:ln xmlns:a="http://schemas.openxmlformats.org/drawingml/2006/main" w="0">
            <a:noFill/>
            <a:prstDash val="solid"/>
          </a:ln>
        </p:spPr>
      </p:sp>
      <p:sp>
        <p:nvSpPr>
          <p:cNvPr id="6" name="s6-callout-a-title">
            <a:extLst xmlns:a="http://schemas.openxmlformats.org/drawingml/2006/main">
              <a:ext uri="{FF2B5EF4-FFF2-40B4-BE49-F238E27FC236}">
                <a16:creationId xmlns:a16="http://schemas.microsoft.com/office/drawing/2014/main" id="{AFC2CC02-C1AF-4576-8D97-D4A857698AE9}"/>
              </a:ext>
            </a:extLst>
          </p:cNvPr>
          <p:cNvSpPr>
            <a:spLocks xmlns:a="http://schemas.openxmlformats.org/drawingml/2006/main" noGrp="1"/>
          </p:cNvSpPr>
          <p:nvPr/>
        </p:nvSpPr>
        <p:spPr>
          <a:xfrm xmlns:a="http://schemas.openxmlformats.org/drawingml/2006/main">
            <a:off x="8515350" y="1981200"/>
            <a:ext cx="28765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0B7A53"/>
                </a:solidFill>
                <a:latin typeface="Arial"/>
                <a:ea typeface="Arial"/>
                <a:cs typeface="Arial"/>
              </a:defRPr>
            </a:pPr>
            <a:r>
              <a:rPr sz="2250" b="1">
                <a:solidFill>
                  <a:srgbClr val="0B7A53"/>
                </a:solidFill>
                <a:latin typeface="Arial"/>
                <a:ea typeface="Arial"/>
                <a:cs typeface="Arial"/>
              </a:rPr>
              <a:t>$14.1K contribution</a:t>
            </a:r>
          </a:p>
        </p:txBody>
      </p:sp>
      <p:sp>
        <p:nvSpPr>
          <p:cNvPr id="7" name="s6-callout-a-body">
            <a:extLst xmlns:a="http://schemas.openxmlformats.org/drawingml/2006/main">
              <a:ext uri="{FF2B5EF4-FFF2-40B4-BE49-F238E27FC236}">
                <a16:creationId xmlns:a16="http://schemas.microsoft.com/office/drawing/2014/main" id="{F290516D-E2B2-410E-B204-879BA673F7BA}"/>
              </a:ext>
            </a:extLst>
          </p:cNvPr>
          <p:cNvSpPr>
            <a:spLocks xmlns:a="http://schemas.openxmlformats.org/drawingml/2006/main" noGrp="1"/>
          </p:cNvSpPr>
          <p:nvPr/>
        </p:nvSpPr>
        <p:spPr>
          <a:xfrm xmlns:a="http://schemas.openxmlformats.org/drawingml/2006/main">
            <a:off x="8515350" y="26479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GT-SERUM-VITC + PF-WHEY-CHOC</a:t>
            </a:r>
          </a:p>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 27.6% of total</a:t>
            </a:r>
          </a:p>
        </p:txBody>
      </p:sp>
      <p:sp>
        <p:nvSpPr>
          <p:cNvPr id="8" name="s6-callout-b">
            <a:extLst xmlns:a="http://schemas.openxmlformats.org/drawingml/2006/main">
              <a:ext uri="{FF2B5EF4-FFF2-40B4-BE49-F238E27FC236}">
                <a16:creationId xmlns:a16="http://schemas.microsoft.com/office/drawing/2014/main" id="{21CDD029-C791-4C60-91F5-B51BF76238E6}"/>
              </a:ext>
            </a:extLst>
          </p:cNvPr>
          <p:cNvSpPr>
            <a:spLocks xmlns:a="http://schemas.openxmlformats.org/drawingml/2006/main" noGrp="1"/>
          </p:cNvSpPr>
          <p:nvPr/>
        </p:nvSpPr>
        <p:spPr>
          <a:xfrm xmlns:a="http://schemas.openxmlformats.org/drawingml/2006/main">
            <a:off x="8248650" y="3714750"/>
            <a:ext cx="3409950" cy="196215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9" name="s6-callout-b-title">
            <a:extLst xmlns:a="http://schemas.openxmlformats.org/drawingml/2006/main">
              <a:ext uri="{FF2B5EF4-FFF2-40B4-BE49-F238E27FC236}">
                <a16:creationId xmlns:a16="http://schemas.microsoft.com/office/drawing/2014/main" id="{CE4809F0-9E6F-43DE-AA8B-BFB431C0BAD7}"/>
              </a:ext>
            </a:extLst>
          </p:cNvPr>
          <p:cNvSpPr>
            <a:spLocks xmlns:a="http://schemas.openxmlformats.org/drawingml/2006/main" noGrp="1"/>
          </p:cNvSpPr>
          <p:nvPr/>
        </p:nvSpPr>
        <p:spPr>
          <a:xfrm xmlns:a="http://schemas.openxmlformats.org/drawingml/2006/main">
            <a:off x="8496300" y="39624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9A6700"/>
                </a:solidFill>
                <a:latin typeface="Arial"/>
                <a:ea typeface="Arial"/>
                <a:cs typeface="Arial"/>
              </a:defRPr>
            </a:pPr>
            <a:r>
              <a:rPr sz="1800" b="1">
                <a:solidFill>
                  <a:srgbClr val="9A6700"/>
                </a:solidFill>
                <a:latin typeface="Arial"/>
                <a:ea typeface="Arial"/>
                <a:cs typeface="Arial"/>
              </a:rPr>
              <a:t>Validate before acting</a:t>
            </a:r>
          </a:p>
        </p:txBody>
      </p:sp>
      <p:sp>
        <p:nvSpPr>
          <p:cNvPr id="10" name="s6-callout-b-body">
            <a:extLst xmlns:a="http://schemas.openxmlformats.org/drawingml/2006/main">
              <a:ext uri="{FF2B5EF4-FFF2-40B4-BE49-F238E27FC236}">
                <a16:creationId xmlns:a16="http://schemas.microsoft.com/office/drawing/2014/main" id="{B412F181-31D8-4064-815B-5E005BAF2A38}"/>
              </a:ext>
            </a:extLst>
          </p:cNvPr>
          <p:cNvSpPr>
            <a:spLocks xmlns:a="http://schemas.openxmlformats.org/drawingml/2006/main" noGrp="1"/>
          </p:cNvSpPr>
          <p:nvPr/>
        </p:nvSpPr>
        <p:spPr>
          <a:xfrm xmlns:a="http://schemas.openxmlformats.org/drawingml/2006/main">
            <a:off x="8496300" y="4457700"/>
            <a:ext cx="2914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GT-LIP-BALM and PH-TOY-ROPE-L use brand-median cost. Together: 2.3% of gross sales, with estimated margins of 2.6% and 6.3%.</a:t>
            </a:r>
          </a:p>
        </p:txBody>
      </p:sp>
    </p:spTree>
    <p:extLst>
      <p:ext uri="{BB962C8B-B14F-4D97-AF65-F5344CB8AC3E}">
        <p14:creationId xmlns:p14="http://schemas.microsoft.com/office/powerpoint/2010/main" val="2274369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7">
            <a:extLst xmlns:a="http://schemas.openxmlformats.org/drawingml/2006/main">
              <a:ext uri="{FF2B5EF4-FFF2-40B4-BE49-F238E27FC236}">
                <a16:creationId xmlns:a16="http://schemas.microsoft.com/office/drawing/2014/main" id="{5AF2F23D-C1A5-4DF3-ACF0-B32FC1465E47}"/>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PLATFORM COSTS</a:t>
            </a:r>
          </a:p>
        </p:txBody>
      </p:sp>
      <p:sp>
        <p:nvSpPr>
          <p:cNvPr id="2" name="title-7">
            <a:extLst xmlns:a="http://schemas.openxmlformats.org/drawingml/2006/main">
              <a:ext uri="{FF2B5EF4-FFF2-40B4-BE49-F238E27FC236}">
                <a16:creationId xmlns:a16="http://schemas.microsoft.com/office/drawing/2014/main" id="{CBEA015C-2CD9-4D69-822D-53012C817FBF}"/>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Advertising equals 98.7% of contribution margin; storage increases the loss</a:t>
            </a:r>
          </a:p>
        </p:txBody>
      </p:sp>
      <p:sp>
        <p:nvSpPr>
          <p:cNvPr id="3" name="footer-7">
            <a:extLst xmlns:a="http://schemas.openxmlformats.org/drawingml/2006/main">
              <a:ext uri="{FF2B5EF4-FFF2-40B4-BE49-F238E27FC236}">
                <a16:creationId xmlns:a16="http://schemas.microsoft.com/office/drawing/2014/main" id="{26690886-22B0-45B9-B31C-774D26913109}"/>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7</a:t>
            </a:r>
          </a:p>
        </p:txBody>
      </p:sp>
      <p:graphicFrame>
        <p:nvGraphicFramePr>
          <p:cNvPr id="14" name="Chart"/>
          <p:cNvGraphicFramePr/>
          <p:nvPr/>
        </p:nvGraphicFramePr>
        <p:xfrm>
          <a:off xmlns:a="http://schemas.openxmlformats.org/drawingml/2006/main" x="533400" y="1676400"/>
          <a:ext xmlns:a="http://schemas.openxmlformats.org/drawingml/2006/main" cx="7524750" cy="4095750"/>
        </p:xfrm>
        <a:graphic xmlns:a="http://schemas.openxmlformats.org/drawingml/2006/main">
          <a:graphicData uri="http://schemas.openxmlformats.org/drawingml/2006/chart">
            <c:chart xmlns:r="http://schemas.openxmlformats.org/officeDocument/2006/relationships" xmlns:c="http://schemas.openxmlformats.org/drawingml/2006/chart" r:id="R3026d7b1fd584efb"/>
          </a:graphicData>
        </a:graphic>
      </p:graphicFrame>
      <p:sp>
        <p:nvSpPr>
          <p:cNvPr id="5" name="s7-decision">
            <a:extLst xmlns:a="http://schemas.openxmlformats.org/drawingml/2006/main">
              <a:ext uri="{FF2B5EF4-FFF2-40B4-BE49-F238E27FC236}">
                <a16:creationId xmlns:a16="http://schemas.microsoft.com/office/drawing/2014/main" id="{BF5897EF-870A-48F6-B444-39423B158F6D}"/>
              </a:ext>
            </a:extLst>
          </p:cNvPr>
          <p:cNvSpPr>
            <a:spLocks xmlns:a="http://schemas.openxmlformats.org/drawingml/2006/main" noGrp="1"/>
          </p:cNvSpPr>
          <p:nvPr/>
        </p:nvSpPr>
        <p:spPr>
          <a:xfrm xmlns:a="http://schemas.openxmlformats.org/drawingml/2006/main">
            <a:off x="8515350" y="1752600"/>
            <a:ext cx="3143250" cy="1714500"/>
          </a:xfrm>
          <a:prstGeom xmlns:a="http://schemas.openxmlformats.org/drawingml/2006/main" prst="rect">
            <a:avLst/>
          </a:prstGeom>
          <a:solidFill xmlns:a="http://schemas.openxmlformats.org/drawingml/2006/main">
            <a:srgbClr val="FEE2E2"/>
          </a:solidFill>
          <a:ln xmlns:a="http://schemas.openxmlformats.org/drawingml/2006/main" w="0">
            <a:noFill/>
            <a:prstDash val="solid"/>
          </a:ln>
        </p:spPr>
      </p:sp>
      <p:sp>
        <p:nvSpPr>
          <p:cNvPr id="6" name="s7-decision-stat">
            <a:extLst xmlns:a="http://schemas.openxmlformats.org/drawingml/2006/main">
              <a:ext uri="{FF2B5EF4-FFF2-40B4-BE49-F238E27FC236}">
                <a16:creationId xmlns:a16="http://schemas.microsoft.com/office/drawing/2014/main" id="{EA502461-93C3-41A7-8A33-0CA01DDDBE57}"/>
              </a:ext>
            </a:extLst>
          </p:cNvPr>
          <p:cNvSpPr>
            <a:spLocks xmlns:a="http://schemas.openxmlformats.org/drawingml/2006/main" noGrp="1"/>
          </p:cNvSpPr>
          <p:nvPr/>
        </p:nvSpPr>
        <p:spPr>
          <a:xfrm xmlns:a="http://schemas.openxmlformats.org/drawingml/2006/main">
            <a:off x="8763000" y="2076450"/>
            <a:ext cx="2647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B42318"/>
                </a:solidFill>
                <a:latin typeface="Arial"/>
                <a:ea typeface="Arial"/>
                <a:cs typeface="Arial"/>
              </a:defRPr>
            </a:pPr>
            <a:r>
              <a:rPr sz="3300" b="1">
                <a:solidFill>
                  <a:srgbClr val="B42318"/>
                </a:solidFill>
                <a:latin typeface="Arial"/>
                <a:ea typeface="Arial"/>
                <a:cs typeface="Arial"/>
              </a:rPr>
              <a:t>($5.5K)</a:t>
            </a:r>
          </a:p>
        </p:txBody>
      </p:sp>
      <p:sp>
        <p:nvSpPr>
          <p:cNvPr id="7" name="s7-decision-label">
            <a:extLst xmlns:a="http://schemas.openxmlformats.org/drawingml/2006/main">
              <a:ext uri="{FF2B5EF4-FFF2-40B4-BE49-F238E27FC236}">
                <a16:creationId xmlns:a16="http://schemas.microsoft.com/office/drawing/2014/main" id="{AF91112F-05D6-4419-A03E-B314F9864BC8}"/>
              </a:ext>
            </a:extLst>
          </p:cNvPr>
          <p:cNvSpPr>
            <a:spLocks xmlns:a="http://schemas.openxmlformats.org/drawingml/2006/main" noGrp="1"/>
          </p:cNvSpPr>
          <p:nvPr/>
        </p:nvSpPr>
        <p:spPr>
          <a:xfrm xmlns:a="http://schemas.openxmlformats.org/drawingml/2006/main">
            <a:off x="8763000" y="2781300"/>
            <a:ext cx="2647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00000"/>
                </a:solidFill>
                <a:latin typeface="Arial"/>
                <a:ea typeface="Arial"/>
                <a:cs typeface="Arial"/>
              </a:defRPr>
            </a:pPr>
            <a:r>
              <a:rPr sz="1650" b="1">
                <a:solidFill>
                  <a:srgbClr val="000000"/>
                </a:solidFill>
                <a:latin typeface="Arial"/>
                <a:ea typeface="Arial"/>
                <a:cs typeface="Arial"/>
              </a:rPr>
              <a:t>After platform costs</a:t>
            </a:r>
          </a:p>
        </p:txBody>
      </p:sp>
      <p:sp>
        <p:nvSpPr>
          <p:cNvPr id="8" name="s7-action">
            <a:extLst xmlns:a="http://schemas.openxmlformats.org/drawingml/2006/main">
              <a:ext uri="{FF2B5EF4-FFF2-40B4-BE49-F238E27FC236}">
                <a16:creationId xmlns:a16="http://schemas.microsoft.com/office/drawing/2014/main" id="{1C609D27-CDC3-4A46-95CC-BBABB8E5EE81}"/>
              </a:ext>
            </a:extLst>
          </p:cNvPr>
          <p:cNvSpPr>
            <a:spLocks xmlns:a="http://schemas.openxmlformats.org/drawingml/2006/main" noGrp="1"/>
          </p:cNvSpPr>
          <p:nvPr/>
        </p:nvSpPr>
        <p:spPr>
          <a:xfrm xmlns:a="http://schemas.openxmlformats.org/drawingml/2006/main">
            <a:off x="8515350" y="3829050"/>
            <a:ext cx="3143250" cy="19431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s7-action-title">
            <a:extLst xmlns:a="http://schemas.openxmlformats.org/drawingml/2006/main">
              <a:ext uri="{FF2B5EF4-FFF2-40B4-BE49-F238E27FC236}">
                <a16:creationId xmlns:a16="http://schemas.microsoft.com/office/drawing/2014/main" id="{21E37B9A-B604-4705-A01C-5B524B2FDE18}"/>
              </a:ext>
            </a:extLst>
          </p:cNvPr>
          <p:cNvSpPr>
            <a:spLocks xmlns:a="http://schemas.openxmlformats.org/drawingml/2006/main" noGrp="1"/>
          </p:cNvSpPr>
          <p:nvPr/>
        </p:nvSpPr>
        <p:spPr>
          <a:xfrm xmlns:a="http://schemas.openxmlformats.org/drawingml/2006/main">
            <a:off x="8763000" y="4076700"/>
            <a:ext cx="2647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Management implication</a:t>
            </a:r>
          </a:p>
        </p:txBody>
      </p:sp>
      <p:sp>
        <p:nvSpPr>
          <p:cNvPr id="10" name="s7-action-body">
            <a:extLst xmlns:a="http://schemas.openxmlformats.org/drawingml/2006/main">
              <a:ext uri="{FF2B5EF4-FFF2-40B4-BE49-F238E27FC236}">
                <a16:creationId xmlns:a16="http://schemas.microsoft.com/office/drawing/2014/main" id="{E9916C3E-2ADD-4743-8AA3-117639B2C325}"/>
              </a:ext>
            </a:extLst>
          </p:cNvPr>
          <p:cNvSpPr>
            <a:spLocks xmlns:a="http://schemas.openxmlformats.org/drawingml/2006/main" noGrp="1"/>
          </p:cNvSpPr>
          <p:nvPr/>
        </p:nvSpPr>
        <p:spPr>
          <a:xfrm xmlns:a="http://schemas.openxmlformats.org/drawingml/2006/main">
            <a:off x="8763000" y="4552950"/>
            <a:ext cx="26479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Add campaign and advertised-SKU detail. Evaluate spend against profit after advertising, not revenue or ROAS alone. Add SKU storage detail before allocating carrying cost.</a:t>
            </a:r>
          </a:p>
        </p:txBody>
      </p:sp>
    </p:spTree>
    <p:extLst>
      <p:ext uri="{BB962C8B-B14F-4D97-AF65-F5344CB8AC3E}">
        <p14:creationId xmlns:p14="http://schemas.microsoft.com/office/powerpoint/2010/main" val="18977405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8">
            <a:extLst xmlns:a="http://schemas.openxmlformats.org/drawingml/2006/main">
              <a:ext uri="{FF2B5EF4-FFF2-40B4-BE49-F238E27FC236}">
                <a16:creationId xmlns:a16="http://schemas.microsoft.com/office/drawing/2014/main" id="{5435FC9A-CE3F-477F-939D-31EFD77799F4}"/>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INVENTORY SNAPSHOT | 2026-06-30</a:t>
            </a:r>
          </a:p>
        </p:txBody>
      </p:sp>
      <p:sp>
        <p:nvSpPr>
          <p:cNvPr id="2" name="title-8">
            <a:extLst xmlns:a="http://schemas.openxmlformats.org/drawingml/2006/main">
              <a:ext uri="{FF2B5EF4-FFF2-40B4-BE49-F238E27FC236}">
                <a16:creationId xmlns:a16="http://schemas.microsoft.com/office/drawing/2014/main" id="{28DCC81A-0FAD-4058-AC9C-FCC958EC6965}"/>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Inventory is simultaneously tight on proven winners and excessive across slow movers</a:t>
            </a:r>
          </a:p>
        </p:txBody>
      </p:sp>
      <p:sp>
        <p:nvSpPr>
          <p:cNvPr id="3" name="footer-8">
            <a:extLst xmlns:a="http://schemas.openxmlformats.org/drawingml/2006/main">
              <a:ext uri="{FF2B5EF4-FFF2-40B4-BE49-F238E27FC236}">
                <a16:creationId xmlns:a16="http://schemas.microsoft.com/office/drawing/2014/main" id="{1E0684CA-DAE2-4DB9-9820-D1D2CA73BB93}"/>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8</a:t>
            </a:r>
          </a:p>
        </p:txBody>
      </p:sp>
      <p:sp>
        <p:nvSpPr>
          <p:cNvPr id="4" name="s8-intro">
            <a:extLst xmlns:a="http://schemas.openxmlformats.org/drawingml/2006/main">
              <a:ext uri="{FF2B5EF4-FFF2-40B4-BE49-F238E27FC236}">
                <a16:creationId xmlns:a16="http://schemas.microsoft.com/office/drawing/2014/main" id="{F502AC9D-35D3-40DB-90F7-3A2C8874DFFB}"/>
              </a:ext>
            </a:extLst>
          </p:cNvPr>
          <p:cNvSpPr>
            <a:spLocks xmlns:a="http://schemas.openxmlformats.org/drawingml/2006/main" noGrp="1"/>
          </p:cNvSpPr>
          <p:nvPr/>
        </p:nvSpPr>
        <p:spPr>
          <a:xfrm xmlns:a="http://schemas.openxmlformats.org/drawingml/2006/main">
            <a:off x="533400" y="1428750"/>
            <a:ext cx="11125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Days cover uses Q2 net units / 91 days and fulfillable on-hand. Inbound is shown separately; PO quantities are not assumed to be inbound.</a:t>
            </a:r>
          </a:p>
        </p:txBody>
      </p:sp>
      <p:sp>
        <p:nvSpPr>
          <p:cNvPr id="5" name="s8-left-head">
            <a:extLst xmlns:a="http://schemas.openxmlformats.org/drawingml/2006/main">
              <a:ext uri="{FF2B5EF4-FFF2-40B4-BE49-F238E27FC236}">
                <a16:creationId xmlns:a16="http://schemas.microsoft.com/office/drawing/2014/main" id="{788DBCE4-DF28-4382-849D-C7FE21A9E8A2}"/>
              </a:ext>
            </a:extLst>
          </p:cNvPr>
          <p:cNvSpPr>
            <a:spLocks xmlns:a="http://schemas.openxmlformats.org/drawingml/2006/main" noGrp="1"/>
          </p:cNvSpPr>
          <p:nvPr/>
        </p:nvSpPr>
        <p:spPr>
          <a:xfrm xmlns:a="http://schemas.openxmlformats.org/drawingml/2006/main">
            <a:off x="533400" y="2286000"/>
            <a:ext cx="504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2318"/>
                </a:solidFill>
                <a:latin typeface="Arial"/>
                <a:ea typeface="Arial"/>
                <a:cs typeface="Arial"/>
              </a:defRPr>
            </a:pPr>
            <a:r>
              <a:rPr sz="2100" b="1">
                <a:solidFill>
                  <a:srgbClr val="B42318"/>
                </a:solidFill>
                <a:latin typeface="Arial"/>
                <a:ea typeface="Arial"/>
                <a:cs typeface="Arial"/>
              </a:rPr>
              <a:t>Act now: protect availability</a:t>
            </a:r>
          </a:p>
        </p:txBody>
      </p:sp>
      <p:sp>
        <p:nvSpPr>
          <p:cNvPr id="6" name="s8-right-head">
            <a:extLst xmlns:a="http://schemas.openxmlformats.org/drawingml/2006/main">
              <a:ext uri="{FF2B5EF4-FFF2-40B4-BE49-F238E27FC236}">
                <a16:creationId xmlns:a16="http://schemas.microsoft.com/office/drawing/2014/main" id="{3A86E507-7D0F-41EE-829F-227A4867FB40}"/>
              </a:ext>
            </a:extLst>
          </p:cNvPr>
          <p:cNvSpPr>
            <a:spLocks xmlns:a="http://schemas.openxmlformats.org/drawingml/2006/main" noGrp="1"/>
          </p:cNvSpPr>
          <p:nvPr/>
        </p:nvSpPr>
        <p:spPr>
          <a:xfrm xmlns:a="http://schemas.openxmlformats.org/drawingml/2006/main">
            <a:off x="6343650" y="2286000"/>
            <a:ext cx="5314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A6700"/>
                </a:solidFill>
                <a:latin typeface="Arial"/>
                <a:ea typeface="Arial"/>
                <a:cs typeface="Arial"/>
              </a:defRPr>
            </a:pPr>
            <a:r>
              <a:rPr sz="2100" b="1">
                <a:solidFill>
                  <a:srgbClr val="9A6700"/>
                </a:solidFill>
                <a:latin typeface="Arial"/>
                <a:ea typeface="Arial"/>
                <a:cs typeface="Arial"/>
              </a:rPr>
              <a:t>Stop and review: cash tied in slow movers</a:t>
            </a:r>
          </a:p>
        </p:txBody>
      </p:sp>
      <p:graphicFrame>
        <p:nvGraphicFramePr>
          <p:cNvPr id="17" name=""/>
          <p:cNvGraphicFramePr/>
          <p:nvPr/>
        </p:nvGraphicFramePr>
        <p:xfrm>
          <a:off xmlns:a="http://schemas.openxmlformats.org/drawingml/2006/main" x="533400" y="2895600"/>
          <a:ext xmlns:a="http://schemas.openxmlformats.org/drawingml/2006/main" cx="5048250" cy="2286000"/>
        </p:xfrm>
        <a:graphic xmlns:a="http://schemas.openxmlformats.org/drawingml/2006/main">
          <a:graphicData uri="http://schemas.openxmlformats.org/drawingml/2006/table">
            <a:tbl>
              <a:tblPr/>
              <a:tblGrid>
                <a:gridCol w="2095500"/>
                <a:gridCol w="1047750"/>
                <a:gridCol w="857250"/>
                <a:gridCol w="1047750"/>
              </a:tblGrid>
              <a:tr h="57150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71500">
                <a:tc>
                  <a:txBody>
                    <a:bodyPr/>
                    <a:lstStyle/>
                    <a:p>
                      <a:r>
                        <a:rPr sz="1125">
                          <a:solidFill>
                            <a:srgbClr val="000000"/>
                          </a:solidFill>
                          <a:latin typeface="Arial"/>
                          <a:ea typeface="Arial"/>
                          <a:cs typeface="Arial"/>
                        </a:rPr>
                        <a:t>PF-WHEY-CHOC</a:t>
                      </a:r>
                    </a:p>
                  </a:txBody>
                  <a:tcPr marL="95250" marR="95250" marT="76200" marB="76200"/>
                </a:tc>
                <a:tc>
                  <a:txBody>
                    <a:bodyPr/>
                    <a:lstStyle/>
                    <a:p>
                      <a:r>
                        <a:rPr sz="1125">
                          <a:solidFill>
                            <a:srgbClr val="000000"/>
                          </a:solidFill>
                          <a:latin typeface="Arial"/>
                          <a:ea typeface="Arial"/>
                          <a:cs typeface="Arial"/>
                        </a:rPr>
                        <a:t>205</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47</a:t>
                      </a:r>
                    </a:p>
                  </a:txBody>
                  <a:tcPr marL="95250" marR="95250" marT="76200" marB="76200"/>
                </a:tc>
              </a:tr>
              <a:tr h="571500">
                <a:tc>
                  <a:txBody>
                    <a:bodyPr/>
                    <a:lstStyle/>
                    <a:p>
                      <a:r>
                        <a:rPr sz="1125">
                          <a:solidFill>
                            <a:srgbClr val="000000"/>
                          </a:solidFill>
                          <a:latin typeface="Arial"/>
                          <a:ea typeface="Arial"/>
                          <a:cs typeface="Arial"/>
                        </a:rPr>
                        <a:t>GT-SERUM-VITC</a:t>
                      </a:r>
                    </a:p>
                  </a:txBody>
                  <a:tcPr marL="95250" marR="95250" marT="76200" marB="76200"/>
                </a:tc>
                <a:tc>
                  <a:txBody>
                    <a:bodyPr/>
                    <a:lstStyle/>
                    <a:p>
                      <a:r>
                        <a:rPr sz="1125">
                          <a:solidFill>
                            <a:srgbClr val="000000"/>
                          </a:solidFill>
                          <a:latin typeface="Arial"/>
                          <a:ea typeface="Arial"/>
                          <a:cs typeface="Arial"/>
                        </a:rPr>
                        <a:t>299</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56</a:t>
                      </a:r>
                    </a:p>
                  </a:txBody>
                  <a:tcPr marL="95250" marR="95250" marT="76200" marB="76200"/>
                </a:tc>
              </a:tr>
              <a:tr h="571500">
                <a:tc>
                  <a:txBody>
                    <a:bodyPr/>
                    <a:lstStyle/>
                    <a:p>
                      <a:r>
                        <a:rPr sz="1125">
                          <a:solidFill>
                            <a:srgbClr val="000000"/>
                          </a:solidFill>
                          <a:latin typeface="Arial"/>
                          <a:ea typeface="Arial"/>
                          <a:cs typeface="Arial"/>
                        </a:rPr>
                        <a:t>PH-CHEW-BULLY-6</a:t>
                      </a:r>
                    </a:p>
                  </a:txBody>
                  <a:tcPr marL="95250" marR="95250" marT="76200" marB="76200"/>
                </a:tc>
                <a:tc>
                  <a:txBody>
                    <a:bodyPr/>
                    <a:lstStyle/>
                    <a:p>
                      <a:r>
                        <a:rPr sz="1125">
                          <a:solidFill>
                            <a:srgbClr val="000000"/>
                          </a:solidFill>
                          <a:latin typeface="Arial"/>
                          <a:ea typeface="Arial"/>
                          <a:cs typeface="Arial"/>
                        </a:rPr>
                        <a:t>428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133</a:t>
                      </a:r>
                    </a:p>
                  </a:txBody>
                  <a:tcPr marL="95250" marR="95250" marT="76200" marB="76200"/>
                </a:tc>
              </a:tr>
            </a:tbl>
          </a:graphicData>
        </a:graphic>
      </p:graphicFrame>
      <p:graphicFrame>
        <p:nvGraphicFramePr>
          <p:cNvPr id="18" name=""/>
          <p:cNvGraphicFramePr/>
          <p:nvPr/>
        </p:nvGraphicFramePr>
        <p:xfrm>
          <a:off xmlns:a="http://schemas.openxmlformats.org/drawingml/2006/main" x="6343650" y="2895600"/>
          <a:ext xmlns:a="http://schemas.openxmlformats.org/drawingml/2006/main" cx="5314950" cy="2705100"/>
        </p:xfrm>
        <a:graphic xmlns:a="http://schemas.openxmlformats.org/drawingml/2006/main">
          <a:graphicData uri="http://schemas.openxmlformats.org/drawingml/2006/table">
            <a:tbl>
              <a:tblPr/>
              <a:tblGrid>
                <a:gridCol w="2190750"/>
                <a:gridCol w="1104900"/>
                <a:gridCol w="914400"/>
                <a:gridCol w="1104900"/>
              </a:tblGrid>
              <a:tr h="54102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41020">
                <a:tc>
                  <a:txBody>
                    <a:bodyPr/>
                    <a:lstStyle/>
                    <a:p>
                      <a:r>
                        <a:rPr sz="1125">
                          <a:solidFill>
                            <a:srgbClr val="000000"/>
                          </a:solidFill>
                          <a:latin typeface="Arial"/>
                          <a:ea typeface="Arial"/>
                          <a:cs typeface="Arial"/>
                        </a:rPr>
                        <a:t>GT-LIP-BALM</a:t>
                      </a:r>
                    </a:p>
                  </a:txBody>
                  <a:tcPr marL="95250" marR="95250" marT="76200" marB="76200"/>
                </a:tc>
                <a:tc>
                  <a:txBody>
                    <a:bodyPr/>
                    <a:lstStyle/>
                    <a:p>
                      <a:r>
                        <a:rPr sz="1125">
                          <a:solidFill>
                            <a:srgbClr val="000000"/>
                          </a:solidFill>
                          <a:latin typeface="Arial"/>
                          <a:ea typeface="Arial"/>
                          <a:cs typeface="Arial"/>
                        </a:rPr>
                        <a:t>1,182</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4,677</a:t>
                      </a:r>
                    </a:p>
                  </a:txBody>
                  <a:tcPr marL="95250" marR="95250" marT="76200" marB="76200"/>
                </a:tc>
              </a:tr>
              <a:tr h="541020">
                <a:tc>
                  <a:txBody>
                    <a:bodyPr/>
                    <a:lstStyle/>
                    <a:p>
                      <a:r>
                        <a:rPr sz="1125">
                          <a:solidFill>
                            <a:srgbClr val="000000"/>
                          </a:solidFill>
                          <a:latin typeface="Arial"/>
                          <a:ea typeface="Arial"/>
                          <a:cs typeface="Arial"/>
                        </a:rPr>
                        <a:t>GT-ROLLER-JADE</a:t>
                      </a:r>
                    </a:p>
                  </a:txBody>
                  <a:tcPr marL="95250" marR="95250" marT="76200" marB="76200"/>
                </a:tc>
                <a:tc>
                  <a:txBody>
                    <a:bodyPr/>
                    <a:lstStyle/>
                    <a:p>
                      <a:r>
                        <a:rPr sz="1125">
                          <a:solidFill>
                            <a:srgbClr val="000000"/>
                          </a:solidFill>
                          <a:latin typeface="Arial"/>
                          <a:ea typeface="Arial"/>
                          <a:cs typeface="Arial"/>
                        </a:rPr>
                        <a:t>1,068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992</a:t>
                      </a:r>
                    </a:p>
                  </a:txBody>
                  <a:tcPr marL="95250" marR="95250" marT="76200" marB="76200"/>
                </a:tc>
              </a:tr>
              <a:tr h="541020">
                <a:tc>
                  <a:txBody>
                    <a:bodyPr/>
                    <a:lstStyle/>
                    <a:p>
                      <a:r>
                        <a:rPr sz="1125">
                          <a:solidFill>
                            <a:srgbClr val="000000"/>
                          </a:solidFill>
                          <a:latin typeface="Arial"/>
                          <a:ea typeface="Arial"/>
                          <a:cs typeface="Arial"/>
                        </a:rPr>
                        <a:t>PF-VEGAN-CHOC</a:t>
                      </a:r>
                    </a:p>
                  </a:txBody>
                  <a:tcPr marL="95250" marR="95250" marT="76200" marB="76200"/>
                </a:tc>
                <a:tc>
                  <a:txBody>
                    <a:bodyPr/>
                    <a:lstStyle/>
                    <a:p>
                      <a:r>
                        <a:rPr sz="1125">
                          <a:solidFill>
                            <a:srgbClr val="000000"/>
                          </a:solidFill>
                          <a:latin typeface="Arial"/>
                          <a:ea typeface="Arial"/>
                          <a:cs typeface="Arial"/>
                        </a:rPr>
                        <a:t>801</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838</a:t>
                      </a:r>
                    </a:p>
                  </a:txBody>
                  <a:tcPr marL="95250" marR="95250" marT="76200" marB="76200"/>
                </a:tc>
              </a:tr>
              <a:tr h="541020">
                <a:tc>
                  <a:txBody>
                    <a:bodyPr/>
                    <a:lstStyle/>
                    <a:p>
                      <a:r>
                        <a:rPr sz="1125">
                          <a:solidFill>
                            <a:srgbClr val="000000"/>
                          </a:solidFill>
                          <a:latin typeface="Arial"/>
                          <a:ea typeface="Arial"/>
                          <a:cs typeface="Arial"/>
                        </a:rPr>
                        <a:t>GT-CLEANSE-150</a:t>
                      </a:r>
                    </a:p>
                  </a:txBody>
                  <a:tcPr marL="95250" marR="95250" marT="76200" marB="76200"/>
                </a:tc>
                <a:tc>
                  <a:txBody>
                    <a:bodyPr/>
                    <a:lstStyle/>
                    <a:p>
                      <a:r>
                        <a:rPr sz="1125">
                          <a:solidFill>
                            <a:srgbClr val="000000"/>
                          </a:solidFill>
                          <a:latin typeface="Arial"/>
                          <a:ea typeface="Arial"/>
                          <a:cs typeface="Arial"/>
                        </a:rPr>
                        <a:t>1,302</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705</a:t>
                      </a:r>
                    </a:p>
                  </a:txBody>
                  <a:tcPr marL="95250" marR="95250" marT="76200" marB="76200"/>
                </a:tc>
              </a:tr>
            </a:tbl>
          </a:graphicData>
        </a:graphic>
      </p:graphicFrame>
      <p:sp>
        <p:nvSpPr>
          <p:cNvPr id="9" name="s8-bottom">
            <a:extLst xmlns:a="http://schemas.openxmlformats.org/drawingml/2006/main">
              <a:ext uri="{FF2B5EF4-FFF2-40B4-BE49-F238E27FC236}">
                <a16:creationId xmlns:a16="http://schemas.microsoft.com/office/drawing/2014/main" id="{3B5F7A5F-3A8B-4BC1-996B-5D6834D181B0}"/>
              </a:ext>
            </a:extLst>
          </p:cNvPr>
          <p:cNvSpPr>
            <a:spLocks xmlns:a="http://schemas.openxmlformats.org/drawingml/2006/main" noGrp="1"/>
          </p:cNvSpPr>
          <p:nvPr/>
        </p:nvSpPr>
        <p:spPr>
          <a:xfrm xmlns:a="http://schemas.openxmlformats.org/drawingml/2006/main">
            <a:off x="533400" y="5772150"/>
            <a:ext cx="11125200" cy="5334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0" name="s8-bottom-text">
            <a:extLst xmlns:a="http://schemas.openxmlformats.org/drawingml/2006/main">
              <a:ext uri="{FF2B5EF4-FFF2-40B4-BE49-F238E27FC236}">
                <a16:creationId xmlns:a16="http://schemas.microsoft.com/office/drawing/2014/main" id="{3DE06FED-C4E8-4245-81C7-E7DC6B94685C}"/>
              </a:ext>
            </a:extLst>
          </p:cNvPr>
          <p:cNvSpPr>
            <a:spLocks xmlns:a="http://schemas.openxmlformats.org/drawingml/2006/main" noGrp="1"/>
          </p:cNvSpPr>
          <p:nvPr/>
        </p:nvSpPr>
        <p:spPr>
          <a:xfrm xmlns:a="http://schemas.openxmlformats.org/drawingml/2006/main">
            <a:off x="742950" y="5905500"/>
            <a:ext cx="10706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13 of 24 SKUs exceed one year of fulfillable cover at Q2 demand—review replenishment, promotions, bundles, and purchase commitments.</a:t>
            </a:r>
          </a:p>
        </p:txBody>
      </p:sp>
    </p:spTree>
    <p:extLst>
      <p:ext uri="{BB962C8B-B14F-4D97-AF65-F5344CB8AC3E}">
        <p14:creationId xmlns:p14="http://schemas.microsoft.com/office/powerpoint/2010/main" val="121907676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9">
            <a:extLst xmlns:a="http://schemas.openxmlformats.org/drawingml/2006/main">
              <a:ext uri="{FF2B5EF4-FFF2-40B4-BE49-F238E27FC236}">
                <a16:creationId xmlns:a16="http://schemas.microsoft.com/office/drawing/2014/main" id="{DC8BD624-7794-417C-B98E-CD22E3042AF2}"/>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DELIVERABLE 3 • AUTOMATION</a:t>
            </a:r>
          </a:p>
        </p:txBody>
      </p:sp>
      <p:sp>
        <p:nvSpPr>
          <p:cNvPr id="2" name="title-9">
            <a:extLst xmlns:a="http://schemas.openxmlformats.org/drawingml/2006/main">
              <a:ext uri="{FF2B5EF4-FFF2-40B4-BE49-F238E27FC236}">
                <a16:creationId xmlns:a16="http://schemas.microsoft.com/office/drawing/2014/main" id="{D16FC3D1-5C25-4FE4-84D5-253DA50E1576}"/>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first 30 days are the same under either implementation option</a:t>
            </a:r>
          </a:p>
        </p:txBody>
      </p:sp>
      <p:sp>
        <p:nvSpPr>
          <p:cNvPr id="3" name="footer-9">
            <a:extLst xmlns:a="http://schemas.openxmlformats.org/drawingml/2006/main">
              <a:ext uri="{FF2B5EF4-FFF2-40B4-BE49-F238E27FC236}">
                <a16:creationId xmlns:a16="http://schemas.microsoft.com/office/drawing/2014/main" id="{9C8A06D4-078B-4938-AA3A-A8B8E3D97C76}"/>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9</a:t>
            </a:r>
          </a:p>
        </p:txBody>
      </p:sp>
      <p:sp>
        <p:nvSpPr>
          <p:cNvPr id="4" name="s9-intro">
            <a:extLst xmlns:a="http://schemas.openxmlformats.org/drawingml/2006/main">
              <a:ext uri="{FF2B5EF4-FFF2-40B4-BE49-F238E27FC236}">
                <a16:creationId xmlns:a16="http://schemas.microsoft.com/office/drawing/2014/main" id="{BF261152-594B-4C78-8158-5FB8B00BCF17}"/>
              </a:ext>
            </a:extLst>
          </p:cNvPr>
          <p:cNvSpPr>
            <a:spLocks xmlns:a="http://schemas.openxmlformats.org/drawingml/2006/main" noGrp="1"/>
          </p:cNvSpPr>
          <p:nvPr/>
        </p:nvSpPr>
        <p:spPr>
          <a:xfrm xmlns:a="http://schemas.openxmlformats.org/drawingml/2006/main">
            <a:off x="533400" y="146685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Days 1–30 establish common controls. Leadership then chooses how much connector and platform operation to buy versus own.</a:t>
            </a:r>
          </a:p>
        </p:txBody>
      </p:sp>
      <p:sp>
        <p:nvSpPr>
          <p:cNvPr id="5" name="s9-phase-0">
            <a:extLst xmlns:a="http://schemas.openxmlformats.org/drawingml/2006/main">
              <a:ext uri="{FF2B5EF4-FFF2-40B4-BE49-F238E27FC236}">
                <a16:creationId xmlns:a16="http://schemas.microsoft.com/office/drawing/2014/main" id="{CE3E27E0-56FE-4EE7-9349-2D294A47CB53}"/>
              </a:ext>
            </a:extLst>
          </p:cNvPr>
          <p:cNvSpPr>
            <a:spLocks xmlns:a="http://schemas.openxmlformats.org/drawingml/2006/main" noGrp="1"/>
          </p:cNvSpPr>
          <p:nvPr/>
        </p:nvSpPr>
        <p:spPr>
          <a:xfrm xmlns:a="http://schemas.openxmlformats.org/drawingml/2006/main">
            <a:off x="533400" y="2571750"/>
            <a:ext cx="3429000" cy="31432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6" name="s9-time-0">
            <a:extLst xmlns:a="http://schemas.openxmlformats.org/drawingml/2006/main">
              <a:ext uri="{FF2B5EF4-FFF2-40B4-BE49-F238E27FC236}">
                <a16:creationId xmlns:a16="http://schemas.microsoft.com/office/drawing/2014/main" id="{89251D59-C064-4115-A681-EA9178510891}"/>
              </a:ext>
            </a:extLst>
          </p:cNvPr>
          <p:cNvSpPr>
            <a:spLocks xmlns:a="http://schemas.openxmlformats.org/drawingml/2006/main" noGrp="1"/>
          </p:cNvSpPr>
          <p:nvPr/>
        </p:nvSpPr>
        <p:spPr>
          <a:xfrm xmlns:a="http://schemas.openxmlformats.org/drawingml/2006/main">
            <a:off x="7620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1–30</a:t>
            </a:r>
          </a:p>
        </p:txBody>
      </p:sp>
      <p:sp>
        <p:nvSpPr>
          <p:cNvPr id="7" name="s9-title-0">
            <a:extLst xmlns:a="http://schemas.openxmlformats.org/drawingml/2006/main">
              <a:ext uri="{FF2B5EF4-FFF2-40B4-BE49-F238E27FC236}">
                <a16:creationId xmlns:a16="http://schemas.microsoft.com/office/drawing/2014/main" id="{47203970-3F16-4C91-BFAD-D5685F59D204}"/>
              </a:ext>
            </a:extLst>
          </p:cNvPr>
          <p:cNvSpPr>
            <a:spLocks xmlns:a="http://schemas.openxmlformats.org/drawingml/2006/main" noGrp="1"/>
          </p:cNvSpPr>
          <p:nvPr/>
        </p:nvSpPr>
        <p:spPr>
          <a:xfrm xmlns:a="http://schemas.openxmlformats.org/drawingml/2006/main">
            <a:off x="7620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Common foundation</a:t>
            </a:r>
          </a:p>
        </p:txBody>
      </p:sp>
      <p:sp>
        <p:nvSpPr>
          <p:cNvPr id="8" name="s9-body-0">
            <a:extLst xmlns:a="http://schemas.openxmlformats.org/drawingml/2006/main">
              <a:ext uri="{FF2B5EF4-FFF2-40B4-BE49-F238E27FC236}">
                <a16:creationId xmlns:a16="http://schemas.microsoft.com/office/drawing/2014/main" id="{9078AAE1-98CF-4B22-9515-81968472EC43}"/>
              </a:ext>
            </a:extLst>
          </p:cNvPr>
          <p:cNvSpPr>
            <a:spLocks xmlns:a="http://schemas.openxmlformats.org/drawingml/2006/main" noGrp="1"/>
          </p:cNvSpPr>
          <p:nvPr/>
        </p:nvSpPr>
        <p:spPr>
          <a:xfrm xmlns:a="http://schemas.openxmlformats.org/drawingml/2006/main">
            <a:off x="7620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Schema changes + raw history</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Product/UOM mappings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Duplicate + amount checks</a:t>
            </a:r>
          </a:p>
        </p:txBody>
      </p:sp>
      <p:sp>
        <p:nvSpPr>
          <p:cNvPr id="9" name="s9-output-0">
            <a:extLst xmlns:a="http://schemas.openxmlformats.org/drawingml/2006/main">
              <a:ext uri="{FF2B5EF4-FFF2-40B4-BE49-F238E27FC236}">
                <a16:creationId xmlns:a16="http://schemas.microsoft.com/office/drawing/2014/main" id="{7104A2FB-E594-4722-8702-D1AE65AA8C8A}"/>
              </a:ext>
            </a:extLst>
          </p:cNvPr>
          <p:cNvSpPr>
            <a:spLocks xmlns:a="http://schemas.openxmlformats.org/drawingml/2006/main" noGrp="1"/>
          </p:cNvSpPr>
          <p:nvPr/>
        </p:nvSpPr>
        <p:spPr>
          <a:xfrm xmlns:a="http://schemas.openxmlformats.org/drawingml/2006/main">
            <a:off x="7620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Same BigQuery tables</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Same finance checks</a:t>
            </a:r>
          </a:p>
        </p:txBody>
      </p:sp>
      <p:sp>
        <p:nvSpPr>
          <p:cNvPr id="10" name="s9-phase-1">
            <a:extLst xmlns:a="http://schemas.openxmlformats.org/drawingml/2006/main">
              <a:ext uri="{FF2B5EF4-FFF2-40B4-BE49-F238E27FC236}">
                <a16:creationId xmlns:a16="http://schemas.microsoft.com/office/drawing/2014/main" id="{51FF7542-1DAB-4984-9B96-322EF0832832}"/>
              </a:ext>
            </a:extLst>
          </p:cNvPr>
          <p:cNvSpPr>
            <a:spLocks xmlns:a="http://schemas.openxmlformats.org/drawingml/2006/main" noGrp="1"/>
          </p:cNvSpPr>
          <p:nvPr/>
        </p:nvSpPr>
        <p:spPr>
          <a:xfrm xmlns:a="http://schemas.openxmlformats.org/drawingml/2006/main">
            <a:off x="43815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s9-time-1">
            <a:extLst xmlns:a="http://schemas.openxmlformats.org/drawingml/2006/main">
              <a:ext uri="{FF2B5EF4-FFF2-40B4-BE49-F238E27FC236}">
                <a16:creationId xmlns:a16="http://schemas.microsoft.com/office/drawing/2014/main" id="{6CBCFABB-8664-4D98-9E1C-7B433A1A283A}"/>
              </a:ext>
            </a:extLst>
          </p:cNvPr>
          <p:cNvSpPr>
            <a:spLocks xmlns:a="http://schemas.openxmlformats.org/drawingml/2006/main" noGrp="1"/>
          </p:cNvSpPr>
          <p:nvPr/>
        </p:nvSpPr>
        <p:spPr>
          <a:xfrm xmlns:a="http://schemas.openxmlformats.org/drawingml/2006/main">
            <a:off x="46101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31–90</a:t>
            </a:r>
          </a:p>
        </p:txBody>
      </p:sp>
      <p:sp>
        <p:nvSpPr>
          <p:cNvPr id="12" name="s9-title-1">
            <a:extLst xmlns:a="http://schemas.openxmlformats.org/drawingml/2006/main">
              <a:ext uri="{FF2B5EF4-FFF2-40B4-BE49-F238E27FC236}">
                <a16:creationId xmlns:a16="http://schemas.microsoft.com/office/drawing/2014/main" id="{D63137E0-E898-4463-A382-E4D002D5599A}"/>
              </a:ext>
            </a:extLst>
          </p:cNvPr>
          <p:cNvSpPr>
            <a:spLocks xmlns:a="http://schemas.openxmlformats.org/drawingml/2006/main" noGrp="1"/>
          </p:cNvSpPr>
          <p:nvPr/>
        </p:nvSpPr>
        <p:spPr>
          <a:xfrm xmlns:a="http://schemas.openxmlformats.org/drawingml/2006/main">
            <a:off x="46101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Efficient / cost-aware</a:t>
            </a:r>
          </a:p>
        </p:txBody>
      </p:sp>
      <p:sp>
        <p:nvSpPr>
          <p:cNvPr id="13" name="s9-body-1">
            <a:extLst xmlns:a="http://schemas.openxmlformats.org/drawingml/2006/main">
              <a:ext uri="{FF2B5EF4-FFF2-40B4-BE49-F238E27FC236}">
                <a16:creationId xmlns:a16="http://schemas.microsoft.com/office/drawing/2014/main" id="{8BE77F9A-D3A9-4869-ABEB-A40D34F0631A}"/>
              </a:ext>
            </a:extLst>
          </p:cNvPr>
          <p:cNvSpPr>
            <a:spLocks xmlns:a="http://schemas.openxmlformats.org/drawingml/2006/main" noGrp="1"/>
          </p:cNvSpPr>
          <p:nvPr/>
        </p:nvSpPr>
        <p:spPr>
          <a:xfrm xmlns:a="http://schemas.openxmlformats.org/drawingml/2006/main">
            <a:off x="46101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Cloud Run + Workflows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BigQuery + Dataform</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Connected Sheets / Looker Studio</a:t>
            </a:r>
          </a:p>
        </p:txBody>
      </p:sp>
      <p:sp>
        <p:nvSpPr>
          <p:cNvPr id="14" name="s9-output-1">
            <a:extLst xmlns:a="http://schemas.openxmlformats.org/drawingml/2006/main">
              <a:ext uri="{FF2B5EF4-FFF2-40B4-BE49-F238E27FC236}">
                <a16:creationId xmlns:a16="http://schemas.microsoft.com/office/drawing/2014/main" id="{4F9CC90D-93BF-453A-BE1A-072CA6773683}"/>
              </a:ext>
            </a:extLst>
          </p:cNvPr>
          <p:cNvSpPr>
            <a:spLocks xmlns:a="http://schemas.openxmlformats.org/drawingml/2006/main" noGrp="1"/>
          </p:cNvSpPr>
          <p:nvPr/>
        </p:nvSpPr>
        <p:spPr>
          <a:xfrm xmlns:a="http://schemas.openxmlformats.org/drawingml/2006/main">
            <a:off x="46101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Lower recurring software cost</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Team owns connectors</a:t>
            </a:r>
          </a:p>
        </p:txBody>
      </p:sp>
      <p:sp>
        <p:nvSpPr>
          <p:cNvPr id="15" name="s9-phase-2">
            <a:extLst xmlns:a="http://schemas.openxmlformats.org/drawingml/2006/main">
              <a:ext uri="{FF2B5EF4-FFF2-40B4-BE49-F238E27FC236}">
                <a16:creationId xmlns:a16="http://schemas.microsoft.com/office/drawing/2014/main" id="{D5979142-3EF6-4343-A411-E7150CA4B0BD}"/>
              </a:ext>
            </a:extLst>
          </p:cNvPr>
          <p:cNvSpPr>
            <a:spLocks xmlns:a="http://schemas.openxmlformats.org/drawingml/2006/main" noGrp="1"/>
          </p:cNvSpPr>
          <p:nvPr/>
        </p:nvSpPr>
        <p:spPr>
          <a:xfrm xmlns:a="http://schemas.openxmlformats.org/drawingml/2006/main">
            <a:off x="82296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9-time-2">
            <a:extLst xmlns:a="http://schemas.openxmlformats.org/drawingml/2006/main">
              <a:ext uri="{FF2B5EF4-FFF2-40B4-BE49-F238E27FC236}">
                <a16:creationId xmlns:a16="http://schemas.microsoft.com/office/drawing/2014/main" id="{B3C74935-201E-4D1D-83DD-D0C17C30A02B}"/>
              </a:ext>
            </a:extLst>
          </p:cNvPr>
          <p:cNvSpPr>
            <a:spLocks xmlns:a="http://schemas.openxmlformats.org/drawingml/2006/main" noGrp="1"/>
          </p:cNvSpPr>
          <p:nvPr/>
        </p:nvSpPr>
        <p:spPr>
          <a:xfrm xmlns:a="http://schemas.openxmlformats.org/drawingml/2006/main">
            <a:off x="84582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31–90</a:t>
            </a:r>
          </a:p>
        </p:txBody>
      </p:sp>
      <p:sp>
        <p:nvSpPr>
          <p:cNvPr id="17" name="s9-title-2">
            <a:extLst xmlns:a="http://schemas.openxmlformats.org/drawingml/2006/main">
              <a:ext uri="{FF2B5EF4-FFF2-40B4-BE49-F238E27FC236}">
                <a16:creationId xmlns:a16="http://schemas.microsoft.com/office/drawing/2014/main" id="{9AD7605A-2BB7-42C8-869A-CEF94B3B453E}"/>
              </a:ext>
            </a:extLst>
          </p:cNvPr>
          <p:cNvSpPr>
            <a:spLocks xmlns:a="http://schemas.openxmlformats.org/drawingml/2006/main" noGrp="1"/>
          </p:cNvSpPr>
          <p:nvPr/>
        </p:nvSpPr>
        <p:spPr>
          <a:xfrm xmlns:a="http://schemas.openxmlformats.org/drawingml/2006/main">
            <a:off x="84582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Premium / managed</a:t>
            </a:r>
          </a:p>
        </p:txBody>
      </p:sp>
      <p:sp>
        <p:nvSpPr>
          <p:cNvPr id="18" name="s9-body-2">
            <a:extLst xmlns:a="http://schemas.openxmlformats.org/drawingml/2006/main">
              <a:ext uri="{FF2B5EF4-FFF2-40B4-BE49-F238E27FC236}">
                <a16:creationId xmlns:a16="http://schemas.microsoft.com/office/drawing/2014/main" id="{D9027F52-C41A-4A9B-AA01-5BE72D67BD3E}"/>
              </a:ext>
            </a:extLst>
          </p:cNvPr>
          <p:cNvSpPr>
            <a:spLocks xmlns:a="http://schemas.openxmlformats.org/drawingml/2006/main" noGrp="1"/>
          </p:cNvSpPr>
          <p:nvPr/>
        </p:nvSpPr>
        <p:spPr>
          <a:xfrm xmlns:a="http://schemas.openxmlformats.org/drawingml/2006/main">
            <a:off x="84582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Managed Amazon + QB ELT</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BigQuery + dbt Cloud</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Looker + observability</a:t>
            </a:r>
          </a:p>
        </p:txBody>
      </p:sp>
      <p:sp>
        <p:nvSpPr>
          <p:cNvPr id="19" name="s9-output-2">
            <a:extLst xmlns:a="http://schemas.openxmlformats.org/drawingml/2006/main">
              <a:ext uri="{FF2B5EF4-FFF2-40B4-BE49-F238E27FC236}">
                <a16:creationId xmlns:a16="http://schemas.microsoft.com/office/drawing/2014/main" id="{321D1C1E-F325-457C-9618-49E9D43A68EC}"/>
              </a:ext>
            </a:extLst>
          </p:cNvPr>
          <p:cNvSpPr>
            <a:spLocks xmlns:a="http://schemas.openxmlformats.org/drawingml/2006/main" noGrp="1"/>
          </p:cNvSpPr>
          <p:nvPr/>
        </p:nvSpPr>
        <p:spPr>
          <a:xfrm xmlns:a="http://schemas.openxmlformats.org/drawingml/2006/main">
            <a:off x="84582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Faster rollout + stronger ops</a:t>
            </a:r>
          </a:p>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Higher subscription cost</a:t>
            </a:r>
          </a:p>
        </p:txBody>
      </p:sp>
    </p:spTree>
    <p:extLst>
      <p:ext uri="{BB962C8B-B14F-4D97-AF65-F5344CB8AC3E}">
        <p14:creationId xmlns:p14="http://schemas.microsoft.com/office/powerpoint/2010/main" val="155230879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DA160A4A-907B-4B46-8C37-A55427DAC1E8}"/>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RECOMMENDED LEADERSHIP DECISIONS</a:t>
            </a:r>
          </a:p>
        </p:txBody>
      </p:sp>
      <p:sp>
        <p:nvSpPr>
          <p:cNvPr id="2" name="title-10">
            <a:extLst xmlns:a="http://schemas.openxmlformats.org/drawingml/2006/main">
              <a:ext uri="{FF2B5EF4-FFF2-40B4-BE49-F238E27FC236}">
                <a16:creationId xmlns:a16="http://schemas.microsoft.com/office/drawing/2014/main" id="{C05FAC72-9AF5-4673-A1FD-0AEBF044080C}"/>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Leadership can act now while closing three data gaps</a:t>
            </a:r>
          </a:p>
        </p:txBody>
      </p:sp>
      <p:sp>
        <p:nvSpPr>
          <p:cNvPr id="3" name="footer-10">
            <a:extLst xmlns:a="http://schemas.openxmlformats.org/drawingml/2006/main">
              <a:ext uri="{FF2B5EF4-FFF2-40B4-BE49-F238E27FC236}">
                <a16:creationId xmlns:a16="http://schemas.microsoft.com/office/drawing/2014/main" id="{F042E2F8-9B5D-4898-AAF5-EAA486B38C7D}"/>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10</a:t>
            </a:r>
          </a:p>
        </p:txBody>
      </p:sp>
      <p:sp>
        <p:nvSpPr>
          <p:cNvPr id="4" name="s10-lead">
            <a:extLst xmlns:a="http://schemas.openxmlformats.org/drawingml/2006/main">
              <a:ext uri="{FF2B5EF4-FFF2-40B4-BE49-F238E27FC236}">
                <a16:creationId xmlns:a16="http://schemas.microsoft.com/office/drawing/2014/main" id="{7E5C2F7A-8D50-4B68-9CA0-1F5D558FCE75}"/>
              </a:ext>
            </a:extLst>
          </p:cNvPr>
          <p:cNvSpPr>
            <a:spLocks xmlns:a="http://schemas.openxmlformats.org/drawingml/2006/main" noGrp="1"/>
          </p:cNvSpPr>
          <p:nvPr/>
        </p:nvSpPr>
        <p:spPr>
          <a:xfrm xmlns:a="http://schemas.openxmlformats.org/drawingml/2006/main">
            <a:off x="533400" y="1504950"/>
            <a:ext cx="11125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The data is sufficient to act now, while three targeted data gaps should be closed before precision decisions are automated.</a:t>
            </a:r>
          </a:p>
        </p:txBody>
      </p:sp>
      <p:sp>
        <p:nvSpPr>
          <p:cNvPr id="5" name="s10-num-0">
            <a:extLst xmlns:a="http://schemas.openxmlformats.org/drawingml/2006/main">
              <a:ext uri="{FF2B5EF4-FFF2-40B4-BE49-F238E27FC236}">
                <a16:creationId xmlns:a16="http://schemas.microsoft.com/office/drawing/2014/main" id="{DD6D571F-167F-48CC-ADB6-387BF0FBA0C0}"/>
              </a:ext>
            </a:extLst>
          </p:cNvPr>
          <p:cNvSpPr>
            <a:spLocks xmlns:a="http://schemas.openxmlformats.org/drawingml/2006/main" noGrp="1"/>
          </p:cNvSpPr>
          <p:nvPr/>
        </p:nvSpPr>
        <p:spPr>
          <a:xfrm xmlns:a="http://schemas.openxmlformats.org/drawingml/2006/main">
            <a:off x="685800" y="25717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1</a:t>
            </a:r>
          </a:p>
        </p:txBody>
      </p:sp>
      <p:sp>
        <p:nvSpPr>
          <p:cNvPr id="6" name="s10-title-0">
            <a:extLst xmlns:a="http://schemas.openxmlformats.org/drawingml/2006/main">
              <a:ext uri="{FF2B5EF4-FFF2-40B4-BE49-F238E27FC236}">
                <a16:creationId xmlns:a16="http://schemas.microsoft.com/office/drawing/2014/main" id="{A39693FB-8529-480A-8559-AC338AE9243E}"/>
              </a:ext>
            </a:extLst>
          </p:cNvPr>
          <p:cNvSpPr>
            <a:spLocks xmlns:a="http://schemas.openxmlformats.org/drawingml/2006/main" noGrp="1"/>
          </p:cNvSpPr>
          <p:nvPr/>
        </p:nvSpPr>
        <p:spPr>
          <a:xfrm xmlns:a="http://schemas.openxmlformats.org/drawingml/2006/main">
            <a:off x="1638300" y="25717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Protect proven demand</a:t>
            </a:r>
          </a:p>
        </p:txBody>
      </p:sp>
      <p:sp>
        <p:nvSpPr>
          <p:cNvPr id="7" name="s10-body-0">
            <a:extLst xmlns:a="http://schemas.openxmlformats.org/drawingml/2006/main">
              <a:ext uri="{FF2B5EF4-FFF2-40B4-BE49-F238E27FC236}">
                <a16:creationId xmlns:a16="http://schemas.microsoft.com/office/drawing/2014/main" id="{D5730904-B396-40F3-8E1A-5CC77257E556}"/>
              </a:ext>
            </a:extLst>
          </p:cNvPr>
          <p:cNvSpPr>
            <a:spLocks xmlns:a="http://schemas.openxmlformats.org/drawingml/2006/main" noGrp="1"/>
          </p:cNvSpPr>
          <p:nvPr/>
        </p:nvSpPr>
        <p:spPr>
          <a:xfrm xmlns:a="http://schemas.openxmlformats.org/drawingml/2006/main">
            <a:off x="5219700" y="25717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Keep PF-WHEY-CHOC and GT-SERUM-VITC in stock; manage ad spend to post-ad contribution.</a:t>
            </a:r>
          </a:p>
        </p:txBody>
      </p:sp>
      <p:sp>
        <p:nvSpPr>
          <p:cNvPr id="8" name="s10-rule-0">
            <a:extLst xmlns:a="http://schemas.openxmlformats.org/drawingml/2006/main">
              <a:ext uri="{FF2B5EF4-FFF2-40B4-BE49-F238E27FC236}">
                <a16:creationId xmlns:a16="http://schemas.microsoft.com/office/drawing/2014/main" id="{2902EDDA-7FE0-484A-BCEF-7466D5A30B1F}"/>
              </a:ext>
            </a:extLst>
          </p:cNvPr>
          <p:cNvSpPr>
            <a:spLocks xmlns:a="http://schemas.openxmlformats.org/drawingml/2006/main" noGrp="1"/>
          </p:cNvSpPr>
          <p:nvPr/>
        </p:nvSpPr>
        <p:spPr>
          <a:xfrm xmlns:a="http://schemas.openxmlformats.org/drawingml/2006/main">
            <a:off x="1638300" y="34099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s10-num-1">
            <a:extLst xmlns:a="http://schemas.openxmlformats.org/drawingml/2006/main">
              <a:ext uri="{FF2B5EF4-FFF2-40B4-BE49-F238E27FC236}">
                <a16:creationId xmlns:a16="http://schemas.microsoft.com/office/drawing/2014/main" id="{F154016A-0002-4257-B814-85ED097BD295}"/>
              </a:ext>
            </a:extLst>
          </p:cNvPr>
          <p:cNvSpPr>
            <a:spLocks xmlns:a="http://schemas.openxmlformats.org/drawingml/2006/main" noGrp="1"/>
          </p:cNvSpPr>
          <p:nvPr/>
        </p:nvSpPr>
        <p:spPr>
          <a:xfrm xmlns:a="http://schemas.openxmlformats.org/drawingml/2006/main">
            <a:off x="685800" y="36766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2</a:t>
            </a:r>
          </a:p>
        </p:txBody>
      </p:sp>
      <p:sp>
        <p:nvSpPr>
          <p:cNvPr id="10" name="s10-title-1">
            <a:extLst xmlns:a="http://schemas.openxmlformats.org/drawingml/2006/main">
              <a:ext uri="{FF2B5EF4-FFF2-40B4-BE49-F238E27FC236}">
                <a16:creationId xmlns:a16="http://schemas.microsoft.com/office/drawing/2014/main" id="{35E8F168-36D5-4813-93FB-CE924E8BEBA6}"/>
              </a:ext>
            </a:extLst>
          </p:cNvPr>
          <p:cNvSpPr>
            <a:spLocks xmlns:a="http://schemas.openxmlformats.org/drawingml/2006/main" noGrp="1"/>
          </p:cNvSpPr>
          <p:nvPr/>
        </p:nvSpPr>
        <p:spPr>
          <a:xfrm xmlns:a="http://schemas.openxmlformats.org/drawingml/2006/main">
            <a:off x="1638300" y="36766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Free inventory cash</a:t>
            </a:r>
          </a:p>
        </p:txBody>
      </p:sp>
      <p:sp>
        <p:nvSpPr>
          <p:cNvPr id="11" name="s10-body-1">
            <a:extLst xmlns:a="http://schemas.openxmlformats.org/drawingml/2006/main">
              <a:ext uri="{FF2B5EF4-FFF2-40B4-BE49-F238E27FC236}">
                <a16:creationId xmlns:a16="http://schemas.microsoft.com/office/drawing/2014/main" id="{CAA3706A-1B05-49E6-9FE8-390B3DAEA9A2}"/>
              </a:ext>
            </a:extLst>
          </p:cNvPr>
          <p:cNvSpPr>
            <a:spLocks xmlns:a="http://schemas.openxmlformats.org/drawingml/2006/main" noGrp="1"/>
          </p:cNvSpPr>
          <p:nvPr/>
        </p:nvSpPr>
        <p:spPr>
          <a:xfrm xmlns:a="http://schemas.openxmlformats.org/drawingml/2006/main">
            <a:off x="5219700" y="36766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Pause blanket replenishment; review the 13 SKUs above one year of cover and open commitments.</a:t>
            </a:r>
          </a:p>
        </p:txBody>
      </p:sp>
      <p:sp>
        <p:nvSpPr>
          <p:cNvPr id="12" name="s10-rule-1">
            <a:extLst xmlns:a="http://schemas.openxmlformats.org/drawingml/2006/main">
              <a:ext uri="{FF2B5EF4-FFF2-40B4-BE49-F238E27FC236}">
                <a16:creationId xmlns:a16="http://schemas.microsoft.com/office/drawing/2014/main" id="{C28771B3-EA34-4D08-B574-781F5D433F51}"/>
              </a:ext>
            </a:extLst>
          </p:cNvPr>
          <p:cNvSpPr>
            <a:spLocks xmlns:a="http://schemas.openxmlformats.org/drawingml/2006/main" noGrp="1"/>
          </p:cNvSpPr>
          <p:nvPr/>
        </p:nvSpPr>
        <p:spPr>
          <a:xfrm xmlns:a="http://schemas.openxmlformats.org/drawingml/2006/main">
            <a:off x="1638300" y="45148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s10-num-2">
            <a:extLst xmlns:a="http://schemas.openxmlformats.org/drawingml/2006/main">
              <a:ext uri="{FF2B5EF4-FFF2-40B4-BE49-F238E27FC236}">
                <a16:creationId xmlns:a16="http://schemas.microsoft.com/office/drawing/2014/main" id="{7CB6735D-0AC4-444F-BCFD-19AF8138776A}"/>
              </a:ext>
            </a:extLst>
          </p:cNvPr>
          <p:cNvSpPr>
            <a:spLocks xmlns:a="http://schemas.openxmlformats.org/drawingml/2006/main" noGrp="1"/>
          </p:cNvSpPr>
          <p:nvPr/>
        </p:nvSpPr>
        <p:spPr>
          <a:xfrm xmlns:a="http://schemas.openxmlformats.org/drawingml/2006/main">
            <a:off x="685800" y="47815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3</a:t>
            </a:r>
          </a:p>
        </p:txBody>
      </p:sp>
      <p:sp>
        <p:nvSpPr>
          <p:cNvPr id="14" name="s10-title-2">
            <a:extLst xmlns:a="http://schemas.openxmlformats.org/drawingml/2006/main">
              <a:ext uri="{FF2B5EF4-FFF2-40B4-BE49-F238E27FC236}">
                <a16:creationId xmlns:a16="http://schemas.microsoft.com/office/drawing/2014/main" id="{30C4E55E-7D60-4D80-975A-47715E96B61A}"/>
              </a:ext>
            </a:extLst>
          </p:cNvPr>
          <p:cNvSpPr>
            <a:spLocks xmlns:a="http://schemas.openxmlformats.org/drawingml/2006/main" noGrp="1"/>
          </p:cNvSpPr>
          <p:nvPr/>
        </p:nvSpPr>
        <p:spPr>
          <a:xfrm xmlns:a="http://schemas.openxmlformats.org/drawingml/2006/main">
            <a:off x="1638300" y="47815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Choose the operating path</a:t>
            </a:r>
          </a:p>
        </p:txBody>
      </p:sp>
      <p:sp>
        <p:nvSpPr>
          <p:cNvPr id="15" name="s10-body-2">
            <a:extLst xmlns:a="http://schemas.openxmlformats.org/drawingml/2006/main">
              <a:ext uri="{FF2B5EF4-FFF2-40B4-BE49-F238E27FC236}">
                <a16:creationId xmlns:a16="http://schemas.microsoft.com/office/drawing/2014/main" id="{37C5A83F-962E-49FC-8CBA-731B1FBD53A1}"/>
              </a:ext>
            </a:extLst>
          </p:cNvPr>
          <p:cNvSpPr>
            <a:spLocks xmlns:a="http://schemas.openxmlformats.org/drawingml/2006/main" noGrp="1"/>
          </p:cNvSpPr>
          <p:nvPr/>
        </p:nvSpPr>
        <p:spPr>
          <a:xfrm xmlns:a="http://schemas.openxmlformats.org/drawingml/2006/main">
            <a:off x="5219700" y="47815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Start cost-aware; buy managed ingestion only if connector SLAs and rollout speed justify the subscription.</a:t>
            </a:r>
          </a:p>
        </p:txBody>
      </p:sp>
      <p:sp>
        <p:nvSpPr>
          <p:cNvPr id="16" name="s10-final">
            <a:extLst xmlns:a="http://schemas.openxmlformats.org/drawingml/2006/main">
              <a:ext uri="{FF2B5EF4-FFF2-40B4-BE49-F238E27FC236}">
                <a16:creationId xmlns:a16="http://schemas.microsoft.com/office/drawing/2014/main" id="{7D7B2648-2177-4A59-B12B-3827D38D3DD2}"/>
              </a:ext>
            </a:extLst>
          </p:cNvPr>
          <p:cNvSpPr>
            <a:spLocks xmlns:a="http://schemas.openxmlformats.org/drawingml/2006/main" noGrp="1"/>
          </p:cNvSpPr>
          <p:nvPr/>
        </p:nvSpPr>
        <p:spPr>
          <a:xfrm xmlns:a="http://schemas.openxmlformats.org/drawingml/2006/main">
            <a:off x="533400" y="5924550"/>
            <a:ext cx="11125200" cy="438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7" name="s10-final-text">
            <a:extLst xmlns:a="http://schemas.openxmlformats.org/drawingml/2006/main">
              <a:ext uri="{FF2B5EF4-FFF2-40B4-BE49-F238E27FC236}">
                <a16:creationId xmlns:a16="http://schemas.microsoft.com/office/drawing/2014/main" id="{CF68C43E-050F-4DB4-8DBE-16C5177406D2}"/>
              </a:ext>
            </a:extLst>
          </p:cNvPr>
          <p:cNvSpPr>
            <a:spLocks xmlns:a="http://schemas.openxmlformats.org/drawingml/2006/main" noGrp="1"/>
          </p:cNvSpPr>
          <p:nvPr/>
        </p:nvSpPr>
        <p:spPr>
          <a:xfrm xmlns:a="http://schemas.openxmlformats.org/drawingml/2006/main">
            <a:off x="723900" y="6029325"/>
            <a:ext cx="1074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2545"/>
                </a:solidFill>
                <a:latin typeface="Arial"/>
                <a:ea typeface="Arial"/>
                <a:cs typeface="Arial"/>
              </a:defRPr>
            </a:pPr>
            <a:r>
              <a:rPr sz="1350" b="1">
                <a:solidFill>
                  <a:srgbClr val="0B2545"/>
                </a:solidFill>
                <a:latin typeface="Arial"/>
                <a:ea typeface="Arial"/>
                <a:cs typeface="Arial"/>
              </a:rPr>
              <a:t>Next discussion: costing policy • advertising attribution • PO/receipt lifecycle • ownership and close SLAs</a:t>
            </a:r>
          </a:p>
        </p:txBody>
      </p:sp>
    </p:spTree>
    <p:extLst>
      <p:ext uri="{BB962C8B-B14F-4D97-AF65-F5344CB8AC3E}">
        <p14:creationId xmlns:p14="http://schemas.microsoft.com/office/powerpoint/2010/main" val="13795001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2026-08-26T02:33:23.8020000Z</dcterms:created>
  <dcterms:modified xsi:type="dcterms:W3CDTF">2026-08-26T02:33:23.8020000Z</dcterms:modified>
</coreProperties>
</file>