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d73b883ea84b67" /><Relationship Type="http://schemas.openxmlformats.org/officeDocument/2006/relationships/extended-properties" Target="/docProps/app.xml" Id="Rd428a3bd6db54f38" /><Relationship Type="http://schemas.openxmlformats.org/officeDocument/2006/relationships/officeDocument" Target="/ppt/presentation.xml" Id="R64b309f026b64c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727c6199f3482a"/>
  </p:sldMasterIdLst>
  <p:notesMasterIdLst>
    <p:notesMasterId xmlns:r="http://schemas.openxmlformats.org/officeDocument/2006/relationships" r:id="Rdcf78678e40247c8"/>
  </p:notesMasterIdLst>
  <p:sldIdLst>
    <p:sldId xmlns:r="http://schemas.openxmlformats.org/officeDocument/2006/relationships" id="256" r:id="R5ad9c15d25e04f4b"/>
    <p:sldId xmlns:r="http://schemas.openxmlformats.org/officeDocument/2006/relationships" id="257" r:id="Rd8c8e9a5dec445a4"/>
    <p:sldId xmlns:r="http://schemas.openxmlformats.org/officeDocument/2006/relationships" id="258" r:id="Re61b8eb862e945aa"/>
    <p:sldId xmlns:r="http://schemas.openxmlformats.org/officeDocument/2006/relationships" id="259" r:id="Ra29cd66d27034f45"/>
    <p:sldId xmlns:r="http://schemas.openxmlformats.org/officeDocument/2006/relationships" id="260" r:id="R96796ecdb8d848e6"/>
    <p:sldId xmlns:r="http://schemas.openxmlformats.org/officeDocument/2006/relationships" id="261" r:id="R8d99683a33954cbf"/>
    <p:sldId xmlns:r="http://schemas.openxmlformats.org/officeDocument/2006/relationships" id="262" r:id="Rc6707baf73d24cb8"/>
    <p:sldId xmlns:r="http://schemas.openxmlformats.org/officeDocument/2006/relationships" id="263" r:id="R11e34cc21bab4023"/>
    <p:sldId xmlns:r="http://schemas.openxmlformats.org/officeDocument/2006/relationships" id="264" r:id="Raba5306df4b9484c"/>
    <p:sldId xmlns:r="http://schemas.openxmlformats.org/officeDocument/2006/relationships" id="265" r:id="Raabbd13a3b1645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44863098fe4533" /><Relationship Type="http://schemas.openxmlformats.org/officeDocument/2006/relationships/slideMaster" Target="/ppt/slideMasters/slideMaster1.xml" Id="R52727c6199f3482a" /><Relationship Type="http://schemas.openxmlformats.org/officeDocument/2006/relationships/notesMaster" Target="/ppt/notesMasters/notesMaster1.xml" Id="Rdcf78678e40247c8" /><Relationship Type="http://schemas.openxmlformats.org/officeDocument/2006/relationships/presProps" Target="/ppt/presProps.xml" Id="R6810a89400214acd" /><Relationship Type="http://schemas.openxmlformats.org/officeDocument/2006/relationships/tableStyles" Target="/ppt/tableStyles.xml" Id="Rd26c01d0bff54763" /><Relationship Type="http://schemas.openxmlformats.org/officeDocument/2006/relationships/slide" Target="/ppt/slides/slide1.xml" Id="R5ad9c15d25e04f4b" /><Relationship Type="http://schemas.openxmlformats.org/officeDocument/2006/relationships/slide" Target="/ppt/slides/slide2.xml" Id="Rd8c8e9a5dec445a4" /><Relationship Type="http://schemas.openxmlformats.org/officeDocument/2006/relationships/slide" Target="/ppt/slides/slide3.xml" Id="Re61b8eb862e945aa" /><Relationship Type="http://schemas.openxmlformats.org/officeDocument/2006/relationships/slide" Target="/ppt/slides/slide4.xml" Id="Ra29cd66d27034f45" /><Relationship Type="http://schemas.openxmlformats.org/officeDocument/2006/relationships/slide" Target="/ppt/slides/slide5.xml" Id="R96796ecdb8d848e6" /><Relationship Type="http://schemas.openxmlformats.org/officeDocument/2006/relationships/slide" Target="/ppt/slides/slide6.xml" Id="R8d99683a33954cbf" /><Relationship Type="http://schemas.openxmlformats.org/officeDocument/2006/relationships/slide" Target="/ppt/slides/slide7.xml" Id="Rc6707baf73d24cb8" /><Relationship Type="http://schemas.openxmlformats.org/officeDocument/2006/relationships/slide" Target="/ppt/slides/slide8.xml" Id="R11e34cc21bab4023" /><Relationship Type="http://schemas.openxmlformats.org/officeDocument/2006/relationships/slide" Target="/ppt/slides/slide9.xml" Id="Raba5306df4b9484c" /><Relationship Type="http://schemas.openxmlformats.org/officeDocument/2006/relationships/slide" Target="/ppt/slides/slide10.xml" Id="Raabbd13a3b1645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3b5f2e72b145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ef6192d50247ac" /><Relationship Type="http://schemas.openxmlformats.org/officeDocument/2006/relationships/notesMaster" Target="/ppt/notesMasters/notesMaster1.xml" Id="Rbf7ea243e15f40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cfb7638da14aed" /><Relationship Type="http://schemas.openxmlformats.org/officeDocument/2006/relationships/notesMaster" Target="/ppt/notesMasters/notesMaster1.xml" Id="R17a66534f91c4a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2b7a64048a41e5" /><Relationship Type="http://schemas.openxmlformats.org/officeDocument/2006/relationships/notesMaster" Target="/ppt/notesMasters/notesMaster1.xml" Id="Rd0568cf3adbb41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0caf2a335be40db" /><Relationship Type="http://schemas.openxmlformats.org/officeDocument/2006/relationships/notesMaster" Target="/ppt/notesMasters/notesMaster1.xml" Id="R1a4e55822e594e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80f4f8fd474865" /><Relationship Type="http://schemas.openxmlformats.org/officeDocument/2006/relationships/notesMaster" Target="/ppt/notesMasters/notesMaster1.xml" Id="R087ef8e09c4148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f7d2d3c89642d8" /><Relationship Type="http://schemas.openxmlformats.org/officeDocument/2006/relationships/notesMaster" Target="/ppt/notesMasters/notesMaster1.xml" Id="R25cfd95dab9c49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b0df23b27c4d87" /><Relationship Type="http://schemas.openxmlformats.org/officeDocument/2006/relationships/notesMaster" Target="/ppt/notesMasters/notesMaster1.xml" Id="Re9b2efa9f6f44d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4a62bcc73974ec8" /><Relationship Type="http://schemas.openxmlformats.org/officeDocument/2006/relationships/notesMaster" Target="/ppt/notesMasters/notesMaster1.xml" Id="R38581f8b72654b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7d60b65e2241b5" /><Relationship Type="http://schemas.openxmlformats.org/officeDocument/2006/relationships/notesMaster" Target="/ppt/notesMasters/notesMaster1.xml" Id="R5073feff9ad549d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2bac3677fe4529" /><Relationship Type="http://schemas.openxmlformats.org/officeDocument/2006/relationships/notesMaster" Target="/ppt/notesMasters/notesMaster1.xml" Id="R3e0da8a153aa40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e7fe06b2994b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eb52dc6a434133" /><Relationship Type="http://schemas.openxmlformats.org/officeDocument/2006/relationships/slideLayout" Target="/ppt/slideLayouts/slideLayout1.xml" Id="Ra495b2f049364b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95b2f049364b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da3332d4dd4c66" /><Relationship Type="http://schemas.openxmlformats.org/officeDocument/2006/relationships/notesSlide" Target="/ppt/notesSlides/notesSlide1.xml" Id="R7fd27919e97f4b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a05bce81b4b7f" /><Relationship Type="http://schemas.openxmlformats.org/officeDocument/2006/relationships/notesSlide" Target="/ppt/notesSlides/notesSlide2.xml" Id="R27684ba84d3a47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30e43a4d774038" /><Relationship Type="http://schemas.openxmlformats.org/officeDocument/2006/relationships/notesSlide" Target="/ppt/notesSlides/notesSlide3.xml" Id="Ra4e6656420c64a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e1eab01744b49" /><Relationship Type="http://schemas.openxmlformats.org/officeDocument/2006/relationships/notesSlide" Target="/ppt/notesSlides/notesSlide4.xml" Id="R60730001b7114c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19df4bcfb64f37" /><Relationship Type="http://schemas.openxmlformats.org/officeDocument/2006/relationships/notesSlide" Target="/ppt/notesSlides/notesSlide5.xml" Id="R1cbb0db670d947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0c04bb0b8459a" /><Relationship Type="http://schemas.openxmlformats.org/officeDocument/2006/relationships/chart" Target="/ppt/slides/charts/chart1.xml" Id="R81014b90d77f4c7c" /><Relationship Type="http://schemas.openxmlformats.org/officeDocument/2006/relationships/notesSlide" Target="/ppt/notesSlides/notesSlide6.xml" Id="R89004d73f9f54a0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a65ec9c984169" /><Relationship Type="http://schemas.openxmlformats.org/officeDocument/2006/relationships/chart" Target="/ppt/slides/charts/chart2.xml" Id="R55797d47c7cd433b" /><Relationship Type="http://schemas.openxmlformats.org/officeDocument/2006/relationships/notesSlide" Target="/ppt/notesSlides/notesSlide7.xml" Id="R1b5e8b15ac0446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4739f92a32437d" /><Relationship Type="http://schemas.openxmlformats.org/officeDocument/2006/relationships/notesSlide" Target="/ppt/notesSlides/notesSlide8.xml" Id="R93a4e7b2a28a4a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4348ae98d4645" /><Relationship Type="http://schemas.openxmlformats.org/officeDocument/2006/relationships/chart" Target="/ppt/slides/charts/chart3.xml" Id="R8035087f1f054676" /><Relationship Type="http://schemas.openxmlformats.org/officeDocument/2006/relationships/notesSlide" Target="/ppt/notesSlides/notesSlide9.xml" Id="Rfe6a11513a2e49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dab8840be4f19" /><Relationship Type="http://schemas.openxmlformats.org/officeDocument/2006/relationships/notesSlide" Target="/ppt/notesSlides/notesSlide10.xml" Id="Rbf12c66a7f234e0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Amount ($K)</c:v>
          </c:tx>
          <c:spPr>
            <a:solidFill xmlns:a="http://schemas.openxmlformats.org/drawingml/2006/main">
              <a:srgbClr val="2E74B5"/>
            </a:solidFill>
          </c:spPr>
          <c:invertIfNegative val="0"/>
          <c:cat>
            <c:strLit>
              <c:ptCount val="6"/>
              <c:pt idx="0">
                <c:v>Contribution</c:v>
              </c:pt>
              <c:pt idx="1">
                <c:v>Advertising</c:v>
              </c:pt>
              <c:pt idx="2">
                <c:v>Storage</c:v>
              </c:pt>
              <c:pt idx="3">
                <c:v>Subscription</c:v>
              </c:pt>
              <c:pt idx="4">
                <c:v>Adjustments</c:v>
              </c:pt>
              <c:pt idx="5">
                <c:v>Result</c:v>
              </c:pt>
            </c:strLit>
          </c:cat>
          <c:val>
            <c:numLit>
              <c:formatCode>General</c:formatCode>
              <c:ptCount val="6"/>
              <c:pt idx="0">
                <c:v>51.24</c:v>
              </c:pt>
              <c:pt idx="1">
                <c:v>-50.58</c:v>
              </c:pt>
              <c:pt idx="2">
                <c:v>-6.12</c:v>
              </c:pt>
              <c:pt idx="3">
                <c:v>-0.12</c:v>
              </c:pt>
              <c:pt idx="4">
                <c:v>0.09</c:v>
              </c:pt>
              <c:pt idx="5">
                <c:v>-5.48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0D5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Contribution margin ($K)</c:v>
          </c:tx>
          <c:spPr>
            <a:solidFill xmlns:a="http://schemas.openxmlformats.org/drawingml/2006/main">
              <a:srgbClr val="2E74B5"/>
            </a:solidFill>
          </c:spPr>
          <c:cat>
            <c:strLit>
              <c:ptCount val="3"/>
              <c:pt idx="0">
                <c:v>Peak Fuel</c:v>
              </c:pt>
              <c:pt idx="1">
                <c:v>GlowTheory</c:v>
              </c:pt>
              <c:pt idx="2">
                <c:v>PawHaus</c:v>
              </c:pt>
            </c:strLit>
          </c:cat>
          <c:val>
            <c:numLit>
              <c:formatCode>General</c:formatCode>
              <c:ptCount val="3"/>
              <c:pt idx="0">
                <c:v>22.03</c:v>
              </c:pt>
              <c:pt idx="1">
                <c:v>20.55</c:v>
              </c:pt>
              <c:pt idx="2">
                <c:v>8.67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0D5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Unit refund rate (%)</c:v>
          </c:tx>
          <c:spPr>
            <a:solidFill xmlns:a="http://schemas.openxmlformats.org/drawingml/2006/main">
              <a:srgbClr val="2E74B5"/>
            </a:solidFill>
          </c:spPr>
          <c:cat>
            <c:strLit>
              <c:ptCount val="3"/>
              <c:pt idx="0">
                <c:v>GlowTheory</c:v>
              </c:pt>
              <c:pt idx="1">
                <c:v>Peak Fuel</c:v>
              </c:pt>
              <c:pt idx="2">
                <c:v>PawHaus</c:v>
              </c:pt>
            </c:strLit>
          </c:cat>
          <c:val>
            <c:numLit>
              <c:formatCode>General</c:formatCode>
              <c:ptCount val="3"/>
              <c:pt idx="0">
                <c:v>4.9</c:v>
              </c:pt>
              <c:pt idx="1">
                <c:v>2.8</c:v>
              </c:pt>
              <c:pt idx="2">
                <c:v>2.7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0D5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C4B584-E6BF-4874-B747-13FD200E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E74B5"/>
                </a:solidFill>
              </a:defRPr>
            </a:pPr>
            <a:r>
              <a:rPr sz="1050" b="1">
                <a:solidFill>
                  <a:srgbClr val="2E74B5"/>
                </a:solidFill>
              </a:rPr>
              <a:t>LUMINIZE 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ED93F6-E71B-493A-90B2-C671C6D4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429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B2545"/>
                </a:solidFill>
              </a:defRPr>
            </a:pPr>
            <a:r>
              <a:rPr sz="3900" b="1">
                <a:solidFill>
                  <a:srgbClr val="0B2545"/>
                </a:solidFill>
              </a:rPr>
              <a:t>A trusted foundation for Amazon profitability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83E41B-782E-4C15-BB86-EB946FC0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</a:defRPr>
            </a:pPr>
            <a:r>
              <a:rPr sz="1800" b="0">
                <a:solidFill>
                  <a:srgbClr val="667085"/>
                </a:solidFill>
              </a:rPr>
              <a:t>BigQuery data model, Q2 contribution margin, and a practical first-90-day automation plan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4D964A-1C4F-4B4B-9827-AD228994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0"/>
            <a:ext cx="3524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solidFill>
              <a:srgbClr val="0B254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925C25-F466-406E-A2FB-392D30DE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764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D6F5"/>
                </a:solidFill>
              </a:defRPr>
            </a:pPr>
            <a:r>
              <a:rPr sz="1200" b="1">
                <a:solidFill>
                  <a:srgbClr val="A9D6F5"/>
                </a:solidFill>
              </a:rPr>
              <a:t>Q2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D023E8-2EE3-4557-B9B4-AFFC8992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955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($5.5K)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7009D-369C-43E9-964E-1E918242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194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9E8F5"/>
                </a:solidFill>
              </a:defRPr>
            </a:pPr>
            <a:r>
              <a:rPr sz="1425" b="0">
                <a:solidFill>
                  <a:srgbClr val="D9E8F5"/>
                </a:solidFill>
              </a:rPr>
              <a:t>after platform costs</a:t>
            </a:r>
          </a:p>
          <a:p xmlns:a="http://schemas.openxmlformats.org/drawingml/2006/main">
            <a:pPr algn="l">
              <a:defRPr sz="1425" b="0">
                <a:solidFill>
                  <a:srgbClr val="D9E8F5"/>
                </a:solidFill>
              </a:defRPr>
            </a:pPr>
            <a:r>
              <a:rPr sz="1425" b="0">
                <a:solidFill>
                  <a:srgbClr val="D9E8F5"/>
                </a:solidFill>
              </a:rPr>
              <a:t>from supplied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B610F4-C591-400B-B8AC-9AC369A2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Ruben Cazarez  •  Finance leadership discussion</a:t>
            </a:r>
          </a:p>
        </p:txBody>
      </p:sp>
    </p:spTree>
    <p:extLst>
      <p:ext uri="{BB962C8B-B14F-4D97-AF65-F5344CB8AC3E}">
        <p14:creationId xmlns:p14="http://schemas.microsoft.com/office/powerpoint/2010/main" val="6647493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A76627-C142-4956-BE28-DF8787DF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EXECUTIVE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2B75A-6C77-4F1B-941C-4FD006B7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The catalog is profitable before shared Amazon costs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F72DA3-53DB-447C-A0FA-2FDD4B1D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Advertising nearly consumes the full SKU-attributable contribution margin.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AB6BE-8E0E-41A5-92B1-832A22FB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$132.3K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755B2-5572-4BCD-A3E0-60C06C56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Net sales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76F758-69C8-45DF-B84F-A2C368D2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955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$51.2K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E5803-112C-461B-80F6-37763A35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47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Contribution margin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2496E7-5086-4583-B6C6-3116EDD3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2545"/>
                </a:solidFill>
              </a:defRPr>
            </a:pPr>
            <a:r>
              <a:rPr sz="2850" b="1">
                <a:solidFill>
                  <a:srgbClr val="0B2545"/>
                </a:solidFill>
              </a:rPr>
              <a:t>38.7%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0D653E-789D-4C54-B420-FF2EA02B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7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Margin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3D3385-D8F1-49A1-AAA3-F2E31232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9550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B42318"/>
                </a:solidFill>
              </a:defRPr>
            </a:pPr>
            <a:r>
              <a:rPr sz="2850" b="1">
                <a:solidFill>
                  <a:srgbClr val="B42318"/>
                </a:solidFill>
              </a:rPr>
              <a:t>($5.5K)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831794-E567-4FD0-B347-E1B7A5A5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479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After platform costs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075BAF-660E-4FAF-BE78-E9575A52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D44C8A-273C-40D1-B934-3150806F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019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74B5"/>
                </a:solidFill>
              </a:defRPr>
            </a:pPr>
            <a:r>
              <a:rPr sz="1650" b="1">
                <a:solidFill>
                  <a:srgbClr val="2E74B5"/>
                </a:solidFill>
              </a:rPr>
              <a:t>Leadership focus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25DB65-5A94-4C82-A129-FC0F9773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028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B4D"/>
                </a:solidFill>
              </a:defRPr>
            </a:pPr>
            <a:r>
              <a:rPr sz="1800" b="0">
                <a:solidFill>
                  <a:srgbClr val="172B4D"/>
                </a:solidFill>
              </a:rPr>
              <a:t>1  Validate advertising efficiency and SKU attribution</a:t>
            </a:r>
          </a:p>
          <a:p xmlns:a="http://schemas.openxmlformats.org/drawingml/2006/main">
            <a:pPr algn="l">
              <a:defRPr sz="1800" b="0">
                <a:solidFill>
                  <a:srgbClr val="172B4D"/>
                </a:solidFill>
              </a:defRPr>
            </a:pPr>
            <a:r>
              <a:rPr sz="1800" b="0">
                <a:solidFill>
                  <a:srgbClr val="172B4D"/>
                </a:solidFill>
              </a:rPr>
              <a:t>2  Confirm the two imputed landed costs before product decisions</a:t>
            </a:r>
          </a:p>
          <a:p xmlns:a="http://schemas.openxmlformats.org/drawingml/2006/main">
            <a:pPr algn="l">
              <a:defRPr sz="1800" b="0">
                <a:solidFill>
                  <a:srgbClr val="172B4D"/>
                </a:solidFill>
              </a:defRPr>
            </a:pPr>
            <a:r>
              <a:rPr sz="1800" b="0">
                <a:solidFill>
                  <a:srgbClr val="172B4D"/>
                </a:solidFill>
              </a:rPr>
              <a:t>3  Rebalance inventory: two replenishment risks, many slow movers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1842F8-1251-4D6E-9246-73A39A66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AC7029-A977-4897-8CE9-5104A552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51005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E46B10-D33F-43D1-BD57-C2DAE490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B04D3A-E04E-4A76-9F41-17BA89B2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Preserve evidence first; publish only what the data supports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294042-1B88-42E7-AFBE-D4EB8F17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A simple BigQuery flow keeps ingestion replayable and finance reporting controlled.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6C48B3-3494-4034-A2E9-61DD9812E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333625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A51FA-AC16-4A4C-B9F8-5182B9B6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5336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Sources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9ADC0-F2BE-47BF-B69D-E65D969F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52750"/>
            <a:ext cx="1543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Amazon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QuickBooks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REACH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Sheets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48C9E3-AD0F-475D-A686-63D53353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905125"/>
            <a:ext cx="3238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939085-2959-4203-8930-3F25FE46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33625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A6BF8-C26F-4FDD-B3E0-7105CD9A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5336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Bronze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41E286-D7C2-4542-913D-B5511F76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952750"/>
            <a:ext cx="1543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Original records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+ load metadata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E513CC-AE0F-4168-883D-51F05BC7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05125"/>
            <a:ext cx="3238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84F337-BBA9-440F-8B6D-B3414293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333625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BBA504-E4C9-45A6-8DBE-03ADD2D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5336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Quality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223937-323D-4A21-9AB1-C82EE38C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952750"/>
            <a:ext cx="1543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Schema • totals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keys • freshness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430F9C-4800-4812-ACAF-8B7E3F7C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905125"/>
            <a:ext cx="3238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653EF5-1B94-4BC4-9C2F-D6D16065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333625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F27A72-7BDF-4B94-A3D0-FC868F3E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5336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Silver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76EE8E-0D2C-48C1-AB26-2D768D1A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52750"/>
            <a:ext cx="1543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Typed facts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+ resolved identity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72FDB9-8D4E-4448-8CBA-C0A8ACB23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905125"/>
            <a:ext cx="3238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E8C0EB-FFCC-466D-8602-54062BCF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2333625"/>
            <a:ext cx="1809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6F1"/>
          </a:solidFill>
          <a:ln xmlns:a="http://schemas.openxmlformats.org/drawingml/2006/main" w="9525">
            <a:solidFill>
              <a:srgbClr val="0B7A5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631E4C-1C34-433B-BD18-A0FA5BCD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5336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Gold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C1DFBD-C12D-49B6-9B7F-755BF29F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952750"/>
            <a:ext cx="15430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Profitability</a:t>
            </a:r>
          </a:p>
          <a:p xmlns:a="http://schemas.openxmlformats.org/drawingml/2006/main">
            <a:pPr algn="ctr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inventory • recon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07FA01-DFF7-449F-ADA4-2FFA0006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2545"/>
                </a:solidFill>
              </a:defRPr>
            </a:pPr>
            <a:r>
              <a:rPr sz="1650" b="1">
                <a:solidFill>
                  <a:srgbClr val="0B2545"/>
                </a:solidFill>
              </a:rPr>
              <a:t>If a record cannot be trusted, Bronze keeps it while Silver and Gold remain protected.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06D3C4-5B7D-40E7-B14E-4031E42C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Every load records source, extraction time, report/file ID, source-row key, run ID, row hash, and schema version.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EED6E0-8A7B-4F6F-B235-1CD3FCFD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4C2890-930C-41B6-A97D-A54EB02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686501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B7D650-0221-4CA1-8E68-B2EB816EE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A79E40-1715-4C4A-AA46-0728D8DA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Resolve identity with confidence—not forced perfection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C7C61A-D770-4CF0-84A0-EBF0D3E1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Product, brand, and ASIN confidence are stored separately so uncertainty stays visible.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63740-15C0-457B-9B61-886952E5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52625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7A53"/>
                </a:solidFill>
              </a:defRPr>
            </a:pPr>
            <a:r>
              <a:rPr sz="2250" b="1">
                <a:solidFill>
                  <a:srgbClr val="0B7A53"/>
                </a:solidFill>
              </a:rPr>
              <a:t>100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830841-943F-4FAF-9240-42D30A93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000250"/>
            <a:ext cx="47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53"/>
          </a:solidFill>
          <a:ln xmlns:a="http://schemas.openxmlformats.org/drawingml/2006/main" w="0">
            <a:solidFill>
              <a:srgbClr val="0B7A5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29ACF0-614C-41E2-8EA4-BB8A29CE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9526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B4D"/>
                </a:solidFill>
              </a:defRPr>
            </a:pPr>
            <a:r>
              <a:rPr sz="1650" b="1">
                <a:solidFill>
                  <a:srgbClr val="172B4D"/>
                </a:solidFill>
              </a:rPr>
              <a:t>Exact canonical SKU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931461-633B-4916-BA9B-D7BCABFE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5262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7A53"/>
                </a:solidFill>
              </a:defRPr>
            </a:pPr>
            <a:r>
              <a:rPr sz="1500" b="1">
                <a:solidFill>
                  <a:srgbClr val="0B7A53"/>
                </a:solidFill>
              </a:rPr>
              <a:t>Publish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E114E3-01E0-4A9C-A36E-D148DBE2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6700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7A53"/>
                </a:solidFill>
              </a:defRPr>
            </a:pPr>
            <a:r>
              <a:rPr sz="2250" b="1">
                <a:solidFill>
                  <a:srgbClr val="0B7A53"/>
                </a:solidFill>
              </a:rPr>
              <a:t>95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88303-4EC0-4EB3-BDF3-41A5A4E5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714625"/>
            <a:ext cx="47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53"/>
          </a:solidFill>
          <a:ln xmlns:a="http://schemas.openxmlformats.org/drawingml/2006/main" w="0">
            <a:solidFill>
              <a:srgbClr val="0B7A5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436307-A8CB-4004-A853-6366D0E1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667000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4D"/>
                </a:solidFill>
              </a:defRPr>
            </a:pPr>
            <a:r>
              <a:rPr sz="1650" b="0">
                <a:solidFill>
                  <a:srgbClr val="172B4D"/>
                </a:solidFill>
              </a:rPr>
              <a:t>Approved alias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392471-2A0A-46EC-B3A8-2DC8737F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670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7A53"/>
                </a:solidFill>
              </a:defRPr>
            </a:pPr>
            <a:r>
              <a:rPr sz="1500" b="1">
                <a:solidFill>
                  <a:srgbClr val="0B7A53"/>
                </a:solidFill>
              </a:rPr>
              <a:t>Publish + monitor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11FDF2-0445-4ECB-9A28-DE236996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81375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7791F"/>
                </a:solidFill>
              </a:defRPr>
            </a:pPr>
            <a:r>
              <a:rPr sz="2250" b="1">
                <a:solidFill>
                  <a:srgbClr val="B7791F"/>
                </a:solidFill>
              </a:rPr>
              <a:t>85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4B5A7-A5DF-4D22-A341-D7BAEF2D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429000"/>
            <a:ext cx="47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479696-9AFB-4EF4-913B-DF3B39E6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38137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4D"/>
                </a:solidFill>
              </a:defRPr>
            </a:pPr>
            <a:r>
              <a:rPr sz="1650" b="0">
                <a:solidFill>
                  <a:srgbClr val="172B4D"/>
                </a:solidFill>
              </a:rPr>
              <a:t>Unique scoped ASIN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68904D-E846-4870-A82A-E2193DE6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8137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7791F"/>
                </a:solidFill>
              </a:defRPr>
            </a:pPr>
            <a:r>
              <a:rPr sz="1500" b="1">
                <a:solidFill>
                  <a:srgbClr val="B7791F"/>
                </a:solidFill>
              </a:rPr>
              <a:t>Provisional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8FE9DD-2BE1-493A-A279-36AA76E2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9575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E74B5"/>
                </a:solidFill>
              </a:defRPr>
            </a:pPr>
            <a:r>
              <a:rPr sz="2250" b="1">
                <a:solidFill>
                  <a:srgbClr val="2E74B5"/>
                </a:solidFill>
              </a:rPr>
              <a:t>60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3A0993-59E9-47D4-ACE0-8CC6EF70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143375"/>
            <a:ext cx="47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D0E577-DAB4-491C-BCD1-2982EA1A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095750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4D"/>
                </a:solidFill>
              </a:defRPr>
            </a:pPr>
            <a:r>
              <a:rPr sz="1650" b="0">
                <a:solidFill>
                  <a:srgbClr val="172B4D"/>
                </a:solidFill>
              </a:rPr>
              <a:t>Brand or prefix only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BFA513-68A7-4CCC-8E8E-685CCD08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Brand reporting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6597DA-B7D2-46AE-B82D-CD0590F1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810125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42318"/>
                </a:solidFill>
              </a:defRPr>
            </a:pPr>
            <a:r>
              <a:rPr sz="2250" b="1">
                <a:solidFill>
                  <a:srgbClr val="B42318"/>
                </a:solidFill>
              </a:rPr>
              <a:t>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C61B31-2B3E-4456-AE2C-ABEAE8E8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57750"/>
            <a:ext cx="47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D5A5A0-EDFD-4CB0-AA0E-FD960FA0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8101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4D"/>
                </a:solidFill>
              </a:defRPr>
            </a:pPr>
            <a:r>
              <a:rPr sz="1650" b="0">
                <a:solidFill>
                  <a:srgbClr val="172B4D"/>
                </a:solidFill>
              </a:rPr>
              <a:t>Missing or conflicting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505B61-2DF4-47D1-9D56-F390A642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0125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Quarantine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9E6EE3-E720-4F98-BCCB-6B2E8888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No fuzzy match can post a finance product key without owner approval.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FE3087-4D1C-463D-A244-EA0511D1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BBEF56-7FD0-4AE0-812C-51731A94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729019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776963-8C74-4F1A-89F2-423C2351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37B783-25E9-402C-8345-05DE4AE6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Exceptions become owned work—not silent data loss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14F433-0ABA-4604-873F-5B13D037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The review queue ranks issues by financial exposure and records the final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E4EFFB-5C48-4B93-91B1-A4CED948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Issue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BD0834-433F-456E-80C3-B0BC5441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526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Exposure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C09A6A-10BF-4A39-B714-AFD608E7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339CB2-01EA-4782-9462-61CE6288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5262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Owner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36C732-7194-40F2-B85C-4DCF24A1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FBCF2D-5AA6-4D10-A8D7-945D986F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600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Conflicting ASIN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11533E-85C6-4ED7-9AEC-9BA37A78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81250"/>
            <a:ext cx="1314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2545"/>
                </a:solidFill>
              </a:defRPr>
            </a:pPr>
            <a:r>
              <a:rPr sz="1425" b="1">
                <a:solidFill>
                  <a:srgbClr val="0B2545"/>
                </a:solidFill>
              </a:rPr>
              <a:t>$3,168 sales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801137-5EED-4C6D-95B7-079A9592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81250"/>
            <a:ext cx="21240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Block ASIN-only join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60336C-3CBE-4D81-A1A1-7040D126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381250"/>
            <a:ext cx="2171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Product data owner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7D9E87-6D12-4BBC-B562-528E2C2B2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3C0609-F16B-4F21-A942-D322C42B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3600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Proposed SKU alias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3A00D-4056-4A07-BAFD-BBA2006E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57550"/>
            <a:ext cx="1314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2545"/>
                </a:solidFill>
              </a:defRPr>
            </a:pPr>
            <a:r>
              <a:rPr sz="1425" b="1">
                <a:solidFill>
                  <a:srgbClr val="0B2545"/>
                </a:solidFill>
              </a:rPr>
              <a:t>$1,352 sales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871F45-4B72-43E1-B1FE-202599F1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21240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Approve + effective-date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9CDC53-F584-447B-BFAE-0B4CE8542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57550"/>
            <a:ext cx="2171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Product data 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418388-A4C0-4E80-8D23-E1C7A28B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solidFill>
              <a:srgbClr val="D0D5D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CE2A9C-D889-4013-B4B9-F6804A42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3600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Missing landed cost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45308D-4DE8-4AA8-8794-1CA0E1DF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33850"/>
            <a:ext cx="1314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2545"/>
                </a:solidFill>
              </a:defRPr>
            </a:pPr>
            <a:r>
              <a:rPr sz="1425" b="1">
                <a:solidFill>
                  <a:srgbClr val="0B2545"/>
                </a:solidFill>
              </a:rPr>
              <a:t>$3,140 sales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69BFE3-493B-47EE-970B-E67FF8B9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21240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Validate before decisions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000FFF-7D11-435A-A389-B6DB6D79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133850"/>
            <a:ext cx="2171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4D"/>
                </a:solidFill>
              </a:defRPr>
            </a:pPr>
            <a:r>
              <a:rPr sz="1425" b="0">
                <a:solidFill>
                  <a:srgbClr val="172B4D"/>
                </a:solidFill>
              </a:rPr>
              <a:t>Finance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A6BDFD-7CE2-4362-BEF2-37123D5F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Schema drift uses the same rule: preserve the raw load, warn on harmless additions, and block reporting when required fields change.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0A641D-D974-463D-AD1F-5243792A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6A7A9B-7BA3-4B32-B804-23E32BCF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943279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43D8C9-AA88-48EF-939C-8058C76D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858BE-B909-4778-9365-58759F74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Advertising nearly consumes the quarter’s contribution margin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8A950C-C963-483F-B46B-A0176BAF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Shared costs are shown separately because the supplied file has no reliable SKU allocation key.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742950" y="1952625"/>
          <a:ext xmlns:a="http://schemas.openxmlformats.org/drawingml/2006/main" cx="75247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014b90d77f4c7c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F49E04-A545-4AD8-9C56-B87F7CCF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2860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B42318"/>
                </a:solidFill>
              </a:defRPr>
            </a:pPr>
            <a:r>
              <a:rPr sz="2850" b="1">
                <a:solidFill>
                  <a:srgbClr val="B42318"/>
                </a:solidFill>
              </a:rPr>
              <a:t>98.7%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DE698-52FE-4F3D-B93F-175B1560F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43200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of contribution margin</a:t>
            </a:r>
          </a:p>
          <a:p xmlns:a="http://schemas.openxmlformats.org/drawingml/2006/main">
            <a:pPr algn="ctr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is matched by ad cost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5F87A-1A5A-4135-861C-89B8A5A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85762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E74B5"/>
                </a:solidFill>
              </a:defRPr>
            </a:pPr>
            <a:r>
              <a:rPr sz="1350" b="1">
                <a:solidFill>
                  <a:srgbClr val="2E74B5"/>
                </a:solidFill>
              </a:rPr>
              <a:t>Next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1D14CB-80A8-46F0-A9E0-D5D22787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286250"/>
            <a:ext cx="266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2545"/>
                </a:solidFill>
              </a:defRPr>
            </a:pPr>
            <a:r>
              <a:rPr sz="1425" b="1">
                <a:solidFill>
                  <a:srgbClr val="0B2545"/>
                </a:solidFill>
              </a:rPr>
              <a:t>Campaign → ASIN/SKU</a:t>
            </a:r>
          </a:p>
          <a:p xmlns:a="http://schemas.openxmlformats.org/drawingml/2006/main">
            <a:pPr algn="ctr">
              <a:defRPr sz="1425" b="1">
                <a:solidFill>
                  <a:srgbClr val="0B2545"/>
                </a:solidFill>
              </a:defRPr>
            </a:pPr>
            <a:r>
              <a:rPr sz="1425" b="1">
                <a:solidFill>
                  <a:srgbClr val="0B2545"/>
                </a:solidFill>
              </a:rPr>
              <a:t>attribution and ROAS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04A59D-F887-440D-BE6F-CE76676B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E99A7-57C5-4004-984C-F8F55477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410133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C22F5F-1164-409C-810B-6F72CBD8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0BFE9-4B16-45E8-8592-ACD1F517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Every brand contributes positively before shared platform costs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366B6B-1BBF-4F3D-95B0-1A3EFEC4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GlowTheory has the strongest rate; PawHaus has the lowest margin and needs cost review.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762000" y="2000250"/>
          <a:ext xmlns:a="http://schemas.openxmlformats.org/drawingml/2006/main" cx="723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797d47c7cd433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ABA86E-4A24-45BE-AAFF-33E8DD0C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2383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Peak Fuel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FA1C1A-1212-449B-B776-580A6D8F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571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2545"/>
                </a:solidFill>
              </a:defRPr>
            </a:pPr>
            <a:r>
              <a:rPr sz="2250" b="1">
                <a:solidFill>
                  <a:srgbClr val="0B2545"/>
                </a:solidFill>
              </a:rPr>
              <a:t>39.6%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F3145-0009-4141-8535-8E7AEE0D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051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GlowTheory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F76BA0-2AAC-474D-B365-139851CF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6385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A53"/>
                </a:solidFill>
              </a:defRPr>
            </a:pPr>
            <a:r>
              <a:rPr sz="2250" b="1">
                <a:solidFill>
                  <a:srgbClr val="0B7A53"/>
                </a:solidFill>
              </a:rPr>
              <a:t>47.9%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E4E1EA-8FF7-4C1F-A98E-C087CD79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3719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PawHaus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A1983-1018-46C7-8DB0-7B2B3EF7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053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7791F"/>
                </a:solidFill>
              </a:defRPr>
            </a:pPr>
            <a:r>
              <a:rPr sz="2250" b="1">
                <a:solidFill>
                  <a:srgbClr val="B7791F"/>
                </a:solidFill>
              </a:rPr>
              <a:t>25.6%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F0CFE9-1BE5-46C7-AE83-95C99A9B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DFC41D-80DE-4BE0-A95D-249C6A77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7135845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969236-6071-44DF-8FF8-C4BBA724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F251D4-4AE4-44D2-8F4C-519AFC6E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One sale shows how quickly margin can disappear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848549-A437-4CCF-8E6D-476682A5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Every value traces to one settlement row or the SKU's PO weighted landed cost.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05CC0-D0B5-472A-8AAB-5A7AAC91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1666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Product sale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659F8-4E9C-4369-80FB-A1D5971D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09850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B2545"/>
                </a:solidFill>
              </a:defRPr>
            </a:pPr>
            <a:r>
              <a:rPr sz="2100" b="1">
                <a:solidFill>
                  <a:srgbClr val="0B2545"/>
                </a:solidFill>
              </a:rPr>
              <a:t>$42.99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A6E07-BD38-4F17-9C7B-CBFACCCE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6700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612C4-8295-4680-BEB6-F622F660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190750"/>
            <a:ext cx="1666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Promotion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48A9F-5880-492E-B853-D8AD2D21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609850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($4.30)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E3F0C4-CDFF-4660-A9EC-6CB2CBDA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66700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FEB44C-91F5-4E9A-87DE-AF3FDD42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90750"/>
            <a:ext cx="1666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Referral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A6805F-A4F7-4FAC-B4FE-AD732BC3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09850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($5.80)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F6DF96-BF20-4FCB-AEFC-03208121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6700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F6AF7C-F07D-4900-BC41-124ADADF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90750"/>
            <a:ext cx="1666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FBA fulfill.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1988EB-D41A-4A0E-B2C7-224C5E51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09850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($12.40)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D9E4B5-3314-4A1A-B72C-A9C1BCDC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6700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0E404A-CCD2-4DA2-A846-D67FB133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90750"/>
            <a:ext cx="1666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Landed COGS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75848E-AAB9-49E2-B6F0-AE9BA4AB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09850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($19.70)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69B10A-D073-4BFC-B751-225882B8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66700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C9C512-72FC-43B1-8B2D-BAC651D5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190750"/>
            <a:ext cx="1666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CM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61E13A-176C-478F-B91F-499F6F3D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09850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B7A53"/>
                </a:solidFill>
              </a:defRPr>
            </a:pPr>
            <a:r>
              <a:rPr sz="2100" b="1">
                <a:solidFill>
                  <a:srgbClr val="0B7A53"/>
                </a:solidFill>
              </a:rPr>
              <a:t>$0.79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44F6C2-07E4-49A9-B662-8BD778C2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PawHaus Orthopedic Dog Bed • Order 114-1003986-4269335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076F68-0EA2-4E71-B253-2DE78A15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05300"/>
            <a:ext cx="914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2545"/>
                </a:solidFill>
              </a:defRPr>
            </a:pPr>
            <a:r>
              <a:rPr sz="1650" b="1">
                <a:solidFill>
                  <a:srgbClr val="0B2545"/>
                </a:solidFill>
              </a:rPr>
              <a:t>Three PO lines: $23,556 product + $2,048.80 freight/duty</a:t>
            </a:r>
          </a:p>
          <a:p xmlns:a="http://schemas.openxmlformats.org/drawingml/2006/main">
            <a:pPr algn="ctr">
              <a:defRPr sz="1650" b="1">
                <a:solidFill>
                  <a:srgbClr val="0B2545"/>
                </a:solidFill>
              </a:defRPr>
            </a:pPr>
            <a:r>
              <a:rPr sz="1650" b="1">
                <a:solidFill>
                  <a:srgbClr val="0B2545"/>
                </a:solidFill>
              </a:rPr>
              <a:t>÷ 1,300 units = $19.696 landed cost per unit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2A81F8-951E-456D-8596-652B8A8D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81625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Advertising and storage have no SKU key. We can prove the $0.79 break-even cushion—not assign those shared costs to this order.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DD8D4E-C8E5-4CF1-9424-60480C22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070909-612A-45BA-B6C3-420CAA22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166492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7F382A-E9A8-4CAC-AA01-D8D23603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618359-8EFD-45AC-8689-631DCEAF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Refunds expose concentrated product risk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D35400-B365-4491-AE57-392C733A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GlowTheory has the highest brand rate; the PawHaus dog bed has the sharpest margin exposure.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723900" y="2047875"/>
          <a:ext xmlns:a="http://schemas.openxmlformats.org/drawingml/2006/main" cx="61912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35087f1f054676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8586BA-065C-4FC8-9659-98232572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336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Products to investigate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46AE0B-0687-4AF6-AB0A-F719266F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2545"/>
                </a:solidFill>
              </a:defRPr>
            </a:pPr>
            <a:r>
              <a:rPr sz="1800" b="1">
                <a:solidFill>
                  <a:srgbClr val="0B2545"/>
                </a:solidFill>
              </a:rPr>
              <a:t>GT-MASK-CLAY  •  10.7%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1A4274-E8E9-4FAB-B2BD-90F7B68C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$143 contribution reversed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66443-3564-4D6B-BE50-0373B42D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2545"/>
                </a:solidFill>
              </a:defRPr>
            </a:pPr>
            <a:r>
              <a:rPr sz="1800" b="1">
                <a:solidFill>
                  <a:srgbClr val="0B2545"/>
                </a:solidFill>
              </a:rPr>
              <a:t>PF-WHEY-CHOC  •  3.4%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E452B-BD0E-4C1E-8CF5-528FD76B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148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$328 contribution reversed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246DAF-C1ED-4AF4-A4B3-F1660CF1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4345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2545"/>
                </a:solidFill>
              </a:defRPr>
            </a:pPr>
            <a:r>
              <a:rPr sz="1800" b="1">
                <a:solidFill>
                  <a:srgbClr val="0B2545"/>
                </a:solidFill>
              </a:rPr>
              <a:t>PH-BED-MED-GRY  •  6.6%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4BD639-95A5-4E41-BCC7-5A27D6EF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62550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2318"/>
                </a:solidFill>
              </a:defRPr>
            </a:pPr>
            <a:r>
              <a:rPr sz="1275" b="1">
                <a:solidFill>
                  <a:srgbClr val="B42318"/>
                </a:solidFill>
              </a:rPr>
              <a:t>Refund impact equals 47% of remaining CM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7F103-8269-4E58-BA92-67B3E54C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11DD9A-5466-4C72-9BE7-6C124B4B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794168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227F48-301C-4283-96AC-390E1FB7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74B5"/>
                </a:solidFill>
              </a:defRPr>
            </a:pPr>
            <a:r>
              <a:rPr sz="975" b="1">
                <a:solidFill>
                  <a:srgbClr val="2E74B5"/>
                </a:solidFill>
              </a:rPr>
              <a:t>DELIVERABLE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A4705-B1D1-4E96-AB20-7C4A8FDE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2545"/>
                </a:solidFill>
              </a:defRPr>
            </a:pPr>
            <a:r>
              <a:rPr sz="2700" b="1">
                <a:solidFill>
                  <a:srgbClr val="0B2545"/>
                </a:solidFill>
              </a:rPr>
              <a:t>The first 90 days build trust before adding forecasting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6D4D32-0C90-444E-AF40-F56C5D3F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Automate controls and reconciliation first; expand decisions only after the underlying history is dependable.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1F534E-C504-4CC9-A21E-4A4F1C94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74B5"/>
                </a:solidFill>
              </a:defRPr>
            </a:pPr>
            <a:r>
              <a:rPr sz="1350" b="1">
                <a:solidFill>
                  <a:srgbClr val="2E74B5"/>
                </a:solidFill>
              </a:rPr>
              <a:t>Days 1–30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00CCF7-195C-4BBF-929B-EE08465D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57450"/>
            <a:ext cx="3143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53"/>
          </a:solidFill>
          <a:ln xmlns:a="http://schemas.openxmlformats.org/drawingml/2006/main" w="0">
            <a:solidFill>
              <a:srgbClr val="0B7A5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C1A022-1037-4AFB-A14A-BE52C4EF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2545"/>
                </a:solidFill>
              </a:defRPr>
            </a:pPr>
            <a:r>
              <a:rPr sz="1875" b="1">
                <a:solidFill>
                  <a:srgbClr val="0B2545"/>
                </a:solidFill>
              </a:rPr>
              <a:t>Reliable ingestion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88B46E-1F7C-40E3-90C6-84083E49A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Raw history • schema alerts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identity/UOM mappings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source tie-outs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53917D-3543-4840-AEF2-10E3E1D5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478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74B5"/>
                </a:solidFill>
              </a:defRPr>
            </a:pPr>
            <a:r>
              <a:rPr sz="1350" b="1">
                <a:solidFill>
                  <a:srgbClr val="2E74B5"/>
                </a:solidFill>
              </a:rPr>
              <a:t>Days 31–60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14337-F8D8-4052-89AB-58706664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57450"/>
            <a:ext cx="3143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803720-67FB-4EEB-AF85-0CA92966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813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2545"/>
                </a:solidFill>
              </a:defRPr>
            </a:pPr>
            <a:r>
              <a:rPr sz="1875" b="1">
                <a:solidFill>
                  <a:srgbClr val="0B2545"/>
                </a:solidFill>
              </a:rPr>
              <a:t>Repeatable finance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F5BCB4-B27A-4D52-8DA3-889D41A5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5280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Amazon management P&amp;L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QuickBooks reconciliation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source drill-through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63C395-6350-4A3D-88A7-311C2FC6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478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74B5"/>
                </a:solidFill>
              </a:defRPr>
            </a:pPr>
            <a:r>
              <a:rPr sz="1350" b="1">
                <a:solidFill>
                  <a:srgbClr val="2E74B5"/>
                </a:solidFill>
              </a:rPr>
              <a:t>Days 61–90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85729D-D6DF-43DA-A904-4CA614E2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57450"/>
            <a:ext cx="3143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4B5"/>
          </a:solidFill>
          <a:ln xmlns:a="http://schemas.openxmlformats.org/drawingml/2006/main" w="0">
            <a:solidFill>
              <a:srgbClr val="2E74B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E4CEAC-66A1-4641-96E9-6BCE959B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813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2545"/>
                </a:solidFill>
              </a:defRPr>
            </a:pPr>
            <a:r>
              <a:rPr sz="1875" b="1">
                <a:solidFill>
                  <a:srgbClr val="0B2545"/>
                </a:solidFill>
              </a:rPr>
              <a:t>Operational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6EBE96-B426-41AF-B11E-A91AAF56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5280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REACH PO/receipt history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advertising attribution</a:t>
            </a:r>
          </a:p>
          <a:p xmlns:a="http://schemas.openxmlformats.org/drawingml/2006/main">
            <a:pPr algn="l">
              <a:defRPr sz="1425" b="0">
                <a:solidFill>
                  <a:srgbClr val="667085"/>
                </a:solidFill>
              </a:defRPr>
            </a:pPr>
            <a:r>
              <a:rPr sz="1425" b="0">
                <a:solidFill>
                  <a:srgbClr val="667085"/>
                </a:solidFill>
              </a:rPr>
              <a:t>inventory + 13-week outlook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BA699F-BE38-44FE-9E08-B42C2E7A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2545"/>
                </a:solidFill>
              </a:defRPr>
            </a:pPr>
            <a:r>
              <a:rPr sz="1575" b="1">
                <a:solidFill>
                  <a:srgbClr val="0B2545"/>
                </a:solidFill>
              </a:rPr>
              <a:t>Start cost-aware in GCP; buy managed connectors when reliability or implementation speed justifies the recurring cost.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A7D3D3-9988-45D5-94D5-DCDD7AEB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1028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Q2 2026 Amazon profitability assessment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1EDBDC-D221-4670-91EB-BADDB6A18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8A2B3"/>
                </a:solidFill>
              </a:defRPr>
            </a:pPr>
            <a:r>
              <a:rPr sz="825" b="0">
                <a:solidFill>
                  <a:srgbClr val="98A2B3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393848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2026-08-26T17:04:06.1900000Z</dcterms:created>
  <dcterms:modified xsi:type="dcterms:W3CDTF">2026-08-26T17:04:06.1900000Z</dcterms:modified>
</coreProperties>
</file>