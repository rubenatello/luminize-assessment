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2eb2c3bb5145e7" /><Relationship Type="http://schemas.openxmlformats.org/officeDocument/2006/relationships/extended-properties" Target="/docProps/app.xml" Id="R96595b8ea2e1483f" /><Relationship Type="http://schemas.openxmlformats.org/officeDocument/2006/relationships/officeDocument" Target="/ppt/presentation.xml" Id="Rf639cc2a5bf84a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d86f083ce54df1"/>
  </p:sldMasterIdLst>
  <p:notesMasterIdLst>
    <p:notesMasterId xmlns:r="http://schemas.openxmlformats.org/officeDocument/2006/relationships" r:id="R6fb32dfa88e84fb7"/>
  </p:notesMasterIdLst>
  <p:sldIdLst>
    <p:sldId xmlns:r="http://schemas.openxmlformats.org/officeDocument/2006/relationships" id="256" r:id="R7da852f158f04797"/>
    <p:sldId xmlns:r="http://schemas.openxmlformats.org/officeDocument/2006/relationships" id="257" r:id="Rfdeb1b7e618141e7"/>
    <p:sldId xmlns:r="http://schemas.openxmlformats.org/officeDocument/2006/relationships" id="258" r:id="Rf875dae898e2426b"/>
    <p:sldId xmlns:r="http://schemas.openxmlformats.org/officeDocument/2006/relationships" id="259" r:id="Re7223934b7df43f5"/>
    <p:sldId xmlns:r="http://schemas.openxmlformats.org/officeDocument/2006/relationships" id="260" r:id="R6966beec870245ef"/>
    <p:sldId xmlns:r="http://schemas.openxmlformats.org/officeDocument/2006/relationships" id="261" r:id="R265e24bc1c524944"/>
    <p:sldId xmlns:r="http://schemas.openxmlformats.org/officeDocument/2006/relationships" id="262" r:id="Rd6857bbb793748df"/>
    <p:sldId xmlns:r="http://schemas.openxmlformats.org/officeDocument/2006/relationships" id="263" r:id="Re91f480c43524aa9"/>
    <p:sldId xmlns:r="http://schemas.openxmlformats.org/officeDocument/2006/relationships" id="264" r:id="R7919b45a16794b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a2417c85d4429f" /><Relationship Type="http://schemas.openxmlformats.org/officeDocument/2006/relationships/slideMaster" Target="/ppt/slideMasters/slideMaster1.xml" Id="R09d86f083ce54df1" /><Relationship Type="http://schemas.openxmlformats.org/officeDocument/2006/relationships/notesMaster" Target="/ppt/notesMasters/notesMaster1.xml" Id="R6fb32dfa88e84fb7" /><Relationship Type="http://schemas.openxmlformats.org/officeDocument/2006/relationships/presProps" Target="/ppt/presProps.xml" Id="Rf183166e851a451a" /><Relationship Type="http://schemas.openxmlformats.org/officeDocument/2006/relationships/tableStyles" Target="/ppt/tableStyles.xml" Id="R3cbf6300030a4b02" /><Relationship Type="http://schemas.openxmlformats.org/officeDocument/2006/relationships/slide" Target="/ppt/slides/slide1.xml" Id="R7da852f158f04797" /><Relationship Type="http://schemas.openxmlformats.org/officeDocument/2006/relationships/slide" Target="/ppt/slides/slide2.xml" Id="Rfdeb1b7e618141e7" /><Relationship Type="http://schemas.openxmlformats.org/officeDocument/2006/relationships/slide" Target="/ppt/slides/slide3.xml" Id="Rf875dae898e2426b" /><Relationship Type="http://schemas.openxmlformats.org/officeDocument/2006/relationships/slide" Target="/ppt/slides/slide4.xml" Id="Re7223934b7df43f5" /><Relationship Type="http://schemas.openxmlformats.org/officeDocument/2006/relationships/slide" Target="/ppt/slides/slide5.xml" Id="R6966beec870245ef" /><Relationship Type="http://schemas.openxmlformats.org/officeDocument/2006/relationships/slide" Target="/ppt/slides/slide6.xml" Id="R265e24bc1c524944" /><Relationship Type="http://schemas.openxmlformats.org/officeDocument/2006/relationships/slide" Target="/ppt/slides/slide7.xml" Id="Rd6857bbb793748df" /><Relationship Type="http://schemas.openxmlformats.org/officeDocument/2006/relationships/slide" Target="/ppt/slides/slide8.xml" Id="Re91f480c43524aa9" /><Relationship Type="http://schemas.openxmlformats.org/officeDocument/2006/relationships/slide" Target="/ppt/slides/slide9.xml" Id="R7919b45a16794b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db08c3957047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c4b708827f4162" /><Relationship Type="http://schemas.openxmlformats.org/officeDocument/2006/relationships/notesMaster" Target="/ppt/notesMasters/notesMaster1.xml" Id="R64829c37384c41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abbe4938a54557" /><Relationship Type="http://schemas.openxmlformats.org/officeDocument/2006/relationships/notesMaster" Target="/ppt/notesMasters/notesMaster1.xml" Id="Rea2516727cec4b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82c29355094e99" /><Relationship Type="http://schemas.openxmlformats.org/officeDocument/2006/relationships/notesMaster" Target="/ppt/notesMasters/notesMaster1.xml" Id="Rae6acfab921b41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289480d6594ae6" /><Relationship Type="http://schemas.openxmlformats.org/officeDocument/2006/relationships/notesMaster" Target="/ppt/notesMasters/notesMaster1.xml" Id="R24080f3aeef040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6365aed35746c8" /><Relationship Type="http://schemas.openxmlformats.org/officeDocument/2006/relationships/notesMaster" Target="/ppt/notesMasters/notesMaster1.xml" Id="R18e09c3a822442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73573d73f540ec" /><Relationship Type="http://schemas.openxmlformats.org/officeDocument/2006/relationships/notesMaster" Target="/ppt/notesMasters/notesMaster1.xml" Id="Rb24e036cc94947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9b1a18a1ae4bb7" /><Relationship Type="http://schemas.openxmlformats.org/officeDocument/2006/relationships/notesMaster" Target="/ppt/notesMasters/notesMaster1.xml" Id="R1bdfd1a86b1a45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8b5eba0bb54842" /><Relationship Type="http://schemas.openxmlformats.org/officeDocument/2006/relationships/notesMaster" Target="/ppt/notesMasters/notesMaster1.xml" Id="Rb75f99ecd77244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2f27775e474f70" /><Relationship Type="http://schemas.openxmlformats.org/officeDocument/2006/relationships/notesMaster" Target="/ppt/notesMasters/notesMaster1.xml" Id="R135dc4eca15745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d19bb9255a48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5db24bb1f74339" /><Relationship Type="http://schemas.openxmlformats.org/officeDocument/2006/relationships/slideLayout" Target="/ppt/slideLayouts/slideLayout1.xml" Id="R5f419bff2c9d45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419bff2c9d45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eb575c9864f71" /><Relationship Type="http://schemas.openxmlformats.org/officeDocument/2006/relationships/notesSlide" Target="/ppt/notesSlides/notesSlide1.xml" Id="Read1eb6f63d4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0fd85bc0c47d6" /><Relationship Type="http://schemas.openxmlformats.org/officeDocument/2006/relationships/notesSlide" Target="/ppt/notesSlides/notesSlide2.xml" Id="R8d6c35ad1bf343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6f4444aff94a79" /><Relationship Type="http://schemas.openxmlformats.org/officeDocument/2006/relationships/notesSlide" Target="/ppt/notesSlides/notesSlide3.xml" Id="R1f5827396cc545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2357341ba9412d" /><Relationship Type="http://schemas.openxmlformats.org/officeDocument/2006/relationships/notesSlide" Target="/ppt/notesSlides/notesSlide4.xml" Id="Rd44cc99bf0d54f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f8c91822da467b" /><Relationship Type="http://schemas.openxmlformats.org/officeDocument/2006/relationships/notesSlide" Target="/ppt/notesSlides/notesSlide5.xml" Id="R9cba59d5828e44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661b220da45e6" /><Relationship Type="http://schemas.openxmlformats.org/officeDocument/2006/relationships/chart" Target="/ppt/slides/charts/chart1.xml" Id="Rb7b7fb5439064a94" /><Relationship Type="http://schemas.openxmlformats.org/officeDocument/2006/relationships/notesSlide" Target="/ppt/notesSlides/notesSlide6.xml" Id="R2a8838012bc84f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2f479018d4517" /><Relationship Type="http://schemas.openxmlformats.org/officeDocument/2006/relationships/chart" Target="/ppt/slides/charts/chart2.xml" Id="Rcce14c1010aa460b" /><Relationship Type="http://schemas.openxmlformats.org/officeDocument/2006/relationships/notesSlide" Target="/ppt/notesSlides/notesSlide7.xml" Id="R66e0810ef85547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edc10fe2449b4" /><Relationship Type="http://schemas.openxmlformats.org/officeDocument/2006/relationships/chart" Target="/ppt/slides/charts/chart3.xml" Id="Rdcd9de9ce95143ed" /><Relationship Type="http://schemas.openxmlformats.org/officeDocument/2006/relationships/notesSlide" Target="/ppt/notesSlides/notesSlide8.xml" Id="R99271b1685b146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2093b198c41c9" /><Relationship Type="http://schemas.openxmlformats.org/officeDocument/2006/relationships/notesSlide" Target="/ppt/notesSlides/notesSlide9.xml" Id="Rd5a0db0a5df64f2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Amount ($K)</c:v>
          </c:tx>
          <c:spPr>
            <a:solidFill xmlns:a="http://schemas.openxmlformats.org/drawingml/2006/main">
              <a:srgbClr val="2E74B5"/>
            </a:solidFill>
          </c:spPr>
          <c:invertIfNegative val="0"/>
          <c:cat>
            <c:strLit>
              <c:ptCount val="6"/>
              <c:pt idx="0">
                <c:v>Contribution</c:v>
              </c:pt>
              <c:pt idx="1">
                <c:v>Advertising</c:v>
              </c:pt>
              <c:pt idx="2">
                <c:v>Storage</c:v>
              </c:pt>
              <c:pt idx="3">
                <c:v>Subscription</c:v>
              </c:pt>
              <c:pt idx="4">
                <c:v>Adjustments</c:v>
              </c:pt>
              <c:pt idx="5">
                <c:v>Result</c:v>
              </c:pt>
            </c:strLit>
          </c:cat>
          <c:val>
            <c:numLit>
              <c:formatCode>General</c:formatCode>
              <c:ptCount val="6"/>
              <c:pt idx="0">
                <c:v>51.24</c:v>
              </c:pt>
              <c:pt idx="1">
                <c:v>-50.58</c:v>
              </c:pt>
              <c:pt idx="2">
                <c:v>-6.12</c:v>
              </c:pt>
              <c:pt idx="3">
                <c:v>-0.12</c:v>
              </c:pt>
              <c:pt idx="4">
                <c:v>0.09</c:v>
              </c:pt>
              <c:pt idx="5">
                <c:v>-5.48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0D5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Contribution margin ($K)</c:v>
          </c:tx>
          <c:spPr>
            <a:solidFill xmlns:a="http://schemas.openxmlformats.org/drawingml/2006/main">
              <a:srgbClr val="2E74B5"/>
            </a:solidFill>
          </c:spPr>
          <c:cat>
            <c:strLit>
              <c:ptCount val="3"/>
              <c:pt idx="0">
                <c:v>Peak Fuel</c:v>
              </c:pt>
              <c:pt idx="1">
                <c:v>GlowTheory</c:v>
              </c:pt>
              <c:pt idx="2">
                <c:v>PawHaus</c:v>
              </c:pt>
            </c:strLit>
          </c:cat>
          <c:val>
            <c:numLit>
              <c:formatCode>General</c:formatCode>
              <c:ptCount val="3"/>
              <c:pt idx="0">
                <c:v>22.03</c:v>
              </c:pt>
              <c:pt idx="1">
                <c:v>20.55</c:v>
              </c:pt>
              <c:pt idx="2">
                <c:v>8.67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0D5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Unit refund rate (%)</c:v>
          </c:tx>
          <c:spPr>
            <a:solidFill xmlns:a="http://schemas.openxmlformats.org/drawingml/2006/main">
              <a:srgbClr val="2E74B5"/>
            </a:solidFill>
          </c:spPr>
          <c:cat>
            <c:strLit>
              <c:ptCount val="3"/>
              <c:pt idx="0">
                <c:v>GlowTheory</c:v>
              </c:pt>
              <c:pt idx="1">
                <c:v>Peak Fuel</c:v>
              </c:pt>
              <c:pt idx="2">
                <c:v>PawHaus</c:v>
              </c:pt>
            </c:strLit>
          </c:cat>
          <c:val>
            <c:numLit>
              <c:formatCode>General</c:formatCode>
              <c:ptCount val="3"/>
              <c:pt idx="0">
                <c:v>4.9</c:v>
              </c:pt>
              <c:pt idx="1">
                <c:v>2.8</c:v>
              </c:pt>
              <c:pt idx="2">
                <c:v>2.7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0D5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7D7118-CC53-4F31-8790-8E3BA1B0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</a:defRPr>
            </a:pPr>
            <a:r>
              <a:rPr sz="1050" b="1">
                <a:solidFill>
                  <a:srgbClr val="2E74B5"/>
                </a:solidFill>
              </a:rPr>
              <a:t>LUMINIZE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3F779B-47D5-4A65-9239-51DD5EAB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42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2545"/>
                </a:solidFill>
              </a:defRPr>
            </a:pPr>
            <a:r>
              <a:rPr sz="3900" b="1">
                <a:solidFill>
                  <a:srgbClr val="0B2545"/>
                </a:solidFill>
              </a:rPr>
              <a:t>A trusted foundation for Amazon profitability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8EDB3-790A-451D-BB92-A2D5A8C6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BigQuery data model, Q2 contribution margin, and a practical first-90-day automation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C897-0DF9-48B0-B590-8489A2D2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0"/>
            <a:ext cx="3524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32627-ED0A-4A58-9EC0-0E4DCEA0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764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D6F5"/>
                </a:solidFill>
              </a:defRPr>
            </a:pPr>
            <a:r>
              <a:rPr sz="1200" b="1">
                <a:solidFill>
                  <a:srgbClr val="A9D6F5"/>
                </a:solidFill>
              </a:rPr>
              <a:t>Q2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68DA8-A500-4197-9422-2EB0BE80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95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($5.5K)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14EE9A-3197-448A-88CF-5B642A10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194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9E8F5"/>
                </a:solidFill>
              </a:defRPr>
            </a:pPr>
            <a:r>
              <a:rPr sz="1425" b="0">
                <a:solidFill>
                  <a:srgbClr val="D9E8F5"/>
                </a:solidFill>
              </a:rPr>
              <a:t>after platform costs</a:t>
            </a:r>
          </a:p>
          <a:p xmlns:a="http://schemas.openxmlformats.org/drawingml/2006/main">
            <a:pPr algn="l">
              <a:defRPr sz="1425" b="0">
                <a:solidFill>
                  <a:srgbClr val="D9E8F5"/>
                </a:solidFill>
              </a:defRPr>
            </a:pPr>
            <a:r>
              <a:rPr sz="1425" b="0">
                <a:solidFill>
                  <a:srgbClr val="D9E8F5"/>
                </a:solidFill>
              </a:rPr>
              <a:t>from supplied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8072E-84BD-4628-8376-4F94FBD5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Ruben Cazarez  •  Finance leadership discussion</a:t>
            </a:r>
          </a:p>
        </p:txBody>
      </p:sp>
    </p:spTree>
    <p:extLst>
      <p:ext uri="{BB962C8B-B14F-4D97-AF65-F5344CB8AC3E}">
        <p14:creationId xmlns:p14="http://schemas.microsoft.com/office/powerpoint/2010/main" val="11908073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61813A-D438-45B6-B287-039C1A7B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EXECUTIVE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DDEC3-FE41-4135-B6A7-38EB6597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The catalog is profitable before shared Amazon costs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824E7-2D9B-4F3A-A49F-16FFA2C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Advertising nearly consumes the full SKU-attributable contribution margin.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C9A4CE-1B8D-4255-A70B-7DCBF61D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$132.3K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D168F4-EC4C-4A8B-996D-1C55CE2F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Net sales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B0540-621B-4C3B-B5D1-ED95E169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955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$51.2K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0BCDD5-95B9-4EA9-BC59-809849D5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47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Contribution 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0C123-8E94-46DA-A8EA-A75CCD11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38.7%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EF4B3A-78F0-4FD7-BD42-AED8D47A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Margin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6888D3-9EB7-4B9B-A75C-5EF6D9C7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955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B42318"/>
                </a:solidFill>
              </a:defRPr>
            </a:pPr>
            <a:r>
              <a:rPr sz="2850" b="1">
                <a:solidFill>
                  <a:srgbClr val="B42318"/>
                </a:solidFill>
              </a:rPr>
              <a:t>($5.5K)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E32CDF-4830-438C-BF17-50F164FA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47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After platform costs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ABA6B-5624-4B98-A172-A37BCF89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1EB65-8983-412E-A006-53BA7BE8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19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74B5"/>
                </a:solidFill>
              </a:defRPr>
            </a:pPr>
            <a:r>
              <a:rPr sz="1650" b="1">
                <a:solidFill>
                  <a:srgbClr val="2E74B5"/>
                </a:solidFill>
              </a:rPr>
              <a:t>Leadership focus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AAE5BC-8851-42E5-B5AC-888C7941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B4D"/>
                </a:solidFill>
              </a:defRPr>
            </a:pPr>
            <a:r>
              <a:rPr sz="1800" b="0">
                <a:solidFill>
                  <a:srgbClr val="172B4D"/>
                </a:solidFill>
              </a:rPr>
              <a:t>1  Validate advertising efficiency and SKU attribution</a:t>
            </a:r>
          </a:p>
          <a:p xmlns:a="http://schemas.openxmlformats.org/drawingml/2006/main">
            <a:pPr algn="l">
              <a:defRPr sz="1800" b="0">
                <a:solidFill>
                  <a:srgbClr val="172B4D"/>
                </a:solidFill>
              </a:defRPr>
            </a:pPr>
            <a:r>
              <a:rPr sz="1800" b="0">
                <a:solidFill>
                  <a:srgbClr val="172B4D"/>
                </a:solidFill>
              </a:rPr>
              <a:t>2  Confirm the two imputed landed costs before product decisions</a:t>
            </a:r>
          </a:p>
          <a:p xmlns:a="http://schemas.openxmlformats.org/drawingml/2006/main">
            <a:pPr algn="l">
              <a:defRPr sz="1800" b="0">
                <a:solidFill>
                  <a:srgbClr val="172B4D"/>
                </a:solidFill>
              </a:defRPr>
            </a:pPr>
            <a:r>
              <a:rPr sz="1800" b="0">
                <a:solidFill>
                  <a:srgbClr val="172B4D"/>
                </a:solidFill>
              </a:rPr>
              <a:t>3  Rebalance inventory: two replenishment risks, many slow movers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F10759-A653-4058-92A7-A54301FD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67BA15-29B7-44A6-A94E-A5752510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053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0202F6-C784-4654-9EF6-6F14B2C3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2A1F5-6BF2-4495-A382-851D4BC5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Preserve evidence first; publish only what the data supports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F593C-7BDD-44F8-9232-975E3430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 simple BigQuery flow keeps ingestion replayable and finance reporting controlled.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BD1B1-8A52-48ED-A047-DB4A9155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6D08C-2172-49F5-B302-B287BFD0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Sources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373EE-5859-4382-9D3C-40CD460B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Amazon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QuickBooks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REACH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Sheets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CD2EAB-5009-4790-B369-39C918A6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905125"/>
            <a:ext cx="3238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FF98E-752C-4D28-99C7-C6E3AC6F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0B421-1337-4221-8809-9FF82DD5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Bronze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D4164-6C78-449F-9029-44414506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Original records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+ load metadata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C609C-C63B-492D-9444-587ECB4C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05125"/>
            <a:ext cx="3238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1BEA1-4B8F-4F75-A3F4-B1FF550B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363AC0-F887-441D-876A-0B828DEF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Quality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3BA0B-E5D8-42EF-9853-1CEDA17D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Schema • totals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keys • freshness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8D574-E6BF-40EA-9354-17C14FEB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905125"/>
            <a:ext cx="3238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594159-1B0A-4B2C-92EF-E16478D0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418750-0534-4818-A397-E28A43D5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Silver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0E7E50-0C5F-4502-942E-E2A2D962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Typed facts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+ resolved identity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EB7E53-E4D5-4EAF-BF8A-DA0735D5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905125"/>
            <a:ext cx="3238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558620-1457-404B-8508-4EC5495C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6F1"/>
          </a:solidFill>
          <a:ln xmlns:a="http://schemas.openxmlformats.org/drawingml/2006/main" w="9525">
            <a:solidFill>
              <a:srgbClr val="0B7A5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51973-FA19-433C-863C-0390F9DD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Gold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527246-70F6-493D-9BA8-544922BC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Profitability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inventory • recon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D5908B-67A3-4C4F-AE6B-6C39D85A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2545"/>
                </a:solidFill>
              </a:defRPr>
            </a:pPr>
            <a:r>
              <a:rPr sz="1650" b="1">
                <a:solidFill>
                  <a:srgbClr val="0B2545"/>
                </a:solidFill>
              </a:rPr>
              <a:t>If a record cannot be trusted, Bronze keeps it while Silver and Gold remain protected.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1BB86A-A2B4-4445-A529-D0C0E4B8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Every load records source, extraction time, report/file ID, source-row key, run ID, row hash, and schema version.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520C36-79E5-4249-83CB-73E61CE7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88596C-83B7-46AB-8D4C-9EEDD806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913814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282F03-AC43-4521-8783-0CA69F9A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FA7E0-50F7-4F25-B29D-DF84A9B4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Resolve identity with confidence—not forced perfection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FD731-8D59-4884-B1D1-A69546F0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Product, brand, and ASIN confidence are stored separately so uncertainty stays visible.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F4322-6F97-4A20-9E7F-40D6BF8C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5262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7A53"/>
                </a:solidFill>
              </a:defRPr>
            </a:pPr>
            <a:r>
              <a:rPr sz="2250" b="1">
                <a:solidFill>
                  <a:srgbClr val="0B7A53"/>
                </a:solidFill>
              </a:rPr>
              <a:t>100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50E603-A767-48A2-A116-19706F36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000250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53"/>
          </a:solidFill>
          <a:ln xmlns:a="http://schemas.openxmlformats.org/drawingml/2006/main" w="0">
            <a:solidFill>
              <a:srgbClr val="0B7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082DD-6FA0-4496-A0DA-8C765669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9526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B4D"/>
                </a:solidFill>
              </a:defRPr>
            </a:pPr>
            <a:r>
              <a:rPr sz="1650" b="1">
                <a:solidFill>
                  <a:srgbClr val="172B4D"/>
                </a:solidFill>
              </a:rPr>
              <a:t>Exact canonical SKU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79FCE-0D70-4020-B8FB-380E0EE1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7A53"/>
                </a:solidFill>
              </a:defRPr>
            </a:pPr>
            <a:r>
              <a:rPr sz="1500" b="1">
                <a:solidFill>
                  <a:srgbClr val="0B7A53"/>
                </a:solidFill>
              </a:rPr>
              <a:t>Publish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4A56A5-99F5-434F-B976-413FA8A6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6700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7A53"/>
                </a:solidFill>
              </a:defRPr>
            </a:pPr>
            <a:r>
              <a:rPr sz="2250" b="1">
                <a:solidFill>
                  <a:srgbClr val="0B7A53"/>
                </a:solidFill>
              </a:rPr>
              <a:t>95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99B51D-FBA1-4CB6-984D-781574E2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714625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53"/>
          </a:solidFill>
          <a:ln xmlns:a="http://schemas.openxmlformats.org/drawingml/2006/main" w="0">
            <a:solidFill>
              <a:srgbClr val="0B7A5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A833D9-DB1B-4921-87ED-C72AB6FF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667000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4D"/>
                </a:solidFill>
              </a:defRPr>
            </a:pPr>
            <a:r>
              <a:rPr sz="1650" b="0">
                <a:solidFill>
                  <a:srgbClr val="172B4D"/>
                </a:solidFill>
              </a:rPr>
              <a:t>Approved alias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297C9-EA29-49B6-9158-E737B371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670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7A53"/>
                </a:solidFill>
              </a:defRPr>
            </a:pPr>
            <a:r>
              <a:rPr sz="1500" b="1">
                <a:solidFill>
                  <a:srgbClr val="0B7A53"/>
                </a:solidFill>
              </a:rPr>
              <a:t>Publish + monitor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BE1FC-4D8D-4394-9681-C600486D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8137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7791F"/>
                </a:solidFill>
              </a:defRPr>
            </a:pPr>
            <a:r>
              <a:rPr sz="2250" b="1">
                <a:solidFill>
                  <a:srgbClr val="B7791F"/>
                </a:solidFill>
              </a:rPr>
              <a:t>85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496F3E-14C7-488B-97F7-8A6BCD30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429000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EDE369-9088-4D0E-84EF-A33E2305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38137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4D"/>
                </a:solidFill>
              </a:defRPr>
            </a:pPr>
            <a:r>
              <a:rPr sz="1650" b="0">
                <a:solidFill>
                  <a:srgbClr val="172B4D"/>
                </a:solidFill>
              </a:rPr>
              <a:t>Unique scoped ASIN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C3A13-5943-442A-9F79-083B6316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8137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791F"/>
                </a:solidFill>
              </a:defRPr>
            </a:pPr>
            <a:r>
              <a:rPr sz="1500" b="1">
                <a:solidFill>
                  <a:srgbClr val="B7791F"/>
                </a:solidFill>
              </a:rPr>
              <a:t>Provisional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807759-B2E1-438C-B0F1-C42B33B2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9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E74B5"/>
                </a:solidFill>
              </a:defRPr>
            </a:pPr>
            <a:r>
              <a:rPr sz="2250" b="1">
                <a:solidFill>
                  <a:srgbClr val="2E74B5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4FA4DC-3CFB-4214-91AD-1E0CB411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143375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9AA5C6-C595-45FE-B70D-9C6549C1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95750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4D"/>
                </a:solidFill>
              </a:defRPr>
            </a:pPr>
            <a:r>
              <a:rPr sz="1650" b="0">
                <a:solidFill>
                  <a:srgbClr val="172B4D"/>
                </a:solidFill>
              </a:rPr>
              <a:t>Brand or prefix only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F3AB7E-A1EF-4581-8111-239C11BB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Brand reporting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F5D63D-AC68-4707-AFF5-9BC3E53A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1012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</a:defRPr>
            </a:pPr>
            <a:r>
              <a:rPr sz="2250" b="1">
                <a:solidFill>
                  <a:srgbClr val="B42318"/>
                </a:solidFill>
              </a:rPr>
              <a:t>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6AD570-1176-42FD-8C14-72CA856A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57750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69A00C-22B9-4232-867C-8A09549A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8101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4D"/>
                </a:solidFill>
              </a:defRPr>
            </a:pPr>
            <a:r>
              <a:rPr sz="1650" b="0">
                <a:solidFill>
                  <a:srgbClr val="172B4D"/>
                </a:solidFill>
              </a:rPr>
              <a:t>Missing or conflicting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7E6254-C1FD-442D-A44D-7B51EA50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012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Quarantine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946DEE-F69B-4684-A56A-17438626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No fuzzy match can post a finance product key without owner approval.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5B6E97-6BE7-41F7-97F3-85199678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C6A2DA-3CF9-4944-A3AC-73A5AF5A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170329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908EC0-4A77-4D6D-8CEE-32335EE7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40109-E9EB-4B2A-85BE-F389F3D9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Exceptions become owned work—not silent data loss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144D7B-862E-4E2F-B64A-F349D677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The review queue ranks issues by financial exposure and records the final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955BA6-8F0B-4A76-B6AC-B335E5F7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Issue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08637-650F-46A2-A715-C592CE0A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526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Exposure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B2DE5-28DE-4865-AE0D-95FF26C8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1901E-A06D-47C8-AA79-6F18D3B2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5262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Owner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F2B606-EF65-422E-820D-44204C6C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41C8C-94B0-4185-90FE-694F91E6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Conflicting ASIN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FD24E-17F8-4F6B-AC7B-11A56F1A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$3,168 sales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FCAAF-F3A9-4F81-A4A7-7C4DEFE1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2124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Block ASIN-only join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2B7DA0-96D3-4905-A99F-AB4B038D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381250"/>
            <a:ext cx="2171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Product data owner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5E4685-741C-4BAD-B135-D9D104CB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971A1-7AC4-45F3-9D9D-FDB0AD91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Proposed SKU alias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C7DA25-6812-4C8D-915E-E260F561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575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$1,352 sales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81CF2-F568-4010-818A-A97CFA09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2124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Approve + effective-date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D9F83E-739A-4645-A337-4C1D7464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57550"/>
            <a:ext cx="2171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Product data 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DDDB57-BA42-4A68-9C61-1C9B078F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545A75-AFFC-41BE-97FD-F297410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Missing landed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FFAB78-FE0F-4C38-A501-2A5C050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338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$3,140 sales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FACAE5-323A-4416-A3F3-E04C1F72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2124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Validate before decisions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327DEC-011B-4060-B702-BCC109AA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33850"/>
            <a:ext cx="2171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Finance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F849E9-D63E-4898-B8BC-F56FBC69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Schema drift uses the same rule: preserve the raw load, warn on harmless additions, and block reporting when required fields change.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FFC7C6-BD68-4CD9-AF68-194F489A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D2F999-37AE-4C44-80B8-9BE2D955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787577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596D9-9A2E-443F-9296-45E616F7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C08004-59CE-4018-A02F-B2E32AD8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Advertising nearly consumes the quarter’s contribution margin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BC731F-5E44-42AE-B521-C14C9E0B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Shared costs are shown separately because the supplied file has no reliable SKU allocation key.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42950" y="1952625"/>
          <a:ext xmlns:a="http://schemas.openxmlformats.org/drawingml/2006/main" cx="75247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b7fb5439064a9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0120E-FB99-4CD6-A1EE-A624F78A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286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B42318"/>
                </a:solidFill>
              </a:defRPr>
            </a:pPr>
            <a:r>
              <a:rPr sz="2850" b="1">
                <a:solidFill>
                  <a:srgbClr val="B42318"/>
                </a:solidFill>
              </a:rPr>
              <a:t>98.7%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C1584-1751-4DB8-9AC2-A19E8D0D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43200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of contribution margin</a:t>
            </a:r>
          </a:p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is matched by ad cost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91D797-3809-4DC5-A82A-6A1B2CEC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8576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Next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4128FA-7DCF-4D0F-96C3-32AD412D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28625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Campaign → ASIN/SKU</a:t>
            </a:r>
          </a:p>
          <a:p xmlns:a="http://schemas.openxmlformats.org/drawingml/2006/main">
            <a:pPr algn="ctr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attribution and ROAS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5691B-EB02-4C4E-B8CA-17A2C0F5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BA7D5-1292-460B-ACE5-EC78C2BB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19858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835FD8-780B-4DA1-9014-82F55EF4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1AF97-02B7-4D50-B199-C1EB810E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Every brand contributes positively before shared platform costs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2E13C-EC88-465F-B531-373605ED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GlowTheory has the strongest rate; PawHaus has the lowest margin and needs cost review.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762000" y="2000250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e14c1010aa460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2EC58-98FE-49BF-A6F9-CD760A19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2383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Peak Fuel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B99428-4818-418F-8721-9434CEE7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71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</a:defRPr>
            </a:pPr>
            <a:r>
              <a:rPr sz="2250" b="1">
                <a:solidFill>
                  <a:srgbClr val="0B2545"/>
                </a:solidFill>
              </a:rPr>
              <a:t>39.6%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75168D-787B-49BF-BE3F-73260B5A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051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GlowTheory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08C29F-06CC-45E3-82CD-F8E42E32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6385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A53"/>
                </a:solidFill>
              </a:defRPr>
            </a:pPr>
            <a:r>
              <a:rPr sz="2250" b="1">
                <a:solidFill>
                  <a:srgbClr val="0B7A53"/>
                </a:solidFill>
              </a:rPr>
              <a:t>47.9%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DA28C7-4611-436A-A3CD-A1768CC6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3719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PawHaus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560319-832F-4D38-84A8-1AE899E9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05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791F"/>
                </a:solidFill>
              </a:defRPr>
            </a:pPr>
            <a:r>
              <a:rPr sz="2250" b="1">
                <a:solidFill>
                  <a:srgbClr val="B7791F"/>
                </a:solidFill>
              </a:rPr>
              <a:t>25.6%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FD2DB-F8E1-4AA9-B254-6EE458F2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E1094-2520-4865-BC73-16536D79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39248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28ED6-F0F5-4BCF-9ACC-EF03E74D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2C104-A1C5-4067-9A9F-0FCBCE8F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Refunds expose concentrated product risk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CE7AB-5288-4CE2-863B-7BC90120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GlowTheory has the highest brand rate; the PawHaus dog bed has the sharpest margin exposure.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723900" y="2047875"/>
          <a:ext xmlns:a="http://schemas.openxmlformats.org/drawingml/2006/main" cx="6191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d9de9ce95143e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BFBED-E3DC-4311-90CE-5F0BF755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336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Products to investigate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673B9B-854A-4854-8C2B-0A249FC4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545"/>
                </a:solidFill>
              </a:defRPr>
            </a:pPr>
            <a:r>
              <a:rPr sz="1800" b="1">
                <a:solidFill>
                  <a:srgbClr val="0B2545"/>
                </a:solidFill>
              </a:rPr>
              <a:t>GT-MASK-CLAY  •  10.7%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65DA7-5758-4224-8025-19AA26F1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$143 contribution reversed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825BD-4F84-4E26-AACB-B57CC0B7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545"/>
                </a:solidFill>
              </a:defRPr>
            </a:pPr>
            <a:r>
              <a:rPr sz="1800" b="1">
                <a:solidFill>
                  <a:srgbClr val="0B2545"/>
                </a:solidFill>
              </a:rPr>
              <a:t>PF-WHEY-CHOC  •  3.4%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7EF6E-50E4-4588-837E-26431BB1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148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$328 contribution reversed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95B90-64D4-47D7-8EBB-865EACC0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434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545"/>
                </a:solidFill>
              </a:defRPr>
            </a:pPr>
            <a:r>
              <a:rPr sz="1800" b="1">
                <a:solidFill>
                  <a:srgbClr val="0B2545"/>
                </a:solidFill>
              </a:rPr>
              <a:t>PH-BED-MED-GRY  •  6.6%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0B63C-E73B-4A50-9EE5-730F641D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62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</a:defRPr>
            </a:pPr>
            <a:r>
              <a:rPr sz="1275" b="1">
                <a:solidFill>
                  <a:srgbClr val="B42318"/>
                </a:solidFill>
              </a:rPr>
              <a:t>Refund impact equals 47% of remaining 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63A40F-74DE-44F6-859C-0BB1F743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AA699A-BB52-49B6-AF52-75D7F68A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562363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94EBBF-AA7D-41B5-A9A4-D42E88E5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F3176-503C-4F01-9A58-857E1603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The first 90 days build trust before adding forecasting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E3E53-AF43-4366-9BE9-4102ADC3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Automate controls and reconciliation first; expand decisions only after the underlying history is dependable.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48C04-A101-496C-AC82-EDA9D399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Days 1–30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69C2F-3929-4843-AA7A-5D08F257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3143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53"/>
          </a:solidFill>
          <a:ln xmlns:a="http://schemas.openxmlformats.org/drawingml/2006/main" w="0">
            <a:solidFill>
              <a:srgbClr val="0B7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9F3C96-ABEC-4EDB-BFA2-44EA515D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2545"/>
                </a:solidFill>
              </a:defRPr>
            </a:pPr>
            <a:r>
              <a:rPr sz="1875" b="1">
                <a:solidFill>
                  <a:srgbClr val="0B2545"/>
                </a:solidFill>
              </a:rPr>
              <a:t>Reliable ingestion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2C6CB-4F76-4B90-B37D-B76D6ECA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Raw history • schema alerts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identity/UOM mappings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source tie-outs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2E8955-2A7B-44BC-A484-935AAB40C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478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Days 31–60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F11B98-DAA4-4C22-B2A2-FA5AD4DB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57450"/>
            <a:ext cx="3143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222E5-86BE-4DDC-90ED-6CC52E34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2545"/>
                </a:solidFill>
              </a:defRPr>
            </a:pPr>
            <a:r>
              <a:rPr sz="1875" b="1">
                <a:solidFill>
                  <a:srgbClr val="0B2545"/>
                </a:solidFill>
              </a:rPr>
              <a:t>Repeatable finance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4625CA-392B-4D57-883E-4F06B427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528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Amazon management P&amp;L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QuickBooks reconciliation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source drill-through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424E9-018F-4025-9163-E9C00725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478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Days 61–90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90B189-168E-463B-A316-F4A315A8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57450"/>
            <a:ext cx="3143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5A8ABB-2842-4FA6-9946-2EAD6319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81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2545"/>
                </a:solidFill>
              </a:defRPr>
            </a:pPr>
            <a:r>
              <a:rPr sz="1875" b="1">
                <a:solidFill>
                  <a:srgbClr val="0B2545"/>
                </a:solidFill>
              </a:rPr>
              <a:t>Operational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89EA5D-82E6-42C2-9871-5D428044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528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REACH PO/receipt history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advertising attribution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inventory + 13-week outlook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BFDC33-0597-4325-8E5E-1B65C747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Start cost-aware in GCP; buy managed connectors when reliability or implementation speed justifies the recurring cost.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1FD7B3-F195-45C4-A23F-2B483741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52240-90FD-40CF-9150-6ACBFF55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20203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2026-08-26T16:48:57.4220000Z</dcterms:created>
  <dcterms:modified xsi:type="dcterms:W3CDTF">2026-08-26T16:48:57.4220000Z</dcterms:modified>
</coreProperties>
</file>