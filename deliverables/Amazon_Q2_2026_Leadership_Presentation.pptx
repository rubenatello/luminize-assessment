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c59252c79a47b3" /><Relationship Type="http://schemas.openxmlformats.org/officeDocument/2006/relationships/extended-properties" Target="/docProps/app.xml" Id="Ra3aa6c0f30764645" /><Relationship Type="http://schemas.openxmlformats.org/officeDocument/2006/relationships/officeDocument" Target="/ppt/presentation.xml" Id="R2a6d363254a8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0efff5510d4205"/>
  </p:sldMasterIdLst>
  <p:notesMasterIdLst>
    <p:notesMasterId xmlns:r="http://schemas.openxmlformats.org/officeDocument/2006/relationships" r:id="Rc38f0dcf9fdd4aa0"/>
  </p:notesMasterIdLst>
  <p:sldIdLst>
    <p:sldId xmlns:r="http://schemas.openxmlformats.org/officeDocument/2006/relationships" id="256" r:id="R8290dd06559b4059"/>
    <p:sldId xmlns:r="http://schemas.openxmlformats.org/officeDocument/2006/relationships" id="257" r:id="Rf1f767bf92444173"/>
    <p:sldId xmlns:r="http://schemas.openxmlformats.org/officeDocument/2006/relationships" id="258" r:id="Rdb46c87053134317"/>
    <p:sldId xmlns:r="http://schemas.openxmlformats.org/officeDocument/2006/relationships" id="259" r:id="R4f6c017f60634891"/>
    <p:sldId xmlns:r="http://schemas.openxmlformats.org/officeDocument/2006/relationships" id="260" r:id="R56f6cb48b58e48f8"/>
    <p:sldId xmlns:r="http://schemas.openxmlformats.org/officeDocument/2006/relationships" id="261" r:id="R33367083eb6b44b4"/>
    <p:sldId xmlns:r="http://schemas.openxmlformats.org/officeDocument/2006/relationships" id="262" r:id="Re2bc031d5efa4346"/>
    <p:sldId xmlns:r="http://schemas.openxmlformats.org/officeDocument/2006/relationships" id="263" r:id="R261a30e1ccb94eb4"/>
    <p:sldId xmlns:r="http://schemas.openxmlformats.org/officeDocument/2006/relationships" id="264" r:id="Rd312b308c8f74b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ff382fc0524fa2" /><Relationship Type="http://schemas.openxmlformats.org/officeDocument/2006/relationships/slideMaster" Target="/ppt/slideMasters/slideMaster1.xml" Id="Re00efff5510d4205" /><Relationship Type="http://schemas.openxmlformats.org/officeDocument/2006/relationships/notesMaster" Target="/ppt/notesMasters/notesMaster1.xml" Id="Rc38f0dcf9fdd4aa0" /><Relationship Type="http://schemas.openxmlformats.org/officeDocument/2006/relationships/presProps" Target="/ppt/presProps.xml" Id="R1c38dacddfd5424b" /><Relationship Type="http://schemas.openxmlformats.org/officeDocument/2006/relationships/tableStyles" Target="/ppt/tableStyles.xml" Id="R8a9d59bf73494068" /><Relationship Type="http://schemas.openxmlformats.org/officeDocument/2006/relationships/slide" Target="/ppt/slides/slide1.xml" Id="R8290dd06559b4059" /><Relationship Type="http://schemas.openxmlformats.org/officeDocument/2006/relationships/slide" Target="/ppt/slides/slide2.xml" Id="Rf1f767bf92444173" /><Relationship Type="http://schemas.openxmlformats.org/officeDocument/2006/relationships/slide" Target="/ppt/slides/slide3.xml" Id="Rdb46c87053134317" /><Relationship Type="http://schemas.openxmlformats.org/officeDocument/2006/relationships/slide" Target="/ppt/slides/slide4.xml" Id="R4f6c017f60634891" /><Relationship Type="http://schemas.openxmlformats.org/officeDocument/2006/relationships/slide" Target="/ppt/slides/slide5.xml" Id="R56f6cb48b58e48f8" /><Relationship Type="http://schemas.openxmlformats.org/officeDocument/2006/relationships/slide" Target="/ppt/slides/slide6.xml" Id="R33367083eb6b44b4" /><Relationship Type="http://schemas.openxmlformats.org/officeDocument/2006/relationships/slide" Target="/ppt/slides/slide7.xml" Id="Re2bc031d5efa4346" /><Relationship Type="http://schemas.openxmlformats.org/officeDocument/2006/relationships/slide" Target="/ppt/slides/slide8.xml" Id="R261a30e1ccb94eb4" /><Relationship Type="http://schemas.openxmlformats.org/officeDocument/2006/relationships/slide" Target="/ppt/slides/slide9.xml" Id="Rd312b308c8f74b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e5cda0b8d14b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a54a155184df4" /><Relationship Type="http://schemas.openxmlformats.org/officeDocument/2006/relationships/notesMaster" Target="/ppt/notesMasters/notesMaster1.xml" Id="R3b40b0dd57b346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56253fef8a41e1" /><Relationship Type="http://schemas.openxmlformats.org/officeDocument/2006/relationships/notesMaster" Target="/ppt/notesMasters/notesMaster1.xml" Id="Ra8ad5f377569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76bdeb571146f4" /><Relationship Type="http://schemas.openxmlformats.org/officeDocument/2006/relationships/notesMaster" Target="/ppt/notesMasters/notesMaster1.xml" Id="R27211c199e7c48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085e4de00f450a" /><Relationship Type="http://schemas.openxmlformats.org/officeDocument/2006/relationships/notesMaster" Target="/ppt/notesMasters/notesMaster1.xml" Id="R9d6a002a88d946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097d9a45234538" /><Relationship Type="http://schemas.openxmlformats.org/officeDocument/2006/relationships/notesMaster" Target="/ppt/notesMasters/notesMaster1.xml" Id="Rb94a0edd5ba348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38af401114367" /><Relationship Type="http://schemas.openxmlformats.org/officeDocument/2006/relationships/notesMaster" Target="/ppt/notesMasters/notesMaster1.xml" Id="Ra1ab6c06a0864b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a85783420c44a7" /><Relationship Type="http://schemas.openxmlformats.org/officeDocument/2006/relationships/notesMaster" Target="/ppt/notesMasters/notesMaster1.xml" Id="Ra7f2bcbd552a49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c9429c6c494008" /><Relationship Type="http://schemas.openxmlformats.org/officeDocument/2006/relationships/notesMaster" Target="/ppt/notesMasters/notesMaster1.xml" Id="R41aef4ad2a6549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9fad44e7964255" /><Relationship Type="http://schemas.openxmlformats.org/officeDocument/2006/relationships/notesMaster" Target="/ppt/notesMasters/notesMaster1.xml" Id="R67fd59ab4129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7caa03c504d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3844b502f54a44" /><Relationship Type="http://schemas.openxmlformats.org/officeDocument/2006/relationships/slideLayout" Target="/ppt/slideLayouts/slideLayout1.xml" Id="Rc111e6252ac040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11e6252ac040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78e046c42486f" /><Relationship Type="http://schemas.openxmlformats.org/officeDocument/2006/relationships/notesSlide" Target="/ppt/notesSlides/notesSlide1.xml" Id="R6556cea82f5445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8aa4a571c4774" /><Relationship Type="http://schemas.openxmlformats.org/officeDocument/2006/relationships/notesSlide" Target="/ppt/notesSlides/notesSlide2.xml" Id="R0579fa2fd64349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e73c5912a4159" /><Relationship Type="http://schemas.openxmlformats.org/officeDocument/2006/relationships/notesSlide" Target="/ppt/notesSlides/notesSlide3.xml" Id="Rb83bbab8a44e42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966b474db4a73" /><Relationship Type="http://schemas.openxmlformats.org/officeDocument/2006/relationships/notesSlide" Target="/ppt/notesSlides/notesSlide4.xml" Id="R11b2755cebd0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62c49702b4dbc" /><Relationship Type="http://schemas.openxmlformats.org/officeDocument/2006/relationships/notesSlide" Target="/ppt/notesSlides/notesSlide5.xml" Id="R112ed7b435ac46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90ae0b46641e8" /><Relationship Type="http://schemas.openxmlformats.org/officeDocument/2006/relationships/chart" Target="/ppt/slides/charts/chart1.xml" Id="Rf7e99af044124c4d" /><Relationship Type="http://schemas.openxmlformats.org/officeDocument/2006/relationships/notesSlide" Target="/ppt/notesSlides/notesSlide6.xml" Id="Rfa6e77f6915a4b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dd55bd5284e96" /><Relationship Type="http://schemas.openxmlformats.org/officeDocument/2006/relationships/chart" Target="/ppt/slides/charts/chart2.xml" Id="Rd03c0e0b61034803" /><Relationship Type="http://schemas.openxmlformats.org/officeDocument/2006/relationships/notesSlide" Target="/ppt/notesSlides/notesSlide7.xml" Id="R39967a420bb74e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a316164394495" /><Relationship Type="http://schemas.openxmlformats.org/officeDocument/2006/relationships/notesSlide" Target="/ppt/notesSlides/notesSlide8.xml" Id="R536357758a8c40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705a95b3541fe" /><Relationship Type="http://schemas.openxmlformats.org/officeDocument/2006/relationships/notesSlide" Target="/ppt/notesSlides/notesSlide9.xml" Id="R6aa30d9d84dd45c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Amount ($K)</c:v>
          </c:tx>
          <c:spPr>
            <a:solidFill xmlns:a="http://schemas.openxmlformats.org/drawingml/2006/main">
              <a:srgbClr val="2E74B5"/>
            </a:solidFill>
          </c:spPr>
          <c:invertIfNegative val="0"/>
          <c:cat>
            <c:strLit>
              <c:ptCount val="6"/>
              <c:pt idx="0">
                <c:v>Contribution</c:v>
              </c:pt>
              <c:pt idx="1">
                <c:v>Advertising</c:v>
              </c:pt>
              <c:pt idx="2">
                <c:v>Storage</c:v>
              </c:pt>
              <c:pt idx="3">
                <c:v>Subscription</c:v>
              </c:pt>
              <c:pt idx="4">
                <c:v>Adjustments</c:v>
              </c:pt>
              <c:pt idx="5">
                <c:v>Result</c:v>
              </c:pt>
            </c:strLit>
          </c:cat>
          <c:val>
            <c:numLit>
              <c:formatCode>General</c:formatCode>
              <c:ptCount val="6"/>
              <c:pt idx="0">
                <c:v>51.24</c:v>
              </c:pt>
              <c:pt idx="1">
                <c:v>-50.58</c:v>
              </c:pt>
              <c:pt idx="2">
                <c:v>-6.12</c:v>
              </c:pt>
              <c:pt idx="3">
                <c:v>-0.12</c:v>
              </c:pt>
              <c:pt idx="4">
                <c:v>0.09</c:v>
              </c:pt>
              <c:pt idx="5">
                <c:v>-5.48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Contribution margin ($K)</c:v>
          </c:tx>
          <c:spPr>
            <a:solidFill xmlns:a="http://schemas.openxmlformats.org/drawingml/2006/main">
              <a:srgbClr val="2E74B5"/>
            </a:solidFill>
          </c:spPr>
          <c:cat>
            <c:strLit>
              <c:ptCount val="3"/>
              <c:pt idx="0">
                <c:v>Peak Fuel</c:v>
              </c:pt>
              <c:pt idx="1">
                <c:v>GlowTheory</c:v>
              </c:pt>
              <c:pt idx="2">
                <c:v>PawHaus</c:v>
              </c:pt>
            </c:strLit>
          </c:cat>
          <c:val>
            <c:numLit>
              <c:formatCode>General</c:formatCode>
              <c:ptCount val="3"/>
              <c:pt idx="0">
                <c:v>22.03</c:v>
              </c:pt>
              <c:pt idx="1">
                <c:v>20.55</c:v>
              </c:pt>
              <c:pt idx="2">
                <c:v>8.67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964F2-9CA6-4036-B2EC-810401A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LUMINIZE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50FE2-396E-4DC3-B400-C140EFF1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</a:defRPr>
            </a:pPr>
            <a:r>
              <a:rPr sz="3900" b="1">
                <a:solidFill>
                  <a:srgbClr val="0B2545"/>
                </a:solidFill>
              </a:rPr>
              <a:t>A trusted foundation for Amazon profitability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ABA40-795E-4376-8212-DAB6756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BigQuery data model, Q2 contribution margin, and a practical first-90-day automation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07497-FA61-41DB-8ED0-CABBA7CD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0"/>
            <a:ext cx="352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0B853-0BAD-46B8-BF02-A5400E0D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76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D6F5"/>
                </a:solidFill>
              </a:defRPr>
            </a:pPr>
            <a:r>
              <a:rPr sz="1200" b="1">
                <a:solidFill>
                  <a:srgbClr val="A9D6F5"/>
                </a:solidFill>
              </a:rPr>
              <a:t>Q2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DD007-2CC3-4F41-A373-C344400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($5.5K)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8358C-99B0-41E8-A726-2EC84486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8F5"/>
                </a:solidFill>
              </a:defRPr>
            </a:pPr>
            <a:r>
              <a:rPr sz="1425" b="0">
                <a:solidFill>
                  <a:srgbClr val="D9E8F5"/>
                </a:solidFill>
              </a:rPr>
              <a:t>after platform costs</a:t>
            </a:r>
          </a:p>
          <a:p xmlns:a="http://schemas.openxmlformats.org/drawingml/2006/main">
            <a:pPr algn="l">
              <a:defRPr sz="1425" b="0">
                <a:solidFill>
                  <a:srgbClr val="D9E8F5"/>
                </a:solidFill>
              </a:defRPr>
            </a:pPr>
            <a:r>
              <a:rPr sz="1425" b="0">
                <a:solidFill>
                  <a:srgbClr val="D9E8F5"/>
                </a:solidFill>
              </a:rPr>
              <a:t>from supplied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5A5BD-B92F-4219-B945-8AE3612E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Ruben Cazarez  •  Finance leadership discussion</a:t>
            </a:r>
          </a:p>
        </p:txBody>
      </p:sp>
    </p:spTree>
    <p:extLst>
      <p:ext uri="{BB962C8B-B14F-4D97-AF65-F5344CB8AC3E}">
        <p14:creationId xmlns:p14="http://schemas.microsoft.com/office/powerpoint/2010/main" val="236831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D0838-89DA-47D4-B1A7-6D595125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EXECUTIVE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42D89-B4FB-4186-A85F-77A80B82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The catalog is profitable before shared Amazon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315E7-2616-4D7B-A4FB-DCBC6FC5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Advertising nearly consumes the full SKU-attributable contribution margin.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0796F-A19C-4145-9AA6-95142197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$132.3K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02F71-4BBE-4DD3-923C-E03C6389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Net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B0D3D-E16F-4193-AC7F-13518EF1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$51.2K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3B08E-3082-4FEB-8A81-59035B7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Contribution 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AF3EA-1659-4D18-8B0F-EAB3FF6F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38.7%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FAF25-D7C3-4A4B-94FA-AD1926AA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Margin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D3F45-B84C-435B-AAB7-C93C56EE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</a:defRPr>
            </a:pPr>
            <a:r>
              <a:rPr sz="2850" b="1">
                <a:solidFill>
                  <a:srgbClr val="B42318"/>
                </a:solidFill>
              </a:rPr>
              <a:t>($5.5K)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B22C6-F33C-4329-846F-FF1F01E3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After platform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4772D-82A9-450B-957A-BB427398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89923-FCA1-4710-A2E2-47C524E1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Leadership focus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F7F18-E1C0-402E-ABB4-6AF4B148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1  Validate advertising efficiency and SKU attribution</a:t>
            </a:r>
          </a:p>
          <a:p xmlns:a="http://schemas.openxmlformats.org/drawingml/2006/main">
            <a:pPr algn="l"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2  Confirm the two imputed landed costs before product decisions</a:t>
            </a:r>
          </a:p>
          <a:p xmlns:a="http://schemas.openxmlformats.org/drawingml/2006/main">
            <a:pPr algn="l"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3  Rebalance inventory: two replenishment risks, many slow movers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C04F2-0624-4308-BCAE-AA018569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6E46E-04F8-4093-887A-F3942EEB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6766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6051A-C40E-4FB3-A067-A294244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DELIVERABLE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6D6C2-155D-4C11-81D5-D22B372B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Preserve evidence first; publish only what the data supports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BC3D-169E-411A-8DFC-D56ABB8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 simple BigQuery flow keeps ingestion replayable and finance reporting controlled.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53B3B-A7FF-48D9-9E76-B41FAFC0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2BC3D-7ED9-402E-9261-C9223973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33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E7847-855A-4479-A85B-5EFC203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52750"/>
            <a:ext cx="1543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Amazon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QuickBooks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REACH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Sheets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D13AB-FB76-4DFE-8D5D-E9FCA0CC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05125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7180D-62B4-4328-AA03-DFA16D61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1A28E-E389-4C81-8D57-88A2F10B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33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Bronze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7687C-6822-4783-A8A7-A4B9623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52750"/>
            <a:ext cx="1543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Original records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+ load 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94FA4-A784-41FC-ADBD-2BE15426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05125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61B87-5407-4770-A1C3-0DCD9FE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65650-7066-46CA-B71C-18E021C6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33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Quality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4F454-4714-4A56-86AD-24369146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52750"/>
            <a:ext cx="1543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Schema • totals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keys • 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D006C-F3C0-4A7C-9FC2-36C08BC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05125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2077A-47ED-46BA-8708-F5F7618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0F54F-2500-4EAB-BC81-5B5EACD5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Silver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8C90C-3B14-4E8F-A753-B7A0302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52750"/>
            <a:ext cx="1543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Typed facts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+ resolved 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F2BF3-C0CE-4F04-B5D7-776E99EF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6BD43-BF2B-4781-8F03-CD0995AA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9525">
            <a:solidFill>
              <a:srgbClr val="0B7A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38C13-5CC2-48D3-BB68-02FF81C3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33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Gold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0EC6B-B4CC-491B-A034-886B9019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52750"/>
            <a:ext cx="1543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Profitability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inventory • recon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4288A-E9CC-42AF-9BF1-FD8A35DB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If a record cannot be trusted, Bronze keeps it while Silver and Gold remain protected.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85384-2201-4F9D-89D5-AB3C3D3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Every load records source, extraction time, report/file ID, source-row key, run ID, row hash, and schema version.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47C1F-C997-487F-AABB-3FDE7931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4AD67-ABD6-4BFF-AF96-6AFA9E03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1245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B851C-A26F-467F-A9E7-AB6EDAB9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DELIVERABLE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C9F0D-D2F3-4721-831C-A70C2AD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Resolve identity with confidence—not forced perfection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FD13E-8E14-40F8-8A66-7C1D5BCE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Product, brand, and ASIN confidence are stored separately so uncertainty stays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35B3D-D180-48A6-A674-7B2459DC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7A53"/>
                </a:solidFill>
              </a:defRPr>
            </a:pPr>
            <a:r>
              <a:rPr sz="2250" b="1">
                <a:solidFill>
                  <a:srgbClr val="0B7A53"/>
                </a:solidFill>
              </a:rPr>
              <a:t>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FD816-A0ED-4BB9-BA57-4C4FA30D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02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3"/>
          </a:solidFill>
          <a:ln xmlns:a="http://schemas.openxmlformats.org/drawingml/2006/main" w="0">
            <a:solidFill>
              <a:srgbClr val="0B7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28B5D-2E17-4E78-896A-05E401D0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5262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Exact canonical SKU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49B82-2496-4DB0-ADAC-E6FB3D78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A53"/>
                </a:solidFill>
              </a:defRPr>
            </a:pPr>
            <a:r>
              <a:rPr sz="1500" b="1">
                <a:solidFill>
                  <a:srgbClr val="0B7A53"/>
                </a:solidFill>
              </a:rPr>
              <a:t>Publish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BF4C6-1AE0-4E9C-820E-4685D3D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7A53"/>
                </a:solidFill>
              </a:defRPr>
            </a:pPr>
            <a:r>
              <a:rPr sz="2250" b="1">
                <a:solidFill>
                  <a:srgbClr val="0B7A53"/>
                </a:solidFill>
              </a:rPr>
              <a:t>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C8FE5-09BC-490D-A377-C31C7803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14625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3"/>
          </a:solidFill>
          <a:ln xmlns:a="http://schemas.openxmlformats.org/drawingml/2006/main" w="0">
            <a:solidFill>
              <a:srgbClr val="0B7A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25006-12A0-4405-A617-21E67ED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670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Approved alias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151BD-0508-45E1-B518-244F60AA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A53"/>
                </a:solidFill>
              </a:defRPr>
            </a:pPr>
            <a:r>
              <a:rPr sz="1500" b="1">
                <a:solidFill>
                  <a:srgbClr val="0B7A53"/>
                </a:solidFill>
              </a:rPr>
              <a:t>Publish + 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D97AF-9CD6-4251-B781-F063FCED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791F"/>
                </a:solidFill>
              </a:defRPr>
            </a:pPr>
            <a:r>
              <a:rPr sz="2250" b="1">
                <a:solidFill>
                  <a:srgbClr val="B7791F"/>
                </a:solidFill>
              </a:rPr>
              <a:t>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42388-EFA5-46EC-8F4A-D04611A0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290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DDD62-7A59-400B-8B8A-AFEE9AA0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8137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Unique scoped ASIN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6A2BD-8DA0-4137-A98F-4DF9B86F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Provisional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005A5-335D-4F7D-AF6E-D956FEE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74B5"/>
                </a:solidFill>
              </a:defRPr>
            </a:pPr>
            <a:r>
              <a:rPr sz="2250" b="1">
                <a:solidFill>
                  <a:srgbClr val="2E74B5"/>
                </a:solidFill>
              </a:rPr>
              <a:t>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96B18-84F4-4701-BCBD-8F7D2641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43375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E27FD-F094-4328-9CE9-6A753B5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Brand or prefix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98A14-8E2C-4628-848B-A458D0FD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Brand reporting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C9D96-4E17-49A0-87C0-DFA6E86C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</a:defRPr>
            </a:pPr>
            <a:r>
              <a:rPr sz="2250" b="1">
                <a:solidFill>
                  <a:srgbClr val="B42318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CF5D7-FEDA-4580-B9C1-B50AFCE3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30918-6CD9-4013-86EC-E90A57CE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1012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Missing or conflicting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BF211-B51F-4344-BFA3-C9C5643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Quarantine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11783-F29C-4AE0-88A5-0CE24382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No fuzzy match can post a finance product key without owner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70239-1394-443E-9212-D6AFF0B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1C180-7B7C-4EBB-8AEA-D2F3CE9A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9066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A7165-18D9-4013-A59C-9602B10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DELIVERABLE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55A85-AB71-4CC1-A545-226FEE0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Exceptions become owned work—not silent data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D5620-8AF2-47C4-9A24-E15D10FC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The review queue ranks issues by financial exposure and records the final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BC902-77FF-4E5C-8CC7-C9E000F2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Issue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25BAC-49E1-4AC9-9BE9-2CF3985B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F5640-5DA3-4067-98E1-C861B229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B29BC-95AB-4D9C-9497-4A26266B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F2A44-061C-4C7C-8503-5E887ACF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F323B-BCE6-4D1E-AC2A-BD8C06D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600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Conflicting ASIN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261DB-49E9-4C12-AA1E-98F3B824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$3,168 sales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9EB23-3DC4-4445-AACD-D589D059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124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Block ASIN-only join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38B1A-128F-4ABD-978F-4782E222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Product data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609DE-0413-4897-A09F-0749074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C14E8-EFB4-4618-B101-1E587D66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600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Proposed SKU alias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128E1-8C56-4548-9B2C-F0F801EB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$1,352 sales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6EEB4-F969-4401-BB41-5853FED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2124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Approve + effective-date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6CF78-4A54-47DB-9F58-F807CF35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5755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Product data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530C3-71FB-4953-BDF5-7AF8520A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64924-F977-4836-9D07-A79F446A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600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Missing landed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C1EF7-A2EF-4D64-918A-5EB60B8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$3,140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7F9F5-2095-473E-AA14-F146C39C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2124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Validate before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36533-FDB3-485F-8F4D-BEBD065F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3385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Finance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FE10F-96DA-4A24-96F4-1E80613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Schema drift uses the same rule: preserve the raw load, warn on harmless additions, and block reporting when required fields change.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919EB-3C82-4BB2-A2D7-F401011F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D6BE8-FBDA-4B73-A07A-7E730616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72316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522D3-C910-4E8B-9441-4C531828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DELIVERABLE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E5844-FF83-43DA-9B72-667AA8B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Advertising nearly consumes the quarter’s contribution margin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40043-736D-40CF-9341-D44EFEBF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Shared costs are shown separately because the supplied file has no reliable SKU allocation key.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e99af044124c4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19F00-1BEE-4A9F-AF5D-DC08A7F1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42318"/>
                </a:solidFill>
              </a:defRPr>
            </a:pPr>
            <a:r>
              <a:rPr sz="2850" b="1">
                <a:solidFill>
                  <a:srgbClr val="B42318"/>
                </a:solidFill>
              </a:rPr>
              <a:t>98.7%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419E9-6610-4E80-B3D5-367E973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432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of contribution margin</a:t>
            </a:r>
          </a:p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is matched by ad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35E3C-D962-4861-9EBE-D2BB7992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4B5"/>
                </a:solidFill>
              </a:defRPr>
            </a:pPr>
            <a:r>
              <a:rPr sz="1350" b="1">
                <a:solidFill>
                  <a:srgbClr val="2E74B5"/>
                </a:solidFill>
              </a:rPr>
              <a:t>Next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EFC9B-A40E-43C0-84B6-E7C661A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Campaign → ASIN/SKU</a:t>
            </a:r>
          </a:p>
          <a:p xmlns:a="http://schemas.openxmlformats.org/drawingml/2006/main">
            <a:pPr algn="ctr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attribution and ROAS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A81D0-8687-445E-80F9-C52E9EED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C94CE-6CEE-4228-9054-8F613E2F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98265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2182A-0B94-4B18-B764-4780A67D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DELIVERABLE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07DFC-87D9-4C40-8A4B-0B28EFDB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Every brand contributes positively before shared platform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FA67-1495-4494-B4C0-63805E1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GlowTheory has the strongest rate; PawHaus has the lowest margin and needs cost review.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3c0e0b6103480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E887A-2D25-466F-BA0A-88EB8B3F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Peak Fuel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B1075-58EF-4FFD-B12A-297CA05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39.6%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DD013-8309-41AD-862F-3C0B84EB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05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GlowTheory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BEFFF-54A1-4AD2-986D-A531DCFF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7A53"/>
                </a:solidFill>
              </a:defRPr>
            </a:pPr>
            <a:r>
              <a:rPr sz="2250" b="1">
                <a:solidFill>
                  <a:srgbClr val="0B7A53"/>
                </a:solidFill>
              </a:rPr>
              <a:t>47.9%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5FBC1-FAE4-4B52-ABC7-F220C43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719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PawHaus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08948-19A3-4A47-A805-37FF0617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05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791F"/>
                </a:solidFill>
              </a:defRPr>
            </a:pPr>
            <a:r>
              <a:rPr sz="2250" b="1">
                <a:solidFill>
                  <a:srgbClr val="B7791F"/>
                </a:solidFill>
              </a:rPr>
              <a:t>25.6%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14C98-1F08-44F6-BA6C-BC6A6191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00610-24FF-4713-B4B3-EDE12F7C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24799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5B4AF-22AE-4894-AC24-ECF91EFC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DELIVERABLE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E247F-CF50-474E-A3E2-909DC56D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The findings point to three immediate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F44C1-E818-4FE8-8765-064775D4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4AFA1-30EB-485D-8236-512FC4DA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Advertising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76C91-B0EE-49B0-88CB-DE4A6165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Add campaign/SKU attribution before reallocating or cutting spend.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AEFA8-CDE2-495E-BCFC-DC97468E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1EE08-7D6E-4C3E-AA6F-9C9E566D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53F55-D016-46CB-B082-27587B6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908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Landed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56A95-08E1-41AA-AEAB-0011DABA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Validate two imputed SKUs representing 2.3% of gross sales.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025AC-C696-4C8C-896A-1A1B65D2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862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DA70D-3048-430A-A0F8-8B40EC5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28F2D-7094-4A8A-8644-AD2B8BCC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291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91A91-4A4F-42EA-AF0E-C64D5E55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Review two low-cover SKUs and slow movers with more than a year of stock.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04D18-C30A-4E72-AF8B-CD473AF5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DF2B6-D3C0-4DA1-8ED9-2164F48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9829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F76F1-5BF4-47BE-863C-3D3EDD2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DELIVERABLE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05AF1-295E-4C01-8061-A50D238C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The first 90 days build trust before adding forecasting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6483E-99D1-4714-BAD1-09FFDBCD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Automate controls and reconciliation first; expand decisions only after the underlying history is dependable.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83817-AD0A-45B5-83D5-3F82E6B1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</a:defRPr>
            </a:pPr>
            <a:r>
              <a:rPr sz="1350" b="1">
                <a:solidFill>
                  <a:srgbClr val="2E74B5"/>
                </a:solidFill>
              </a:rPr>
              <a:t>Days 1–30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099A1-3DAD-46EC-ABB8-9FC7ABE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3"/>
          </a:solidFill>
          <a:ln xmlns:a="http://schemas.openxmlformats.org/drawingml/2006/main" w="0">
            <a:solidFill>
              <a:srgbClr val="0B7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12DD7-41B2-49F8-A11F-F63E8CA8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Reliable ingestion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29A4C-D8E5-4086-BDA2-80C27ABC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Raw history • schema alerts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identity/UOM mappings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source tie-outs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51A4E-DE27-48ED-B271-F58CAE82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</a:defRPr>
            </a:pPr>
            <a:r>
              <a:rPr sz="1350" b="1">
                <a:solidFill>
                  <a:srgbClr val="2E74B5"/>
                </a:solidFill>
              </a:rPr>
              <a:t>Days 31–60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E0AFC-7EED-490C-B04F-24941B0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701FF-091B-4009-A9A1-1B96BEE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Repeatable finance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F2A3D-0DC6-46CD-89BE-16C36E5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Amazon management P&amp;L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QuickBooks reconciliation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source drill-through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CD57B-0D4E-4013-B438-D575304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</a:defRPr>
            </a:pPr>
            <a:r>
              <a:rPr sz="1350" b="1">
                <a:solidFill>
                  <a:srgbClr val="2E74B5"/>
                </a:solidFill>
              </a:rPr>
              <a:t>Days 61–90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6C6EE-288D-4FA7-B3C6-901BEA49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057E1-4B27-48CA-8141-43711CB1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Operational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E9767-6A8E-4F15-9257-24FDD5F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REACH PO/receipt history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advertising attribution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inventory + 13-week outlook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83AE5-1AA2-4E68-A193-7F4F41D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Start cost-aware in GCP; buy managed connectors when reliability or implementation speed justifies the recurring cost.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64990-33E0-404B-8C68-F61624C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Q2 2026 Amazon profitability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A1A55-0E13-4DB5-831C-75C780E1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28436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2026-08-26T16:25:32.0440000Z</dcterms:created>
  <dcterms:modified xsi:type="dcterms:W3CDTF">2026-08-26T16:25:32.0440000Z</dcterms:modified>
</coreProperties>
</file>